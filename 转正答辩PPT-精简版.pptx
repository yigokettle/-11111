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3632" r:id="rId3"/>
    <p:sldId id="257" r:id="rId4"/>
    <p:sldId id="2752" r:id="rId5"/>
    <p:sldId id="3633" r:id="rId6"/>
    <p:sldId id="3093" r:id="rId7"/>
    <p:sldId id="3625" r:id="rId8"/>
    <p:sldId id="353" r:id="rId9"/>
    <p:sldId id="3626" r:id="rId10"/>
    <p:sldId id="372" r:id="rId11"/>
    <p:sldId id="3627" r:id="rId12"/>
    <p:sldId id="256" r:id="rId13"/>
    <p:sldId id="363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1704F-33E9-4D42-BFE7-0D57E1856A96}" type="datetimeFigureOut">
              <a:rPr kumimoji="1" lang="zh-CN" altLang="en-US" smtClean="0"/>
              <a:t>2026/10/24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6F36BC-B4E0-1A41-9102-39001965ED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608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F36BC-B4E0-1A41-9102-39001965ED4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078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3717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630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28C3-0B9E-8ED3-6A1F-8651D6CE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32CB70-0D8E-D215-71B9-CFC797EC7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D9A451-EBEC-4D0C-BF88-604EAAC61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ED1978-0575-1D23-0E6D-496DEB9DB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469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19D61-4B8C-2A4A-AE55-91E53C56E625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4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ADCA4-B667-4025-BDBB-633DDEFA5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BCF3AB-0154-4924-8CE0-F33D04CB3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212"/>
            </a:lvl1pPr>
            <a:lvl2pPr marL="421310" indent="0" algn="ctr">
              <a:buNone/>
              <a:defRPr sz="1843"/>
            </a:lvl2pPr>
            <a:lvl3pPr marL="842620" indent="0" algn="ctr">
              <a:buNone/>
              <a:defRPr sz="1659"/>
            </a:lvl3pPr>
            <a:lvl4pPr marL="1263929" indent="0" algn="ctr">
              <a:buNone/>
              <a:defRPr sz="1474"/>
            </a:lvl4pPr>
            <a:lvl5pPr marL="1685239" indent="0" algn="ctr">
              <a:buNone/>
              <a:defRPr sz="1474"/>
            </a:lvl5pPr>
            <a:lvl6pPr marL="2106549" indent="0" algn="ctr">
              <a:buNone/>
              <a:defRPr sz="1474"/>
            </a:lvl6pPr>
            <a:lvl7pPr marL="2527859" indent="0" algn="ctr">
              <a:buNone/>
              <a:defRPr sz="1474"/>
            </a:lvl7pPr>
            <a:lvl8pPr marL="2949169" indent="0" algn="ctr">
              <a:buNone/>
              <a:defRPr sz="1474"/>
            </a:lvl8pPr>
            <a:lvl9pPr marL="3370478" indent="0" algn="ctr">
              <a:buNone/>
              <a:defRPr sz="1474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44B7D-70CA-4A75-A0E4-CB49143E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12C14-2297-4181-A51D-57E71BB9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B4764-313E-4EF0-9D89-647DEF8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58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B4116-D1C2-44DD-8E18-9D3ACE31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9442AC-1630-42FC-B027-EC44F8DF4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5E2E2-0605-4FFE-A183-37C5CD032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134223-36F1-497D-AFC1-FCF85FA2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27F407-D26E-4DB0-AD87-8603DA40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565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4ADB4-A623-4C1D-879D-19626E85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E03299-FD01-4562-87E8-998284FC0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212">
                <a:solidFill>
                  <a:schemeClr val="tx1">
                    <a:tint val="75000"/>
                  </a:schemeClr>
                </a:solidFill>
              </a:defRPr>
            </a:lvl1pPr>
            <a:lvl2pPr marL="421310" indent="0">
              <a:buNone/>
              <a:defRPr sz="1843">
                <a:solidFill>
                  <a:schemeClr val="tx1">
                    <a:tint val="75000"/>
                  </a:schemeClr>
                </a:solidFill>
              </a:defRPr>
            </a:lvl2pPr>
            <a:lvl3pPr marL="842620" indent="0">
              <a:buNone/>
              <a:defRPr sz="1659">
                <a:solidFill>
                  <a:schemeClr val="tx1">
                    <a:tint val="75000"/>
                  </a:schemeClr>
                </a:solidFill>
              </a:defRPr>
            </a:lvl3pPr>
            <a:lvl4pPr marL="126392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4pPr>
            <a:lvl5pPr marL="168523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5pPr>
            <a:lvl6pPr marL="210654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6pPr>
            <a:lvl7pPr marL="252785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7pPr>
            <a:lvl8pPr marL="2949169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8pPr>
            <a:lvl9pPr marL="3370478" indent="0">
              <a:buNone/>
              <a:defRPr sz="14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7FA4C-6AB5-42A5-A80E-8FCD1702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38133F-A9BB-4FAA-B6FB-F92FF5F0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4E2C3-6BBA-4B93-A3D5-6719230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991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6664C-C7A3-47FE-8511-5F7A81AF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53517-5173-4924-B2A5-313D5E666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DF2281-01B4-4A91-B0F8-857FD9FE4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BC3F99-1C35-4660-B00D-0D86763D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A0B6D4-E468-4CCF-A396-4F00D162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853531-FCCE-4975-88EF-423A1EC3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278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F0412-DCEE-4F5E-AD16-93BD73E6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8641EB-B1E0-482F-B1F6-8A72D9D2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212" b="1"/>
            </a:lvl1pPr>
            <a:lvl2pPr marL="421310" indent="0">
              <a:buNone/>
              <a:defRPr sz="1843" b="1"/>
            </a:lvl2pPr>
            <a:lvl3pPr marL="842620" indent="0">
              <a:buNone/>
              <a:defRPr sz="1659" b="1"/>
            </a:lvl3pPr>
            <a:lvl4pPr marL="1263929" indent="0">
              <a:buNone/>
              <a:defRPr sz="1474" b="1"/>
            </a:lvl4pPr>
            <a:lvl5pPr marL="1685239" indent="0">
              <a:buNone/>
              <a:defRPr sz="1474" b="1"/>
            </a:lvl5pPr>
            <a:lvl6pPr marL="2106549" indent="0">
              <a:buNone/>
              <a:defRPr sz="1474" b="1"/>
            </a:lvl6pPr>
            <a:lvl7pPr marL="2527859" indent="0">
              <a:buNone/>
              <a:defRPr sz="1474" b="1"/>
            </a:lvl7pPr>
            <a:lvl8pPr marL="2949169" indent="0">
              <a:buNone/>
              <a:defRPr sz="1474" b="1"/>
            </a:lvl8pPr>
            <a:lvl9pPr marL="3370478" indent="0">
              <a:buNone/>
              <a:defRPr sz="14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9A00CF-0502-4D2B-B8B8-765892DD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F621DE-3452-454D-8392-960C24096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212" b="1"/>
            </a:lvl1pPr>
            <a:lvl2pPr marL="421310" indent="0">
              <a:buNone/>
              <a:defRPr sz="1843" b="1"/>
            </a:lvl2pPr>
            <a:lvl3pPr marL="842620" indent="0">
              <a:buNone/>
              <a:defRPr sz="1659" b="1"/>
            </a:lvl3pPr>
            <a:lvl4pPr marL="1263929" indent="0">
              <a:buNone/>
              <a:defRPr sz="1474" b="1"/>
            </a:lvl4pPr>
            <a:lvl5pPr marL="1685239" indent="0">
              <a:buNone/>
              <a:defRPr sz="1474" b="1"/>
            </a:lvl5pPr>
            <a:lvl6pPr marL="2106549" indent="0">
              <a:buNone/>
              <a:defRPr sz="1474" b="1"/>
            </a:lvl6pPr>
            <a:lvl7pPr marL="2527859" indent="0">
              <a:buNone/>
              <a:defRPr sz="1474" b="1"/>
            </a:lvl7pPr>
            <a:lvl8pPr marL="2949169" indent="0">
              <a:buNone/>
              <a:defRPr sz="1474" b="1"/>
            </a:lvl8pPr>
            <a:lvl9pPr marL="3370478" indent="0">
              <a:buNone/>
              <a:defRPr sz="147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F1F05E-F483-4534-B470-8D8D26135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8D51AC-F313-492D-80A5-E50707E7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AB9AC9-15FF-4722-8C7E-A9828BD3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3907CC-2FE6-4377-9BC4-BE3425B7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710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8C739-47AC-4C0E-BDCF-A55D8974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6A7427-C36C-42A0-8C1B-756F6A2A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C4D531-EDDC-4979-B51E-072041D0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9B3E8F-BEEF-4CEB-A07B-B8A7E9E8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216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D1DE50-5264-44DC-8453-185CD652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1B8155-ACB1-467D-B619-6B978BAB8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07D630-B5FF-4FB7-AA3C-04FBA9F6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380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6614A-EB43-4F0C-B1F4-930E379A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94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F5D194-7E1E-405F-A0D8-0C7455268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949"/>
            </a:lvl1pPr>
            <a:lvl2pPr>
              <a:defRPr sz="2580"/>
            </a:lvl2pPr>
            <a:lvl3pPr>
              <a:defRPr sz="2212"/>
            </a:lvl3pPr>
            <a:lvl4pPr>
              <a:defRPr sz="1843"/>
            </a:lvl4pPr>
            <a:lvl5pPr>
              <a:defRPr sz="1843"/>
            </a:lvl5pPr>
            <a:lvl6pPr>
              <a:defRPr sz="1843"/>
            </a:lvl6pPr>
            <a:lvl7pPr>
              <a:defRPr sz="1843"/>
            </a:lvl7pPr>
            <a:lvl8pPr>
              <a:defRPr sz="1843"/>
            </a:lvl8pPr>
            <a:lvl9pPr>
              <a:defRPr sz="18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C8AC27-6194-4AAA-B81C-5A0802FA8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7"/>
          </a:xfrm>
        </p:spPr>
        <p:txBody>
          <a:bodyPr/>
          <a:lstStyle>
            <a:lvl1pPr marL="0" indent="0">
              <a:buNone/>
              <a:defRPr sz="1474"/>
            </a:lvl1pPr>
            <a:lvl2pPr marL="421310" indent="0">
              <a:buNone/>
              <a:defRPr sz="1290"/>
            </a:lvl2pPr>
            <a:lvl3pPr marL="842620" indent="0">
              <a:buNone/>
              <a:defRPr sz="1106"/>
            </a:lvl3pPr>
            <a:lvl4pPr marL="1263929" indent="0">
              <a:buNone/>
              <a:defRPr sz="922"/>
            </a:lvl4pPr>
            <a:lvl5pPr marL="1685239" indent="0">
              <a:buNone/>
              <a:defRPr sz="922"/>
            </a:lvl5pPr>
            <a:lvl6pPr marL="2106549" indent="0">
              <a:buNone/>
              <a:defRPr sz="922"/>
            </a:lvl6pPr>
            <a:lvl7pPr marL="2527859" indent="0">
              <a:buNone/>
              <a:defRPr sz="922"/>
            </a:lvl7pPr>
            <a:lvl8pPr marL="2949169" indent="0">
              <a:buNone/>
              <a:defRPr sz="922"/>
            </a:lvl8pPr>
            <a:lvl9pPr marL="3370478" indent="0">
              <a:buNone/>
              <a:defRPr sz="9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FE2800-7787-401F-AC4C-B6C9DD65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D16614-5B4C-4B40-9684-2AFE308C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489E4C-6C05-40BA-86AE-1FA17B88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906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74FDA-88FD-489C-995B-63BF53D3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94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32E90C-158D-4B22-A56C-B691F27F0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949"/>
            </a:lvl1pPr>
            <a:lvl2pPr marL="421310" indent="0">
              <a:buNone/>
              <a:defRPr sz="2580"/>
            </a:lvl2pPr>
            <a:lvl3pPr marL="842620" indent="0">
              <a:buNone/>
              <a:defRPr sz="2212"/>
            </a:lvl3pPr>
            <a:lvl4pPr marL="1263929" indent="0">
              <a:buNone/>
              <a:defRPr sz="1843"/>
            </a:lvl4pPr>
            <a:lvl5pPr marL="1685239" indent="0">
              <a:buNone/>
              <a:defRPr sz="1843"/>
            </a:lvl5pPr>
            <a:lvl6pPr marL="2106549" indent="0">
              <a:buNone/>
              <a:defRPr sz="1843"/>
            </a:lvl6pPr>
            <a:lvl7pPr marL="2527859" indent="0">
              <a:buNone/>
              <a:defRPr sz="1843"/>
            </a:lvl7pPr>
            <a:lvl8pPr marL="2949169" indent="0">
              <a:buNone/>
              <a:defRPr sz="1843"/>
            </a:lvl8pPr>
            <a:lvl9pPr marL="3370478" indent="0">
              <a:buNone/>
              <a:defRPr sz="18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1FA3B0-5FF0-446E-8583-45B4A70AC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7"/>
          </a:xfrm>
        </p:spPr>
        <p:txBody>
          <a:bodyPr/>
          <a:lstStyle>
            <a:lvl1pPr marL="0" indent="0">
              <a:buNone/>
              <a:defRPr sz="1474"/>
            </a:lvl1pPr>
            <a:lvl2pPr marL="421310" indent="0">
              <a:buNone/>
              <a:defRPr sz="1290"/>
            </a:lvl2pPr>
            <a:lvl3pPr marL="842620" indent="0">
              <a:buNone/>
              <a:defRPr sz="1106"/>
            </a:lvl3pPr>
            <a:lvl4pPr marL="1263929" indent="0">
              <a:buNone/>
              <a:defRPr sz="922"/>
            </a:lvl4pPr>
            <a:lvl5pPr marL="1685239" indent="0">
              <a:buNone/>
              <a:defRPr sz="922"/>
            </a:lvl5pPr>
            <a:lvl6pPr marL="2106549" indent="0">
              <a:buNone/>
              <a:defRPr sz="922"/>
            </a:lvl6pPr>
            <a:lvl7pPr marL="2527859" indent="0">
              <a:buNone/>
              <a:defRPr sz="922"/>
            </a:lvl7pPr>
            <a:lvl8pPr marL="2949169" indent="0">
              <a:buNone/>
              <a:defRPr sz="922"/>
            </a:lvl8pPr>
            <a:lvl9pPr marL="3370478" indent="0">
              <a:buNone/>
              <a:defRPr sz="9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481377-B62D-442A-8610-CAF5B69F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6A7019-A241-4933-816F-2E97B4C0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8B62D6-F9B3-4C83-A5FA-E84DEFD7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487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2F84B-D7E3-4331-8194-A2545767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DF9737-88EF-48BE-8855-68CABE0A2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FF28F-808A-4AF3-8FE1-197282FD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0D8819-0740-4BBB-97CF-A734C83A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01E67-D50B-41E5-A6C0-CE5F9A27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249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889B2A-A08A-4A34-B6DD-0D874B17C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E452A4-BBE8-4485-A09A-3DD3DB3BA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466D7-E41D-4085-BA0F-F79337CC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92BF6-D279-4066-A2FE-B93B57EAF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6D7A0A-89BC-4916-9D67-AE94F953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7668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8" y="6540500"/>
            <a:ext cx="226619" cy="23053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282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542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62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3D7AF4C-EF54-441B-94C6-E3AC2F2882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22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3342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oleObject" Target="../embeddings/oleObject2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emf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60A31CAA-6852-D32F-01AF-63C431ED6273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5951066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14" imgW="7772400" imgH="10058400" progId="TCLayout.ActiveDocument.1">
                  <p:embed/>
                </p:oleObj>
              </mc:Choice>
              <mc:Fallback>
                <p:oleObj name="think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2EEFF11A-1A15-4E06-7733-F76F27B1DAAC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563554073"/>
              </p:ext>
            </p:extLst>
          </p:nvPr>
        </p:nvGraphicFramePr>
        <p:xfrm>
          <a:off x="1588" y="1723"/>
          <a:ext cx="1227" cy="1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18" imgW="7772400" imgH="10058400" progId="TCLayout.ActiveDocument.1">
                  <p:embed/>
                </p:oleObj>
              </mc:Choice>
              <mc:Fallback>
                <p:oleObj name="thinkcell 幻灯片" r:id="rId18" imgW="7772400" imgH="10058400" progId="TCLayout.ActiveDocument.1">
                  <p:embed/>
                  <p:pic>
                    <p:nvPicPr>
                      <p:cNvPr id="7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2EEFF11A-1A15-4E06-7733-F76F27B1D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723"/>
                        <a:ext cx="1227" cy="1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48DFE1-9427-4A46-AE2A-F2B91C34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9929CC-E6A8-416B-9485-36BFAC3C4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157BB-B35E-4C45-876F-433D3C5E1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B8C9C-3528-4915-8EB3-BC901E00CE4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222BAD-BA77-4B21-8C0B-A6D0D43E6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AC018-1D03-41DD-8069-3BACA6E82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4C962-CBA1-4809-A6D1-17C2A379DC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26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842620" rtl="0" eaLnBrk="1" latinLnBrk="0" hangingPunct="1">
        <a:lnSpc>
          <a:spcPct val="90000"/>
        </a:lnSpc>
        <a:spcBef>
          <a:spcPct val="0"/>
        </a:spcBef>
        <a:buNone/>
        <a:defRPr sz="4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0655" indent="-210655" algn="l" defTabSz="842620" rtl="0" eaLnBrk="1" latinLnBrk="0" hangingPunct="1">
        <a:lnSpc>
          <a:spcPct val="90000"/>
        </a:lnSpc>
        <a:spcBef>
          <a:spcPts val="922"/>
        </a:spcBef>
        <a:buFont typeface="Arial" panose="020B0604020202020204" pitchFamily="34" charset="0"/>
        <a:buChar char="•"/>
        <a:defRPr sz="2580" kern="1200">
          <a:solidFill>
            <a:schemeClr val="tx1"/>
          </a:solidFill>
          <a:latin typeface="+mn-lt"/>
          <a:ea typeface="+mn-ea"/>
          <a:cs typeface="+mn-cs"/>
        </a:defRPr>
      </a:lvl1pPr>
      <a:lvl2pPr marL="631965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2212" kern="1200">
          <a:solidFill>
            <a:schemeClr val="tx1"/>
          </a:solidFill>
          <a:latin typeface="+mn-lt"/>
          <a:ea typeface="+mn-ea"/>
          <a:cs typeface="+mn-cs"/>
        </a:defRPr>
      </a:lvl2pPr>
      <a:lvl3pPr marL="1053275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843" kern="1200">
          <a:solidFill>
            <a:schemeClr val="tx1"/>
          </a:solidFill>
          <a:latin typeface="+mn-lt"/>
          <a:ea typeface="+mn-ea"/>
          <a:cs typeface="+mn-cs"/>
        </a:defRPr>
      </a:lvl3pPr>
      <a:lvl4pPr marL="147458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4pPr>
      <a:lvl5pPr marL="189589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5pPr>
      <a:lvl6pPr marL="231720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6pPr>
      <a:lvl7pPr marL="273851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7pPr>
      <a:lvl8pPr marL="3159824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8pPr>
      <a:lvl9pPr marL="3581133" indent="-210655" algn="l" defTabSz="842620" rtl="0" eaLnBrk="1" latinLnBrk="0" hangingPunct="1">
        <a:lnSpc>
          <a:spcPct val="90000"/>
        </a:lnSpc>
        <a:spcBef>
          <a:spcPts val="461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1pPr>
      <a:lvl2pPr marL="42131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2pPr>
      <a:lvl3pPr marL="842620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3pPr>
      <a:lvl4pPr marL="126392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4pPr>
      <a:lvl5pPr marL="168523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5pPr>
      <a:lvl6pPr marL="210654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6pPr>
      <a:lvl7pPr marL="252785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7pPr>
      <a:lvl8pPr marL="2949169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8pPr>
      <a:lvl9pPr marL="3370478" algn="l" defTabSz="842620" rtl="0" eaLnBrk="1" latinLnBrk="0" hangingPunct="1">
        <a:defRPr sz="1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agent.corp.kuaishou.com/ai/data-agent?shareId=9919783b93784a2396abd942be03e4ce" TargetMode="External"/><Relationship Id="rId2" Type="http://schemas.openxmlformats.org/officeDocument/2006/relationships/hyperlink" Target="https://dataagent.corp.kuaishou.com/ai/data-agent?shareId=b1bfc590645643e9a40586c020e7b0aa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dataagent.corp.kuaishou.com/ai/data-agent?shareId=41c3060b07a643afb4fe749d3d013cc5" TargetMode="External"/><Relationship Id="rId4" Type="http://schemas.openxmlformats.org/officeDocument/2006/relationships/hyperlink" Target="https://dataagent.corp.kuaishou.com/ai/data-agent?shareId=9ddcf2a2f50e429cb438e5beb8190f67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cell data - do not delete" hidden="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0802086"/>
              </p:ext>
            </p:extLst>
          </p:nvPr>
        </p:nvGraphicFramePr>
        <p:xfrm>
          <a:off x="1589" y="27066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4" imgW="6813550" imgH="8831580" progId="TCLayout.ActiveDocument.1">
                  <p:embed/>
                </p:oleObj>
              </mc:Choice>
              <mc:Fallback>
                <p:oleObj name="thinkcell 幻灯片" r:id="rId4" imgW="6813550" imgH="8831580" progId="TCLayout.ActiveDocument.1">
                  <p:embed/>
                  <p:pic>
                    <p:nvPicPr>
                      <p:cNvPr id="13" name="think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7066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/>
          <p:cNvSpPr/>
          <p:nvPr/>
        </p:nvSpPr>
        <p:spPr>
          <a:xfrm>
            <a:off x="478155" y="611981"/>
            <a:ext cx="10930890" cy="190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/>
          <p:nvPr/>
        </p:nvSpPr>
        <p:spPr>
          <a:xfrm rot="5400000">
            <a:off x="5923280" y="-2639854"/>
            <a:ext cx="76200" cy="1089533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6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811530" y="611982"/>
            <a:ext cx="6525260" cy="19043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3685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转正述职汇报</a:t>
            </a:r>
            <a:endParaRPr sz="368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5000"/>
              </a:lnSpc>
            </a:pPr>
            <a:r>
              <a:rPr sz="1475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2026.10</a:t>
            </a:r>
          </a:p>
        </p:txBody>
      </p:sp>
      <p:sp>
        <p:nvSpPr>
          <p:cNvPr id="6" name="Rectangle 4"/>
          <p:cNvSpPr/>
          <p:nvPr/>
        </p:nvSpPr>
        <p:spPr>
          <a:xfrm>
            <a:off x="6365875" y="1667987"/>
            <a:ext cx="5043170" cy="8489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lang="zh-CN" altLang="en-US" sz="14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r>
              <a:rPr sz="14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475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张筱琦</a:t>
            </a:r>
            <a:endParaRPr sz="147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200" dirty="0" err="1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电商经营策略中心</a:t>
            </a:r>
            <a:r>
              <a:rPr sz="1200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</a:t>
            </a:r>
            <a:r>
              <a:rPr sz="1200" dirty="0" err="1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商业分析实习生</a:t>
            </a:r>
            <a:endParaRPr lang="en-US" sz="1200" dirty="0">
              <a:solidFill>
                <a:srgbClr val="DEEAF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lang="zh-CN" altLang="en-US" sz="1200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实习时长：</a:t>
            </a:r>
            <a:r>
              <a:rPr lang="en-US" altLang="zh-CN" sz="1200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rgbClr val="DEEA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13199" y="3242191"/>
            <a:ext cx="10897672" cy="2563774"/>
            <a:chOff x="7416" y="5915"/>
            <a:chExt cx="11507" cy="4037"/>
          </a:xfrm>
        </p:grpSpPr>
        <p:sp>
          <p:nvSpPr>
            <p:cNvPr id="12" name="Rounded Rectangle 7"/>
            <p:cNvSpPr/>
            <p:nvPr/>
          </p:nvSpPr>
          <p:spPr>
            <a:xfrm>
              <a:off x="7416" y="5915"/>
              <a:ext cx="11507" cy="4037"/>
            </a:xfrm>
            <a:prstGeom prst="roundRect">
              <a:avLst>
                <a:gd name="adj" fmla="val 8000"/>
              </a:avLst>
            </a:prstGeom>
            <a:solidFill>
              <a:srgbClr val="EEF4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10661" rtlCol="0" anchor="ctr"/>
            <a:lstStyle/>
            <a:p>
              <a:pPr algn="l">
                <a:lnSpc>
                  <a:spcPct val="115000"/>
                </a:lnSpc>
              </a:pPr>
              <a:endParaRPr sz="1105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: 圆顶角 87"/>
            <p:cNvSpPr/>
            <p:nvPr/>
          </p:nvSpPr>
          <p:spPr>
            <a:xfrm>
              <a:off x="11834" y="5915"/>
              <a:ext cx="2875" cy="49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6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libaba PuHuiTi" pitchFamily="18" charset="-122"/>
                </a:rPr>
                <a:t>实习经历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9A52F7D0-770D-D8F0-471E-8FD1B202F6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3700266"/>
            <a:ext cx="7772400" cy="19030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82296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9808" y="384048"/>
            <a:ext cx="89611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主要工作任务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457200"/>
            <a:ext cx="17830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按季度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170432"/>
            <a:ext cx="10698480" cy="146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901952"/>
            <a:ext cx="86868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64592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项目一：灵顺中小AI运营一期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实验设计 · DID因果验证 · 分型推广策略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验证 AI 工具显著正向（DID +26.3%），支撑灰度推全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502152"/>
            <a:ext cx="86868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24612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项目二：AI Agent 分析自动化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高频场景Skill化 · 防错校验机制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单次复盘从 3-4 小时压缩到 25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102352"/>
            <a:ext cx="86868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484632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项目三：目标测算与常态化大盘分析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Q3过程目标测算下发 · WBR/MBR/818复盘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</a:rPr>
              <a:t>产出：</a:t>
            </a: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目标下发业务线；拆解定位大盘结构性问题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6172200"/>
            <a:ext cx="10698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其他支持：数据需求提报SOP ｜ 品牌池筛选与校验 ｜ 618激励核算 ｜ 人设商家大场现状分析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cell data - do not delete" hidden="1">
            <a:extLst>
              <a:ext uri="{FF2B5EF4-FFF2-40B4-BE49-F238E27FC236}">
                <a16:creationId xmlns:a16="http://schemas.microsoft.com/office/drawing/2014/main" id="{F407B196-47A2-A0A2-785A-F9279F4966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3691086"/>
              </p:ext>
            </p:extLst>
          </p:nvPr>
        </p:nvGraphicFramePr>
        <p:xfrm>
          <a:off x="1589" y="27066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4" imgW="7772400" imgH="10058400" progId="TCLayout.ActiveDocument.1">
                  <p:embed/>
                </p:oleObj>
              </mc:Choice>
              <mc:Fallback>
                <p:oleObj name="thinkcell 幻灯片" r:id="rId4" imgW="7772400" imgH="10058400" progId="TCLayout.ActiveDocument.1">
                  <p:embed/>
                  <p:pic>
                    <p:nvPicPr>
                      <p:cNvPr id="52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F407B196-47A2-A0A2-785A-F9279F4966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7066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ounded Rectangle 3">
            <a:extLst>
              <a:ext uri="{FF2B5EF4-FFF2-40B4-BE49-F238E27FC236}">
                <a16:creationId xmlns:a16="http://schemas.microsoft.com/office/drawing/2014/main" id="{7944FEEE-850B-E689-6A8A-CADFB2A488F6}"/>
              </a:ext>
            </a:extLst>
          </p:cNvPr>
          <p:cNvSpPr/>
          <p:nvPr/>
        </p:nvSpPr>
        <p:spPr>
          <a:xfrm>
            <a:off x="447041" y="1466500"/>
            <a:ext cx="3088963" cy="2121597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4338B3-569F-86F0-8D18-A03A3D879EB5}"/>
              </a:ext>
            </a:extLst>
          </p:cNvPr>
          <p:cNvSpPr txBox="1"/>
          <p:nvPr/>
        </p:nvSpPr>
        <p:spPr>
          <a:xfrm>
            <a:off x="896186" y="546942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灵顺项目｜背景及痛点</a:t>
            </a:r>
          </a:p>
        </p:txBody>
      </p:sp>
      <p:cxnSp>
        <p:nvCxnSpPr>
          <p:cNvPr id="4" name="直接连接符 8">
            <a:extLst>
              <a:ext uri="{FF2B5EF4-FFF2-40B4-BE49-F238E27FC236}">
                <a16:creationId xmlns:a16="http://schemas.microsoft.com/office/drawing/2014/main" id="{D65615C0-4B05-7582-2EF4-56D692FACC05}"/>
              </a:ext>
            </a:extLst>
          </p:cNvPr>
          <p:cNvCxnSpPr>
            <a:cxnSpLocks/>
          </p:cNvCxnSpPr>
          <p:nvPr/>
        </p:nvCxnSpPr>
        <p:spPr>
          <a:xfrm>
            <a:off x="983955" y="979776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4">
            <a:extLst>
              <a:ext uri="{FF2B5EF4-FFF2-40B4-BE49-F238E27FC236}">
                <a16:creationId xmlns:a16="http://schemas.microsoft.com/office/drawing/2014/main" id="{817F20F4-6638-E82F-87B3-7472B91CE353}"/>
              </a:ext>
            </a:extLst>
          </p:cNvPr>
          <p:cNvSpPr txBox="1"/>
          <p:nvPr/>
        </p:nvSpPr>
        <p:spPr>
          <a:xfrm>
            <a:off x="1420876" y="1786192"/>
            <a:ext cx="2040128" cy="242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长尾商家长期无人运营</a:t>
            </a:r>
            <a:endParaRPr sz="1600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5B43AEF1-9F8A-06F9-0F99-4AF3013BEEB9}"/>
              </a:ext>
            </a:extLst>
          </p:cNvPr>
          <p:cNvSpPr txBox="1"/>
          <p:nvPr/>
        </p:nvSpPr>
        <p:spPr>
          <a:xfrm>
            <a:off x="1379728" y="2325689"/>
            <a:ext cx="1389888" cy="242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经营率低</a:t>
            </a:r>
            <a:endParaRPr sz="1600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DDDC0501-9BC4-A30C-B563-A3720A51CEF5}"/>
              </a:ext>
            </a:extLst>
          </p:cNvPr>
          <p:cNvSpPr txBox="1"/>
          <p:nvPr/>
        </p:nvSpPr>
        <p:spPr>
          <a:xfrm>
            <a:off x="1414111" y="2945557"/>
            <a:ext cx="1806448" cy="242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人工小二覆盖有限</a:t>
            </a:r>
            <a:endParaRPr sz="1600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34E8F738-F47E-E5E7-3E4D-B074DF22F426}"/>
              </a:ext>
            </a:extLst>
          </p:cNvPr>
          <p:cNvSpPr/>
          <p:nvPr/>
        </p:nvSpPr>
        <p:spPr>
          <a:xfrm>
            <a:off x="661924" y="1852675"/>
            <a:ext cx="192024" cy="109728"/>
          </a:xfrm>
          <a:prstGeom prst="rect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Isosceles Triangle 8">
            <a:extLst>
              <a:ext uri="{FF2B5EF4-FFF2-40B4-BE49-F238E27FC236}">
                <a16:creationId xmlns:a16="http://schemas.microsoft.com/office/drawing/2014/main" id="{108DB881-0411-02EF-D5F2-1F00C95BB8B9}"/>
              </a:ext>
            </a:extLst>
          </p:cNvPr>
          <p:cNvSpPr/>
          <p:nvPr/>
        </p:nvSpPr>
        <p:spPr>
          <a:xfrm>
            <a:off x="648208" y="1788667"/>
            <a:ext cx="219456" cy="73152"/>
          </a:xfrm>
          <a:prstGeom prst="triangl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1C55AB63-7B7E-1155-0BDE-9920C21D264D}"/>
              </a:ext>
            </a:extLst>
          </p:cNvPr>
          <p:cNvSpPr/>
          <p:nvPr/>
        </p:nvSpPr>
        <p:spPr>
          <a:xfrm>
            <a:off x="858520" y="1852675"/>
            <a:ext cx="192024" cy="109728"/>
          </a:xfrm>
          <a:prstGeom prst="rect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Isosceles Triangle 10">
            <a:extLst>
              <a:ext uri="{FF2B5EF4-FFF2-40B4-BE49-F238E27FC236}">
                <a16:creationId xmlns:a16="http://schemas.microsoft.com/office/drawing/2014/main" id="{1516F29E-8C03-ABE9-8369-DC78780276EE}"/>
              </a:ext>
            </a:extLst>
          </p:cNvPr>
          <p:cNvSpPr/>
          <p:nvPr/>
        </p:nvSpPr>
        <p:spPr>
          <a:xfrm>
            <a:off x="844804" y="1788667"/>
            <a:ext cx="219456" cy="73152"/>
          </a:xfrm>
          <a:prstGeom prst="triangl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4E3E6BD6-D17F-FCAC-DE22-6867A9A6AF60}"/>
              </a:ext>
            </a:extLst>
          </p:cNvPr>
          <p:cNvSpPr/>
          <p:nvPr/>
        </p:nvSpPr>
        <p:spPr>
          <a:xfrm>
            <a:off x="1055116" y="1852675"/>
            <a:ext cx="192024" cy="109728"/>
          </a:xfrm>
          <a:prstGeom prst="rect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Isosceles Triangle 12">
            <a:extLst>
              <a:ext uri="{FF2B5EF4-FFF2-40B4-BE49-F238E27FC236}">
                <a16:creationId xmlns:a16="http://schemas.microsoft.com/office/drawing/2014/main" id="{A999C6F7-D682-F232-6BC7-79F2365FF222}"/>
              </a:ext>
            </a:extLst>
          </p:cNvPr>
          <p:cNvSpPr/>
          <p:nvPr/>
        </p:nvSpPr>
        <p:spPr>
          <a:xfrm>
            <a:off x="1041400" y="1788667"/>
            <a:ext cx="219456" cy="73152"/>
          </a:xfrm>
          <a:prstGeom prst="triangl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8" name="Connector 13">
            <a:extLst>
              <a:ext uri="{FF2B5EF4-FFF2-40B4-BE49-F238E27FC236}">
                <a16:creationId xmlns:a16="http://schemas.microsoft.com/office/drawing/2014/main" id="{3E88F885-D291-CE54-B71F-92291EF551F1}"/>
              </a:ext>
            </a:extLst>
          </p:cNvPr>
          <p:cNvCxnSpPr>
            <a:cxnSpLocks/>
          </p:cNvCxnSpPr>
          <p:nvPr/>
        </p:nvCxnSpPr>
        <p:spPr>
          <a:xfrm>
            <a:off x="718312" y="2275774"/>
            <a:ext cx="164592" cy="118872"/>
          </a:xfrm>
          <a:prstGeom prst="line">
            <a:avLst/>
          </a:prstGeom>
          <a:ln w="33020">
            <a:solidFill>
              <a:srgbClr val="107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4">
            <a:extLst>
              <a:ext uri="{FF2B5EF4-FFF2-40B4-BE49-F238E27FC236}">
                <a16:creationId xmlns:a16="http://schemas.microsoft.com/office/drawing/2014/main" id="{565A3519-A616-206B-5142-11A2D473002C}"/>
              </a:ext>
            </a:extLst>
          </p:cNvPr>
          <p:cNvCxnSpPr>
            <a:cxnSpLocks/>
          </p:cNvCxnSpPr>
          <p:nvPr/>
        </p:nvCxnSpPr>
        <p:spPr>
          <a:xfrm>
            <a:off x="882904" y="2394646"/>
            <a:ext cx="274320" cy="173736"/>
          </a:xfrm>
          <a:prstGeom prst="line">
            <a:avLst/>
          </a:prstGeom>
          <a:ln w="33020">
            <a:solidFill>
              <a:srgbClr val="1070D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15">
            <a:extLst>
              <a:ext uri="{FF2B5EF4-FFF2-40B4-BE49-F238E27FC236}">
                <a16:creationId xmlns:a16="http://schemas.microsoft.com/office/drawing/2014/main" id="{6ED25F01-89EF-9B7B-5338-321FC6CB4B97}"/>
              </a:ext>
            </a:extLst>
          </p:cNvPr>
          <p:cNvSpPr/>
          <p:nvPr/>
        </p:nvSpPr>
        <p:spPr>
          <a:xfrm>
            <a:off x="682591" y="2790108"/>
            <a:ext cx="493776" cy="493776"/>
          </a:xfrm>
          <a:prstGeom prst="ellips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Oval 16">
            <a:extLst>
              <a:ext uri="{FF2B5EF4-FFF2-40B4-BE49-F238E27FC236}">
                <a16:creationId xmlns:a16="http://schemas.microsoft.com/office/drawing/2014/main" id="{ACB1B2D9-9570-3945-4E26-9FD9ED5825CA}"/>
              </a:ext>
            </a:extLst>
          </p:cNvPr>
          <p:cNvSpPr/>
          <p:nvPr/>
        </p:nvSpPr>
        <p:spPr>
          <a:xfrm>
            <a:off x="865471" y="2881548"/>
            <a:ext cx="128016" cy="128016"/>
          </a:xfrm>
          <a:prstGeom prst="ellipse">
            <a:avLst/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5B827E17-B5C3-3948-192A-B38C3E003FCD}"/>
              </a:ext>
            </a:extLst>
          </p:cNvPr>
          <p:cNvSpPr/>
          <p:nvPr/>
        </p:nvSpPr>
        <p:spPr>
          <a:xfrm>
            <a:off x="828895" y="3036996"/>
            <a:ext cx="201168" cy="137160"/>
          </a:xfrm>
          <a:prstGeom prst="roundRect">
            <a:avLst>
              <a:gd name="adj" fmla="val 50000"/>
            </a:avLst>
          </a:prstGeom>
          <a:noFill/>
          <a:ln w="24130">
            <a:solidFill>
              <a:srgbClr val="107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F77DF5EB-F322-5481-44E4-E52DAC285BCF}"/>
              </a:ext>
            </a:extLst>
          </p:cNvPr>
          <p:cNvSpPr/>
          <p:nvPr/>
        </p:nvSpPr>
        <p:spPr>
          <a:xfrm>
            <a:off x="4541843" y="1434496"/>
            <a:ext cx="2842074" cy="2153601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Rounded Rectangle 8">
            <a:extLst>
              <a:ext uri="{FF2B5EF4-FFF2-40B4-BE49-F238E27FC236}">
                <a16:creationId xmlns:a16="http://schemas.microsoft.com/office/drawing/2014/main" id="{5A3B24A4-38D6-D587-83A9-D77BBA3A3438}"/>
              </a:ext>
            </a:extLst>
          </p:cNvPr>
          <p:cNvSpPr/>
          <p:nvPr/>
        </p:nvSpPr>
        <p:spPr>
          <a:xfrm>
            <a:off x="5487392" y="1648526"/>
            <a:ext cx="95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9AFA2E59-4FC4-EE95-9E94-CC2C5CA48952}"/>
              </a:ext>
            </a:extLst>
          </p:cNvPr>
          <p:cNvSpPr txBox="1"/>
          <p:nvPr/>
        </p:nvSpPr>
        <p:spPr>
          <a:xfrm>
            <a:off x="5487392" y="1982045"/>
            <a:ext cx="950976" cy="2578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dirty="0">
                <a:solidFill>
                  <a:srgbClr val="F070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</a:p>
        </p:txBody>
      </p:sp>
      <p:sp>
        <p:nvSpPr>
          <p:cNvPr id="49" name="Trapezoid 10">
            <a:extLst>
              <a:ext uri="{FF2B5EF4-FFF2-40B4-BE49-F238E27FC236}">
                <a16:creationId xmlns:a16="http://schemas.microsoft.com/office/drawing/2014/main" id="{347A95EB-D2D4-FFF7-89F3-C73F38A35547}"/>
              </a:ext>
            </a:extLst>
          </p:cNvPr>
          <p:cNvSpPr/>
          <p:nvPr/>
        </p:nvSpPr>
        <p:spPr>
          <a:xfrm>
            <a:off x="5395952" y="2288605"/>
            <a:ext cx="1133856" cy="118872"/>
          </a:xfrm>
          <a:prstGeom prst="trapezoid">
            <a:avLst>
              <a:gd name="adj" fmla="val 32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Box 11">
            <a:extLst>
              <a:ext uri="{FF2B5EF4-FFF2-40B4-BE49-F238E27FC236}">
                <a16:creationId xmlns:a16="http://schemas.microsoft.com/office/drawing/2014/main" id="{38B65E5F-6B5E-F1DD-E661-BFE89875D76C}"/>
              </a:ext>
            </a:extLst>
          </p:cNvPr>
          <p:cNvSpPr txBox="1"/>
          <p:nvPr/>
        </p:nvSpPr>
        <p:spPr>
          <a:xfrm>
            <a:off x="4597723" y="2462313"/>
            <a:ext cx="2743200" cy="1289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技术团队开发AI工具</a:t>
            </a:r>
            <a:endParaRPr lang="en-US" sz="1500" b="1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</a:pPr>
            <a:r>
              <a:rPr lang="zh-CN" altLang="en-US" sz="1500" b="1" dirty="0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面向无人运营的</a:t>
            </a:r>
          </a:p>
          <a:p>
            <a:pPr algn="ctr">
              <a:lnSpc>
                <a:spcPct val="115000"/>
              </a:lnSpc>
            </a:pPr>
            <a:r>
              <a:rPr lang="zh-CN" altLang="en-US" sz="1500" b="1" dirty="0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长尾中小商家开展</a:t>
            </a:r>
          </a:p>
          <a:p>
            <a:pPr algn="ctr">
              <a:lnSpc>
                <a:spcPct val="115000"/>
              </a:lnSpc>
            </a:pPr>
            <a:r>
              <a:rPr lang="zh-CN" altLang="en-US" sz="1500" b="1" dirty="0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运营做功</a:t>
            </a:r>
          </a:p>
          <a:p>
            <a:pPr algn="ctr">
              <a:lnSpc>
                <a:spcPct val="105000"/>
              </a:lnSpc>
            </a:pPr>
            <a:endParaRPr sz="1500" b="1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Rounded Rectangle 5">
            <a:extLst>
              <a:ext uri="{FF2B5EF4-FFF2-40B4-BE49-F238E27FC236}">
                <a16:creationId xmlns:a16="http://schemas.microsoft.com/office/drawing/2014/main" id="{8DAADADE-77B5-6601-6EA2-1FE75A0AE50A}"/>
              </a:ext>
            </a:extLst>
          </p:cNvPr>
          <p:cNvSpPr/>
          <p:nvPr/>
        </p:nvSpPr>
        <p:spPr>
          <a:xfrm>
            <a:off x="8389757" y="1466500"/>
            <a:ext cx="2834640" cy="2121600"/>
          </a:xfrm>
          <a:prstGeom prst="roundRect">
            <a:avLst>
              <a:gd name="adj" fmla="val 7000"/>
            </a:avLst>
          </a:prstGeom>
          <a:solidFill>
            <a:srgbClr val="FDF3EB"/>
          </a:solidFill>
          <a:ln w="22225">
            <a:solidFill>
              <a:srgbClr val="F070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Oval 20">
            <a:extLst>
              <a:ext uri="{FF2B5EF4-FFF2-40B4-BE49-F238E27FC236}">
                <a16:creationId xmlns:a16="http://schemas.microsoft.com/office/drawing/2014/main" id="{2D53B4CB-F909-4796-B488-0F88B728DB69}"/>
              </a:ext>
            </a:extLst>
          </p:cNvPr>
          <p:cNvSpPr/>
          <p:nvPr/>
        </p:nvSpPr>
        <p:spPr>
          <a:xfrm>
            <a:off x="9423029" y="1808925"/>
            <a:ext cx="768096" cy="768096"/>
          </a:xfrm>
          <a:prstGeom prst="ellipse">
            <a:avLst/>
          </a:prstGeom>
          <a:solidFill>
            <a:srgbClr val="F07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7F255C60-CE16-F263-B0D2-EE117992969F}"/>
              </a:ext>
            </a:extLst>
          </p:cNvPr>
          <p:cNvSpPr txBox="1"/>
          <p:nvPr/>
        </p:nvSpPr>
        <p:spPr>
          <a:xfrm>
            <a:off x="9404741" y="2031319"/>
            <a:ext cx="768096" cy="455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</a:p>
        </p:txBody>
      </p:sp>
      <p:sp>
        <p:nvSpPr>
          <p:cNvPr id="57" name="TextBox 22">
            <a:extLst>
              <a:ext uri="{FF2B5EF4-FFF2-40B4-BE49-F238E27FC236}">
                <a16:creationId xmlns:a16="http://schemas.microsoft.com/office/drawing/2014/main" id="{D5E3610F-D2CC-7C21-7561-5275A685BB75}"/>
              </a:ext>
            </a:extLst>
          </p:cNvPr>
          <p:cNvSpPr txBox="1"/>
          <p:nvPr/>
        </p:nvSpPr>
        <p:spPr>
          <a:xfrm>
            <a:off x="8417189" y="2902365"/>
            <a:ext cx="2743200" cy="510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能否有效激活商家</a:t>
            </a:r>
            <a:r>
              <a:rPr sz="1500" b="1" dirty="0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</a:p>
          <a:p>
            <a:pPr algn="ctr">
              <a:lnSpc>
                <a:spcPct val="115000"/>
              </a:lnSpc>
            </a:pPr>
            <a:r>
              <a:rPr sz="1500" b="1" dirty="0" err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仍需实验验证</a:t>
            </a:r>
            <a:endParaRPr sz="1500" b="1" dirty="0">
              <a:solidFill>
                <a:srgbClr val="2B2B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Right Arrow 38">
            <a:extLst>
              <a:ext uri="{FF2B5EF4-FFF2-40B4-BE49-F238E27FC236}">
                <a16:creationId xmlns:a16="http://schemas.microsoft.com/office/drawing/2014/main" id="{AC30F284-2B89-84C8-64E4-20526F7F387A}"/>
              </a:ext>
            </a:extLst>
          </p:cNvPr>
          <p:cNvSpPr/>
          <p:nvPr/>
        </p:nvSpPr>
        <p:spPr>
          <a:xfrm>
            <a:off x="3724309" y="2586639"/>
            <a:ext cx="733230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Right Arrow 38">
            <a:extLst>
              <a:ext uri="{FF2B5EF4-FFF2-40B4-BE49-F238E27FC236}">
                <a16:creationId xmlns:a16="http://schemas.microsoft.com/office/drawing/2014/main" id="{05810433-8233-C052-8ECF-B971C8315278}"/>
              </a:ext>
            </a:extLst>
          </p:cNvPr>
          <p:cNvSpPr/>
          <p:nvPr/>
        </p:nvSpPr>
        <p:spPr>
          <a:xfrm>
            <a:off x="7427282" y="2588866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3" name="Right Arrow 38">
            <a:extLst>
              <a:ext uri="{FF2B5EF4-FFF2-40B4-BE49-F238E27FC236}">
                <a16:creationId xmlns:a16="http://schemas.microsoft.com/office/drawing/2014/main" id="{87849E60-039E-4B0C-410F-46FD6E01138D}"/>
              </a:ext>
            </a:extLst>
          </p:cNvPr>
          <p:cNvSpPr/>
          <p:nvPr/>
        </p:nvSpPr>
        <p:spPr>
          <a:xfrm rot="5400000">
            <a:off x="9386453" y="3882672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4" name="Rounded Rectangle 26">
            <a:extLst>
              <a:ext uri="{FF2B5EF4-FFF2-40B4-BE49-F238E27FC236}">
                <a16:creationId xmlns:a16="http://schemas.microsoft.com/office/drawing/2014/main" id="{894D4417-5100-3FDD-2F18-291CFA90F6F3}"/>
              </a:ext>
            </a:extLst>
          </p:cNvPr>
          <p:cNvSpPr/>
          <p:nvPr/>
        </p:nvSpPr>
        <p:spPr>
          <a:xfrm>
            <a:off x="8389757" y="4527979"/>
            <a:ext cx="2862072" cy="17007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7" name="Oval 37">
            <a:extLst>
              <a:ext uri="{FF2B5EF4-FFF2-40B4-BE49-F238E27FC236}">
                <a16:creationId xmlns:a16="http://schemas.microsoft.com/office/drawing/2014/main" id="{358EA4BA-ADC9-1852-631E-A8F65553BB2B}"/>
              </a:ext>
            </a:extLst>
          </p:cNvPr>
          <p:cNvSpPr/>
          <p:nvPr/>
        </p:nvSpPr>
        <p:spPr>
          <a:xfrm>
            <a:off x="9560189" y="5076619"/>
            <a:ext cx="228600" cy="228600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9" name="Oval 39">
            <a:extLst>
              <a:ext uri="{FF2B5EF4-FFF2-40B4-BE49-F238E27FC236}">
                <a16:creationId xmlns:a16="http://schemas.microsoft.com/office/drawing/2014/main" id="{CB5940D0-D032-13EA-E4F3-8E0E88E4A13F}"/>
              </a:ext>
            </a:extLst>
          </p:cNvPr>
          <p:cNvSpPr/>
          <p:nvPr/>
        </p:nvSpPr>
        <p:spPr>
          <a:xfrm>
            <a:off x="9916805" y="4948603"/>
            <a:ext cx="228600" cy="228600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1" name="Connector 41">
            <a:extLst>
              <a:ext uri="{FF2B5EF4-FFF2-40B4-BE49-F238E27FC236}">
                <a16:creationId xmlns:a16="http://schemas.microsoft.com/office/drawing/2014/main" id="{84E49F9A-4DB3-DBE3-C17C-FDA9B7E63662}"/>
              </a:ext>
            </a:extLst>
          </p:cNvPr>
          <p:cNvCxnSpPr/>
          <p:nvPr/>
        </p:nvCxnSpPr>
        <p:spPr>
          <a:xfrm flipV="1">
            <a:off x="9779645" y="5094907"/>
            <a:ext cx="128016" cy="91440"/>
          </a:xfrm>
          <a:prstGeom prst="line">
            <a:avLst/>
          </a:prstGeom>
          <a:ln w="2286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42">
            <a:extLst>
              <a:ext uri="{FF2B5EF4-FFF2-40B4-BE49-F238E27FC236}">
                <a16:creationId xmlns:a16="http://schemas.microsoft.com/office/drawing/2014/main" id="{4F80557B-9742-C9A0-CCF5-D16BD0A941C9}"/>
              </a:ext>
            </a:extLst>
          </p:cNvPr>
          <p:cNvCxnSpPr/>
          <p:nvPr/>
        </p:nvCxnSpPr>
        <p:spPr>
          <a:xfrm>
            <a:off x="9779645" y="5186347"/>
            <a:ext cx="237744" cy="82296"/>
          </a:xfrm>
          <a:prstGeom prst="line">
            <a:avLst/>
          </a:prstGeom>
          <a:ln w="2286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43">
            <a:extLst>
              <a:ext uri="{FF2B5EF4-FFF2-40B4-BE49-F238E27FC236}">
                <a16:creationId xmlns:a16="http://schemas.microsoft.com/office/drawing/2014/main" id="{32F5B6A3-9218-2932-DECE-621274AEC9FC}"/>
              </a:ext>
            </a:extLst>
          </p:cNvPr>
          <p:cNvSpPr txBox="1"/>
          <p:nvPr/>
        </p:nvSpPr>
        <p:spPr>
          <a:xfrm>
            <a:off x="8462909" y="5666926"/>
            <a:ext cx="2743200" cy="2275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 AB 方案设定</a:t>
            </a:r>
          </a:p>
        </p:txBody>
      </p:sp>
      <p:sp>
        <p:nvSpPr>
          <p:cNvPr id="155" name="Rounded Rectangle 29">
            <a:extLst>
              <a:ext uri="{FF2B5EF4-FFF2-40B4-BE49-F238E27FC236}">
                <a16:creationId xmlns:a16="http://schemas.microsoft.com/office/drawing/2014/main" id="{D656AFA7-4617-9232-EE5C-EFBA9931F8FE}"/>
              </a:ext>
            </a:extLst>
          </p:cNvPr>
          <p:cNvSpPr/>
          <p:nvPr/>
        </p:nvSpPr>
        <p:spPr>
          <a:xfrm>
            <a:off x="4592642" y="4527979"/>
            <a:ext cx="2788920" cy="17322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6" name="Rounded Rectangle 30">
            <a:extLst>
              <a:ext uri="{FF2B5EF4-FFF2-40B4-BE49-F238E27FC236}">
                <a16:creationId xmlns:a16="http://schemas.microsoft.com/office/drawing/2014/main" id="{518F0030-6AFD-C75A-357D-6525C6861413}"/>
              </a:ext>
            </a:extLst>
          </p:cNvPr>
          <p:cNvSpPr/>
          <p:nvPr/>
        </p:nvSpPr>
        <p:spPr>
          <a:xfrm>
            <a:off x="4720658" y="4559454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8" name="Oval 44">
            <a:extLst>
              <a:ext uri="{FF2B5EF4-FFF2-40B4-BE49-F238E27FC236}">
                <a16:creationId xmlns:a16="http://schemas.microsoft.com/office/drawing/2014/main" id="{E72EF252-16A9-064B-64C1-567828AF4AC6}"/>
              </a:ext>
            </a:extLst>
          </p:cNvPr>
          <p:cNvSpPr/>
          <p:nvPr/>
        </p:nvSpPr>
        <p:spPr>
          <a:xfrm>
            <a:off x="5817938" y="4852063"/>
            <a:ext cx="384048" cy="384048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9" name="Oval 45">
            <a:extLst>
              <a:ext uri="{FF2B5EF4-FFF2-40B4-BE49-F238E27FC236}">
                <a16:creationId xmlns:a16="http://schemas.microsoft.com/office/drawing/2014/main" id="{723DB469-A761-9EF2-2C0E-C23CB77D18EC}"/>
              </a:ext>
            </a:extLst>
          </p:cNvPr>
          <p:cNvSpPr/>
          <p:nvPr/>
        </p:nvSpPr>
        <p:spPr>
          <a:xfrm>
            <a:off x="5886518" y="4920643"/>
            <a:ext cx="246888" cy="246888"/>
          </a:xfrm>
          <a:prstGeom prst="ellipse">
            <a:avLst/>
          </a:prstGeom>
          <a:noFill/>
          <a:ln w="2286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0" name="Oval 46">
            <a:extLst>
              <a:ext uri="{FF2B5EF4-FFF2-40B4-BE49-F238E27FC236}">
                <a16:creationId xmlns:a16="http://schemas.microsoft.com/office/drawing/2014/main" id="{1369897A-1021-D60D-9625-A52503F32C10}"/>
              </a:ext>
            </a:extLst>
          </p:cNvPr>
          <p:cNvSpPr/>
          <p:nvPr/>
        </p:nvSpPr>
        <p:spPr>
          <a:xfrm>
            <a:off x="5955098" y="4989223"/>
            <a:ext cx="109728" cy="1097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1" name="Connector 47">
            <a:extLst>
              <a:ext uri="{FF2B5EF4-FFF2-40B4-BE49-F238E27FC236}">
                <a16:creationId xmlns:a16="http://schemas.microsoft.com/office/drawing/2014/main" id="{FC1CC5EF-3725-BED3-19B4-0F1B6DB73BA9}"/>
              </a:ext>
            </a:extLst>
          </p:cNvPr>
          <p:cNvCxnSpPr/>
          <p:nvPr/>
        </p:nvCxnSpPr>
        <p:spPr>
          <a:xfrm flipH="1">
            <a:off x="6055682" y="4806343"/>
            <a:ext cx="173736" cy="192024"/>
          </a:xfrm>
          <a:prstGeom prst="line">
            <a:avLst/>
          </a:prstGeom>
          <a:ln w="2540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48">
            <a:extLst>
              <a:ext uri="{FF2B5EF4-FFF2-40B4-BE49-F238E27FC236}">
                <a16:creationId xmlns:a16="http://schemas.microsoft.com/office/drawing/2014/main" id="{F4494211-BE46-5A55-D3ED-A2BC3A93151B}"/>
              </a:ext>
            </a:extLst>
          </p:cNvPr>
          <p:cNvSpPr txBox="1"/>
          <p:nvPr/>
        </p:nvSpPr>
        <p:spPr>
          <a:xfrm>
            <a:off x="4638362" y="5616106"/>
            <a:ext cx="2743200" cy="2275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支持目标设定</a:t>
            </a:r>
          </a:p>
        </p:txBody>
      </p:sp>
      <p:sp>
        <p:nvSpPr>
          <p:cNvPr id="163" name="Rounded Rectangle 32">
            <a:extLst>
              <a:ext uri="{FF2B5EF4-FFF2-40B4-BE49-F238E27FC236}">
                <a16:creationId xmlns:a16="http://schemas.microsoft.com/office/drawing/2014/main" id="{8AB201D5-CF16-870F-76B7-B0C8584F78EF}"/>
              </a:ext>
            </a:extLst>
          </p:cNvPr>
          <p:cNvSpPr/>
          <p:nvPr/>
        </p:nvSpPr>
        <p:spPr>
          <a:xfrm>
            <a:off x="624146" y="4451506"/>
            <a:ext cx="283464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6" name="Connector 49">
            <a:extLst>
              <a:ext uri="{FF2B5EF4-FFF2-40B4-BE49-F238E27FC236}">
                <a16:creationId xmlns:a16="http://schemas.microsoft.com/office/drawing/2014/main" id="{6DEEBAAB-7226-5695-418E-1894FB4E4FEC}"/>
              </a:ext>
            </a:extLst>
          </p:cNvPr>
          <p:cNvCxnSpPr/>
          <p:nvPr/>
        </p:nvCxnSpPr>
        <p:spPr>
          <a:xfrm flipV="1">
            <a:off x="1785434" y="4991002"/>
            <a:ext cx="137160" cy="146304"/>
          </a:xfrm>
          <a:prstGeom prst="line">
            <a:avLst/>
          </a:prstGeom>
          <a:ln w="2794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50">
            <a:extLst>
              <a:ext uri="{FF2B5EF4-FFF2-40B4-BE49-F238E27FC236}">
                <a16:creationId xmlns:a16="http://schemas.microsoft.com/office/drawing/2014/main" id="{A8823E44-E290-FAB7-A568-20474F07BF17}"/>
              </a:ext>
            </a:extLst>
          </p:cNvPr>
          <p:cNvCxnSpPr/>
          <p:nvPr/>
        </p:nvCxnSpPr>
        <p:spPr>
          <a:xfrm>
            <a:off x="1922594" y="4991002"/>
            <a:ext cx="100584" cy="73152"/>
          </a:xfrm>
          <a:prstGeom prst="line">
            <a:avLst/>
          </a:prstGeom>
          <a:ln w="2794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51">
            <a:extLst>
              <a:ext uri="{FF2B5EF4-FFF2-40B4-BE49-F238E27FC236}">
                <a16:creationId xmlns:a16="http://schemas.microsoft.com/office/drawing/2014/main" id="{00541C85-0004-C720-CA6D-247FC841E103}"/>
              </a:ext>
            </a:extLst>
          </p:cNvPr>
          <p:cNvSpPr/>
          <p:nvPr/>
        </p:nvSpPr>
        <p:spPr>
          <a:xfrm>
            <a:off x="2041466" y="4872130"/>
            <a:ext cx="292608" cy="292608"/>
          </a:xfrm>
          <a:prstGeom prst="ellipse">
            <a:avLst/>
          </a:prstGeom>
          <a:noFill/>
          <a:ln w="2413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9" name="Connector 52">
            <a:extLst>
              <a:ext uri="{FF2B5EF4-FFF2-40B4-BE49-F238E27FC236}">
                <a16:creationId xmlns:a16="http://schemas.microsoft.com/office/drawing/2014/main" id="{FA572A7A-42CF-6DC6-3D47-3B2ED7F3455F}"/>
              </a:ext>
            </a:extLst>
          </p:cNvPr>
          <p:cNvCxnSpPr/>
          <p:nvPr/>
        </p:nvCxnSpPr>
        <p:spPr>
          <a:xfrm>
            <a:off x="2251778" y="5082442"/>
            <a:ext cx="73152" cy="73152"/>
          </a:xfrm>
          <a:prstGeom prst="line">
            <a:avLst/>
          </a:prstGeom>
          <a:ln w="3048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53">
            <a:extLst>
              <a:ext uri="{FF2B5EF4-FFF2-40B4-BE49-F238E27FC236}">
                <a16:creationId xmlns:a16="http://schemas.microsoft.com/office/drawing/2014/main" id="{436DCEDD-F124-4B77-58CA-F67A12D8376F}"/>
              </a:ext>
            </a:extLst>
          </p:cNvPr>
          <p:cNvSpPr txBox="1"/>
          <p:nvPr/>
        </p:nvSpPr>
        <p:spPr>
          <a:xfrm>
            <a:off x="669866" y="5590453"/>
            <a:ext cx="2743200" cy="2275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B2B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开展实验数据验证</a:t>
            </a:r>
          </a:p>
        </p:txBody>
      </p:sp>
      <p:sp>
        <p:nvSpPr>
          <p:cNvPr id="171" name="Right Arrow 38">
            <a:extLst>
              <a:ext uri="{FF2B5EF4-FFF2-40B4-BE49-F238E27FC236}">
                <a16:creationId xmlns:a16="http://schemas.microsoft.com/office/drawing/2014/main" id="{BAAE0F25-2F09-2A13-B132-43AAFC019FF9}"/>
              </a:ext>
            </a:extLst>
          </p:cNvPr>
          <p:cNvSpPr/>
          <p:nvPr/>
        </p:nvSpPr>
        <p:spPr>
          <a:xfrm rot="10800000">
            <a:off x="7438087" y="5167805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2" name="Right Arrow 38">
            <a:extLst>
              <a:ext uri="{FF2B5EF4-FFF2-40B4-BE49-F238E27FC236}">
                <a16:creationId xmlns:a16="http://schemas.microsoft.com/office/drawing/2014/main" id="{66F33401-5851-1220-7301-A28E61601EDC}"/>
              </a:ext>
            </a:extLst>
          </p:cNvPr>
          <p:cNvSpPr/>
          <p:nvPr/>
        </p:nvSpPr>
        <p:spPr>
          <a:xfrm rot="10800000">
            <a:off x="3600518" y="5201958"/>
            <a:ext cx="804672" cy="384302"/>
          </a:xfrm>
          <a:prstGeom prst="rightArrow">
            <a:avLst>
              <a:gd name="adj1" fmla="val 62000"/>
              <a:gd name="adj2" fmla="val 60000"/>
            </a:avLst>
          </a:prstGeom>
          <a:gradFill rotWithShape="1">
            <a:gsLst>
              <a:gs pos="0">
                <a:srgbClr val="0A5CB0"/>
              </a:gs>
              <a:gs pos="100000">
                <a:srgbClr val="3B8DE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3" name="Rounded Rectangle 30">
            <a:extLst>
              <a:ext uri="{FF2B5EF4-FFF2-40B4-BE49-F238E27FC236}">
                <a16:creationId xmlns:a16="http://schemas.microsoft.com/office/drawing/2014/main" id="{6D6DCB2C-94A8-24FE-57F7-788FF298C574}"/>
              </a:ext>
            </a:extLst>
          </p:cNvPr>
          <p:cNvSpPr/>
          <p:nvPr/>
        </p:nvSpPr>
        <p:spPr>
          <a:xfrm>
            <a:off x="4697798" y="6203089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4" name="Rounded Rectangle 30">
            <a:extLst>
              <a:ext uri="{FF2B5EF4-FFF2-40B4-BE49-F238E27FC236}">
                <a16:creationId xmlns:a16="http://schemas.microsoft.com/office/drawing/2014/main" id="{C6485271-1D21-A89E-5070-33F1C5E093C2}"/>
              </a:ext>
            </a:extLst>
          </p:cNvPr>
          <p:cNvSpPr/>
          <p:nvPr/>
        </p:nvSpPr>
        <p:spPr>
          <a:xfrm>
            <a:off x="8517773" y="6173899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5" name="Rounded Rectangle 30">
            <a:extLst>
              <a:ext uri="{FF2B5EF4-FFF2-40B4-BE49-F238E27FC236}">
                <a16:creationId xmlns:a16="http://schemas.microsoft.com/office/drawing/2014/main" id="{4F559363-DF40-058A-170E-4999FC2F83B5}"/>
              </a:ext>
            </a:extLst>
          </p:cNvPr>
          <p:cNvSpPr/>
          <p:nvPr/>
        </p:nvSpPr>
        <p:spPr>
          <a:xfrm>
            <a:off x="8554349" y="4548025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6" name="Rounded Rectangle 30">
            <a:extLst>
              <a:ext uri="{FF2B5EF4-FFF2-40B4-BE49-F238E27FC236}">
                <a16:creationId xmlns:a16="http://schemas.microsoft.com/office/drawing/2014/main" id="{F9955A5D-9D6D-8B95-C3D7-9ED5B4EFD76E}"/>
              </a:ext>
            </a:extLst>
          </p:cNvPr>
          <p:cNvSpPr/>
          <p:nvPr/>
        </p:nvSpPr>
        <p:spPr>
          <a:xfrm>
            <a:off x="752162" y="6153325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7" name="Rounded Rectangle 30">
            <a:extLst>
              <a:ext uri="{FF2B5EF4-FFF2-40B4-BE49-F238E27FC236}">
                <a16:creationId xmlns:a16="http://schemas.microsoft.com/office/drawing/2014/main" id="{CC0204BA-5B63-BDA9-E4CE-3F0B06FA1195}"/>
              </a:ext>
            </a:extLst>
          </p:cNvPr>
          <p:cNvSpPr/>
          <p:nvPr/>
        </p:nvSpPr>
        <p:spPr>
          <a:xfrm>
            <a:off x="785368" y="4497575"/>
            <a:ext cx="2578608" cy="411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069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E1EDA86-FC95-4A5F-91B1-9773B0311FB9}"/>
              </a:ext>
            </a:extLst>
          </p:cNvPr>
          <p:cNvSpPr txBox="1"/>
          <p:nvPr/>
        </p:nvSpPr>
        <p:spPr>
          <a:xfrm>
            <a:off x="811126" y="547030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灵顺项目｜灵顺中我们做了什么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F99B5CB-1F38-4EE3-90D5-590BC65E5F33}"/>
              </a:ext>
            </a:extLst>
          </p:cNvPr>
          <p:cNvCxnSpPr>
            <a:cxnSpLocks/>
          </p:cNvCxnSpPr>
          <p:nvPr/>
        </p:nvCxnSpPr>
        <p:spPr>
          <a:xfrm>
            <a:off x="983955" y="979776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00CD46F5-0DA2-483E-B427-BAF017613D3D}"/>
              </a:ext>
            </a:extLst>
          </p:cNvPr>
          <p:cNvSpPr/>
          <p:nvPr/>
        </p:nvSpPr>
        <p:spPr>
          <a:xfrm>
            <a:off x="404038" y="1848230"/>
            <a:ext cx="3699290" cy="1759474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F8C5CBA-1FCA-4AA1-B23B-9A4C0750287C}"/>
              </a:ext>
            </a:extLst>
          </p:cNvPr>
          <p:cNvSpPr/>
          <p:nvPr/>
        </p:nvSpPr>
        <p:spPr>
          <a:xfrm>
            <a:off x="4382330" y="1707346"/>
            <a:ext cx="3463655" cy="1940701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2ECBAAF-F624-43E6-9321-81805CDDFFB7}"/>
              </a:ext>
            </a:extLst>
          </p:cNvPr>
          <p:cNvSpPr/>
          <p:nvPr/>
        </p:nvSpPr>
        <p:spPr>
          <a:xfrm>
            <a:off x="8166516" y="1783072"/>
            <a:ext cx="3463655" cy="1864974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23D46E1-43E1-453F-B709-83AE402EE4E8}"/>
              </a:ext>
            </a:extLst>
          </p:cNvPr>
          <p:cNvSpPr/>
          <p:nvPr/>
        </p:nvSpPr>
        <p:spPr>
          <a:xfrm>
            <a:off x="592176" y="1924097"/>
            <a:ext cx="3324028" cy="141848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13BEDDE-38EC-4EE5-87C4-6C93CF9934F8}"/>
              </a:ext>
            </a:extLst>
          </p:cNvPr>
          <p:cNvSpPr/>
          <p:nvPr/>
        </p:nvSpPr>
        <p:spPr>
          <a:xfrm>
            <a:off x="4534100" y="1857518"/>
            <a:ext cx="3032883" cy="148506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B3B32E3-BD9A-4555-BAE7-B74D5C7357FD}"/>
              </a:ext>
            </a:extLst>
          </p:cNvPr>
          <p:cNvSpPr/>
          <p:nvPr/>
        </p:nvSpPr>
        <p:spPr>
          <a:xfrm>
            <a:off x="8283419" y="1892610"/>
            <a:ext cx="3032883" cy="144996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242A44B2-245B-4024-875D-A20E7000CCCB}"/>
              </a:ext>
            </a:extLst>
          </p:cNvPr>
          <p:cNvSpPr/>
          <p:nvPr/>
        </p:nvSpPr>
        <p:spPr>
          <a:xfrm rot="10800000">
            <a:off x="414416" y="1339432"/>
            <a:ext cx="3647380" cy="738909"/>
          </a:xfrm>
          <a:custGeom>
            <a:avLst/>
            <a:gdLst>
              <a:gd name="connsiteX0" fmla="*/ 2644203 w 2644203"/>
              <a:gd name="connsiteY0" fmla="*/ 676155 h 676155"/>
              <a:gd name="connsiteX1" fmla="*/ 0 w 2644203"/>
              <a:gd name="connsiteY1" fmla="*/ 676155 h 676155"/>
              <a:gd name="connsiteX2" fmla="*/ 0 w 2644203"/>
              <a:gd name="connsiteY2" fmla="*/ 193176 h 676155"/>
              <a:gd name="connsiteX3" fmla="*/ 1168131 w 2644203"/>
              <a:gd name="connsiteY3" fmla="*/ 193176 h 676155"/>
              <a:gd name="connsiteX4" fmla="*/ 1322101 w 2644203"/>
              <a:gd name="connsiteY4" fmla="*/ 0 h 676155"/>
              <a:gd name="connsiteX5" fmla="*/ 1476071 w 2644203"/>
              <a:gd name="connsiteY5" fmla="*/ 193176 h 676155"/>
              <a:gd name="connsiteX6" fmla="*/ 2644203 w 2644203"/>
              <a:gd name="connsiteY6" fmla="*/ 193176 h 6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203" h="676155">
                <a:moveTo>
                  <a:pt x="2644203" y="676155"/>
                </a:moveTo>
                <a:lnTo>
                  <a:pt x="0" y="676155"/>
                </a:lnTo>
                <a:lnTo>
                  <a:pt x="0" y="193176"/>
                </a:lnTo>
                <a:lnTo>
                  <a:pt x="1168131" y="193176"/>
                </a:lnTo>
                <a:lnTo>
                  <a:pt x="1322101" y="0"/>
                </a:lnTo>
                <a:lnTo>
                  <a:pt x="1476071" y="193176"/>
                </a:lnTo>
                <a:lnTo>
                  <a:pt x="2644203" y="19317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59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79E7047E-B073-46D8-A514-7CA3311272D7}"/>
              </a:ext>
            </a:extLst>
          </p:cNvPr>
          <p:cNvSpPr/>
          <p:nvPr/>
        </p:nvSpPr>
        <p:spPr>
          <a:xfrm rot="10800000">
            <a:off x="4382331" y="1339432"/>
            <a:ext cx="3463652" cy="738909"/>
          </a:xfrm>
          <a:custGeom>
            <a:avLst/>
            <a:gdLst>
              <a:gd name="connsiteX0" fmla="*/ 2644203 w 2644203"/>
              <a:gd name="connsiteY0" fmla="*/ 676155 h 676155"/>
              <a:gd name="connsiteX1" fmla="*/ 0 w 2644203"/>
              <a:gd name="connsiteY1" fmla="*/ 676155 h 676155"/>
              <a:gd name="connsiteX2" fmla="*/ 0 w 2644203"/>
              <a:gd name="connsiteY2" fmla="*/ 193176 h 676155"/>
              <a:gd name="connsiteX3" fmla="*/ 1168131 w 2644203"/>
              <a:gd name="connsiteY3" fmla="*/ 193176 h 676155"/>
              <a:gd name="connsiteX4" fmla="*/ 1322101 w 2644203"/>
              <a:gd name="connsiteY4" fmla="*/ 0 h 676155"/>
              <a:gd name="connsiteX5" fmla="*/ 1476071 w 2644203"/>
              <a:gd name="connsiteY5" fmla="*/ 193176 h 676155"/>
              <a:gd name="connsiteX6" fmla="*/ 2644203 w 2644203"/>
              <a:gd name="connsiteY6" fmla="*/ 193176 h 6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203" h="676155">
                <a:moveTo>
                  <a:pt x="2644203" y="676155"/>
                </a:moveTo>
                <a:lnTo>
                  <a:pt x="0" y="676155"/>
                </a:lnTo>
                <a:lnTo>
                  <a:pt x="0" y="193176"/>
                </a:lnTo>
                <a:lnTo>
                  <a:pt x="1168131" y="193176"/>
                </a:lnTo>
                <a:lnTo>
                  <a:pt x="1322101" y="0"/>
                </a:lnTo>
                <a:lnTo>
                  <a:pt x="1476071" y="193176"/>
                </a:lnTo>
                <a:lnTo>
                  <a:pt x="2644203" y="1931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212E7935-72A9-4EFE-8A6A-3A4A7EB5CCE5}"/>
              </a:ext>
            </a:extLst>
          </p:cNvPr>
          <p:cNvSpPr/>
          <p:nvPr/>
        </p:nvSpPr>
        <p:spPr>
          <a:xfrm rot="10800000">
            <a:off x="8166516" y="1335641"/>
            <a:ext cx="3463652" cy="761923"/>
          </a:xfrm>
          <a:custGeom>
            <a:avLst/>
            <a:gdLst>
              <a:gd name="connsiteX0" fmla="*/ 2644203 w 2644203"/>
              <a:gd name="connsiteY0" fmla="*/ 676155 h 676155"/>
              <a:gd name="connsiteX1" fmla="*/ 0 w 2644203"/>
              <a:gd name="connsiteY1" fmla="*/ 676155 h 676155"/>
              <a:gd name="connsiteX2" fmla="*/ 0 w 2644203"/>
              <a:gd name="connsiteY2" fmla="*/ 193176 h 676155"/>
              <a:gd name="connsiteX3" fmla="*/ 1168131 w 2644203"/>
              <a:gd name="connsiteY3" fmla="*/ 193176 h 676155"/>
              <a:gd name="connsiteX4" fmla="*/ 1322101 w 2644203"/>
              <a:gd name="connsiteY4" fmla="*/ 0 h 676155"/>
              <a:gd name="connsiteX5" fmla="*/ 1476071 w 2644203"/>
              <a:gd name="connsiteY5" fmla="*/ 193176 h 676155"/>
              <a:gd name="connsiteX6" fmla="*/ 2644203 w 2644203"/>
              <a:gd name="connsiteY6" fmla="*/ 193176 h 67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203" h="676155">
                <a:moveTo>
                  <a:pt x="2644203" y="676155"/>
                </a:moveTo>
                <a:lnTo>
                  <a:pt x="0" y="676155"/>
                </a:lnTo>
                <a:lnTo>
                  <a:pt x="0" y="193176"/>
                </a:lnTo>
                <a:lnTo>
                  <a:pt x="1168131" y="193176"/>
                </a:lnTo>
                <a:lnTo>
                  <a:pt x="1322101" y="0"/>
                </a:lnTo>
                <a:lnTo>
                  <a:pt x="1476071" y="193176"/>
                </a:lnTo>
                <a:lnTo>
                  <a:pt x="2644203" y="1931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00AED5-A25E-31A5-666C-6613B8C64D3F}"/>
              </a:ext>
            </a:extLst>
          </p:cNvPr>
          <p:cNvSpPr txBox="1"/>
          <p:nvPr/>
        </p:nvSpPr>
        <p:spPr>
          <a:xfrm>
            <a:off x="511638" y="1401323"/>
            <a:ext cx="3404566" cy="2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4262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01.</a:t>
            </a:r>
            <a:r>
              <a:rPr lang="zh-CN" altLang="en-US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对研发圈选的</a:t>
            </a:r>
            <a:r>
              <a:rPr lang="en-US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14.7</a:t>
            </a:r>
            <a:r>
              <a:rPr lang="en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w</a:t>
            </a:r>
            <a:r>
              <a:rPr lang="zh-CN" altLang="en-US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商家进行分析</a:t>
            </a:r>
            <a:endParaRPr lang="zh-CN" altLang="zh-CN" sz="129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7014C5-2099-2DD9-95DF-4F3824833906}"/>
              </a:ext>
            </a:extLst>
          </p:cNvPr>
          <p:cNvSpPr txBox="1"/>
          <p:nvPr/>
        </p:nvSpPr>
        <p:spPr>
          <a:xfrm>
            <a:off x="4460034" y="1436767"/>
            <a:ext cx="3243104" cy="2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02.</a:t>
            </a:r>
            <a:r>
              <a:rPr lang="zh-CN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实验方案设计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2BD947-F214-11B9-808F-36AFC4C5893A}"/>
              </a:ext>
            </a:extLst>
          </p:cNvPr>
          <p:cNvSpPr txBox="1"/>
          <p:nvPr/>
        </p:nvSpPr>
        <p:spPr>
          <a:xfrm>
            <a:off x="8189712" y="1408428"/>
            <a:ext cx="3243105" cy="29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03.</a:t>
            </a:r>
            <a:r>
              <a:rPr lang="zh-CN" altLang="zh-CN" sz="129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确定监控指标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2ED316-B8F0-EEE6-B531-0CBCB4093ABA}"/>
              </a:ext>
            </a:extLst>
          </p:cNvPr>
          <p:cNvSpPr txBox="1"/>
          <p:nvPr/>
        </p:nvSpPr>
        <p:spPr>
          <a:xfrm>
            <a:off x="761616" y="2124756"/>
            <a:ext cx="2803649" cy="885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 defTabSz="842620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得到总体商家和分型商家画像。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marL="210655" indent="-210655" algn="just" defTabSz="842620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各分型共性特征。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marL="210655" indent="-210655" algn="just" defTabSz="842620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分型稳定性情况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291882-C003-809D-206F-3EAE56C9032F}"/>
              </a:ext>
            </a:extLst>
          </p:cNvPr>
          <p:cNvSpPr txBox="1"/>
          <p:nvPr/>
        </p:nvSpPr>
        <p:spPr>
          <a:xfrm>
            <a:off x="4661705" y="2109456"/>
            <a:ext cx="2670688" cy="1008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实验目标： 短期侧重核心过程指标提升（供给勤奋度），长期侧重结果指标提升（支付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GMV</a:t>
            </a:r>
            <a:r>
              <a:rPr lang="zh-CN" altLang="e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、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内循环消耗）。</a:t>
            </a:r>
          </a:p>
          <a:p>
            <a:pPr marL="210655" indent="-210655" algn="just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实验节奏：设定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AB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组和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AA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组两套实验组。</a:t>
            </a:r>
            <a:endParaRPr lang="zh-CN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987E58-C70E-CE5E-A788-31CC945FC9AF}"/>
              </a:ext>
            </a:extLst>
          </p:cNvPr>
          <p:cNvSpPr txBox="1"/>
          <p:nvPr/>
        </p:nvSpPr>
        <p:spPr>
          <a:xfrm>
            <a:off x="8373376" y="2078345"/>
            <a:ext cx="2670687" cy="1131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 eaLnBrk="0" fontAlgn="base" hangingPunct="0">
              <a:lnSpc>
                <a:spcPct val="150000"/>
              </a:lnSpc>
              <a:spcBef>
                <a:spcPts val="737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一阶段关注分型差异化勤奋度指标（直播型看开播时长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场次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场均上品、短视频型看挂车短视频数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人日均发布数、泛货架型看在架商品数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动销商品数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CTR/CVR</a:t>
            </a:r>
            <a:r>
              <a:rPr lang="zh-CN" altLang="e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），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二阶段关注支付</a:t>
            </a:r>
            <a:r>
              <a:rPr lang="en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GMV</a:t>
            </a:r>
            <a:endParaRPr lang="zh-CN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2BD425-6E11-30A2-210D-E9145A5C8E99}"/>
              </a:ext>
            </a:extLst>
          </p:cNvPr>
          <p:cNvSpPr/>
          <p:nvPr/>
        </p:nvSpPr>
        <p:spPr>
          <a:xfrm>
            <a:off x="366119" y="4015961"/>
            <a:ext cx="5549515" cy="20920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4FDCAD-2DA4-51B0-DFFB-E3F2CB37908A}"/>
              </a:ext>
            </a:extLst>
          </p:cNvPr>
          <p:cNvSpPr/>
          <p:nvPr/>
        </p:nvSpPr>
        <p:spPr>
          <a:xfrm>
            <a:off x="6018204" y="4029628"/>
            <a:ext cx="5506610" cy="20783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9B1713-AE8B-DA38-8D59-EB99680C5596}"/>
              </a:ext>
            </a:extLst>
          </p:cNvPr>
          <p:cNvSpPr txBox="1"/>
          <p:nvPr/>
        </p:nvSpPr>
        <p:spPr>
          <a:xfrm>
            <a:off x="761615" y="4116504"/>
            <a:ext cx="4769536" cy="4689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过程中遇到的困难：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0A0325-A053-DBD3-52D0-DBE6ABE63A54}"/>
              </a:ext>
            </a:extLst>
          </p:cNvPr>
          <p:cNvSpPr txBox="1"/>
          <p:nvPr/>
        </p:nvSpPr>
        <p:spPr>
          <a:xfrm>
            <a:off x="754942" y="4588984"/>
            <a:ext cx="4860235" cy="11439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实验期间大盘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下行，两组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都在跌，直接对比会把大盘趋势算进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</a:t>
            </a:r>
            <a:endParaRPr lang="en-US" altLang="zh-CN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GMV右偏：头部商家易带偏估计</a:t>
            </a:r>
            <a:endParaRPr lang="en-US" altLang="zh-CN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发现实验期间实验组有异常突起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4495A9-7545-2C04-40DC-43AAA6DCE5F9}"/>
              </a:ext>
            </a:extLst>
          </p:cNvPr>
          <p:cNvSpPr txBox="1"/>
          <p:nvPr/>
        </p:nvSpPr>
        <p:spPr>
          <a:xfrm>
            <a:off x="6096000" y="4119039"/>
            <a:ext cx="4764638" cy="4689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解决方案：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DB1DD73-ED2A-6F7F-10F2-0D456FF24CE4}"/>
              </a:ext>
            </a:extLst>
          </p:cNvPr>
          <p:cNvSpPr txBox="1"/>
          <p:nvPr/>
        </p:nvSpPr>
        <p:spPr>
          <a:xfrm>
            <a:off x="6081586" y="4524335"/>
            <a:ext cx="5277276" cy="13526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DID</a:t>
            </a:r>
            <a:r>
              <a:rPr lang="zh-CN" altLang="en-US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去计算实验组实验前后的差值减去对照组实验前后的差值</a:t>
            </a:r>
            <a:endParaRPr lang="en-US" altLang="zh-CN" sz="1200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500"/>
              </a:spcAft>
            </a:pPr>
            <a:r>
              <a:rPr lang="en-US" altLang="zh-CN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通过数据处理的方法剔除极端值并压缩右偏分布</a:t>
            </a:r>
            <a:endParaRPr lang="en-US" altLang="zh-CN" sz="1200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500"/>
              </a:spcAft>
            </a:pPr>
            <a:r>
              <a:rPr lang="en-US" altLang="zh-CN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1200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剥离受政策影响商家名单后得到纯净实验结果数据，并判断政策影响占比</a:t>
            </a:r>
          </a:p>
          <a:p>
            <a:pPr algn="just">
              <a:spcAft>
                <a:spcPts val="500"/>
              </a:spcAft>
            </a:pPr>
            <a:endParaRPr lang="zh-CN" altLang="zh-CN" sz="1000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500"/>
              </a:spcAft>
            </a:pP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186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50E8-82D7-E5E5-8CE0-70D07960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cell data - do not delete" hidden="1">
            <a:extLst>
              <a:ext uri="{FF2B5EF4-FFF2-40B4-BE49-F238E27FC236}">
                <a16:creationId xmlns:a16="http://schemas.microsoft.com/office/drawing/2014/main" id="{BBC44D84-7529-06C4-8DF2-FFD97FD919A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56692"/>
              </p:ext>
            </p:extLst>
          </p:nvPr>
        </p:nvGraphicFramePr>
        <p:xfrm>
          <a:off x="1589" y="27066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幻灯片" r:id="rId4" imgW="7772400" imgH="10058400" progId="TCLayout.ActiveDocument.1">
                  <p:embed/>
                </p:oleObj>
              </mc:Choice>
              <mc:Fallback>
                <p:oleObj name="thinkcell 幻灯片" r:id="rId4" imgW="7772400" imgH="10058400" progId="TCLayout.ActiveDocument.1">
                  <p:embed/>
                  <p:pic>
                    <p:nvPicPr>
                      <p:cNvPr id="10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BBC44D84-7529-06C4-8DF2-FFD97FD919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7066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CF5AA1E-0F34-16EE-518B-29845BAC37E4}"/>
              </a:ext>
            </a:extLst>
          </p:cNvPr>
          <p:cNvSpPr/>
          <p:nvPr/>
        </p:nvSpPr>
        <p:spPr>
          <a:xfrm>
            <a:off x="-2584198" y="-409691"/>
            <a:ext cx="16723360" cy="91541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44DA28-DCB3-609E-499C-EC1774CBBB8B}"/>
              </a:ext>
            </a:extLst>
          </p:cNvPr>
          <p:cNvSpPr txBox="1"/>
          <p:nvPr/>
        </p:nvSpPr>
        <p:spPr>
          <a:xfrm>
            <a:off x="733068" y="167888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灵顺项目｜实验结论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8D649F-D271-467D-DE73-1380E0D055A5}"/>
              </a:ext>
            </a:extLst>
          </p:cNvPr>
          <p:cNvCxnSpPr>
            <a:cxnSpLocks/>
          </p:cNvCxnSpPr>
          <p:nvPr/>
        </p:nvCxnSpPr>
        <p:spPr>
          <a:xfrm>
            <a:off x="905897" y="600634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041E5BCA-B0E6-3F2C-9283-971B0CE1B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884" y="1517410"/>
            <a:ext cx="11418162" cy="641173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69136952-0D4D-3B80-AE17-0A1C12DA9545}"/>
              </a:ext>
            </a:extLst>
          </p:cNvPr>
          <p:cNvSpPr txBox="1"/>
          <p:nvPr/>
        </p:nvSpPr>
        <p:spPr>
          <a:xfrm>
            <a:off x="905897" y="760354"/>
            <a:ext cx="10311861" cy="9583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有用：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组日均支付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对比基期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+37.96%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、比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组高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15.4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</a:t>
            </a:r>
            <a:r>
              <a:rPr lang="zh-CN" altLang="e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DID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显著）；勤奋度全面跑赢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组（开播主播数</a:t>
            </a:r>
            <a:r>
              <a:rPr lang="zh-CN" altLang="e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挂车短视频</a:t>
            </a:r>
            <a:r>
              <a:rPr lang="zh-CN" altLang="e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动销商品</a:t>
            </a:r>
            <a:r>
              <a:rPr lang="zh-CN" altLang="e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）；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分型看直播型和泛货架型显著，短视频型不显著</a:t>
            </a:r>
          </a:p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抗跌：大盘下行背景下小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渗透商家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仅下滑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4.7%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，比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L0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大盘（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-7.78%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）浅</a:t>
            </a:r>
            <a:r>
              <a:rPr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3.1</a:t>
            </a:r>
            <a:r>
              <a:rPr lang="en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</a:t>
            </a:r>
            <a:r>
              <a:rPr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532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BB3D-2B32-5C12-9D2D-C44A908C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形状 20">
            <a:extLst>
              <a:ext uri="{FF2B5EF4-FFF2-40B4-BE49-F238E27FC236}">
                <a16:creationId xmlns:a16="http://schemas.microsoft.com/office/drawing/2014/main" id="{F3CFB46B-3C39-FFDF-69C8-31F2A67D4991}"/>
              </a:ext>
            </a:extLst>
          </p:cNvPr>
          <p:cNvSpPr/>
          <p:nvPr/>
        </p:nvSpPr>
        <p:spPr>
          <a:xfrm>
            <a:off x="975778" y="4194390"/>
            <a:ext cx="10240442" cy="351103"/>
          </a:xfrm>
          <a:custGeom>
            <a:avLst/>
            <a:gdLst>
              <a:gd name="connsiteX0" fmla="*/ 10794768 w 11112462"/>
              <a:gd name="connsiteY0" fmla="*/ 0 h 381001"/>
              <a:gd name="connsiteX1" fmla="*/ 11112462 w 11112462"/>
              <a:gd name="connsiteY1" fmla="*/ 190501 h 381001"/>
              <a:gd name="connsiteX2" fmla="*/ 10794768 w 11112462"/>
              <a:gd name="connsiteY2" fmla="*/ 381001 h 381001"/>
              <a:gd name="connsiteX3" fmla="*/ 10794768 w 11112462"/>
              <a:gd name="connsiteY3" fmla="*/ 238670 h 381001"/>
              <a:gd name="connsiteX4" fmla="*/ 0 w 11112462"/>
              <a:gd name="connsiteY4" fmla="*/ 238670 h 381001"/>
              <a:gd name="connsiteX5" fmla="*/ 0 w 11112462"/>
              <a:gd name="connsiteY5" fmla="*/ 126399 h 381001"/>
              <a:gd name="connsiteX6" fmla="*/ 10794768 w 11112462"/>
              <a:gd name="connsiteY6" fmla="*/ 126399 h 381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12462" h="381001">
                <a:moveTo>
                  <a:pt x="10794768" y="0"/>
                </a:moveTo>
                <a:lnTo>
                  <a:pt x="11112462" y="190501"/>
                </a:lnTo>
                <a:lnTo>
                  <a:pt x="10794768" y="381001"/>
                </a:lnTo>
                <a:lnTo>
                  <a:pt x="10794768" y="238670"/>
                </a:lnTo>
                <a:lnTo>
                  <a:pt x="0" y="238670"/>
                </a:lnTo>
                <a:lnTo>
                  <a:pt x="0" y="126399"/>
                </a:lnTo>
                <a:lnTo>
                  <a:pt x="10794768" y="12639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3F38DA81-3366-D833-505B-0F2A92D07EBF}"/>
              </a:ext>
            </a:extLst>
          </p:cNvPr>
          <p:cNvCxnSpPr>
            <a:cxnSpLocks/>
          </p:cNvCxnSpPr>
          <p:nvPr/>
        </p:nvCxnSpPr>
        <p:spPr>
          <a:xfrm flipV="1">
            <a:off x="1182982" y="4483603"/>
            <a:ext cx="0" cy="12925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582F20B5-700F-69A7-E42B-D6CB6227AAA5}"/>
              </a:ext>
            </a:extLst>
          </p:cNvPr>
          <p:cNvCxnSpPr>
            <a:cxnSpLocks/>
          </p:cNvCxnSpPr>
          <p:nvPr/>
        </p:nvCxnSpPr>
        <p:spPr>
          <a:xfrm flipV="1">
            <a:off x="4673991" y="4483605"/>
            <a:ext cx="0" cy="1292532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A81D5D83-3801-0F34-F916-80370E0391CD}"/>
              </a:ext>
            </a:extLst>
          </p:cNvPr>
          <p:cNvSpPr/>
          <p:nvPr/>
        </p:nvSpPr>
        <p:spPr>
          <a:xfrm>
            <a:off x="996486" y="5776094"/>
            <a:ext cx="378476" cy="37847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29F2DF2-F28F-1743-B51A-A34F887F5630}"/>
              </a:ext>
            </a:extLst>
          </p:cNvPr>
          <p:cNvSpPr/>
          <p:nvPr/>
        </p:nvSpPr>
        <p:spPr>
          <a:xfrm>
            <a:off x="4490832" y="5776094"/>
            <a:ext cx="378476" cy="378476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D598205-E3CD-BEC4-A900-A1A184563841}"/>
              </a:ext>
            </a:extLst>
          </p:cNvPr>
          <p:cNvSpPr/>
          <p:nvPr/>
        </p:nvSpPr>
        <p:spPr>
          <a:xfrm>
            <a:off x="975779" y="1223976"/>
            <a:ext cx="2616089" cy="11470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4E25C6-913E-EE29-A7CE-D36C6F66E8B7}"/>
              </a:ext>
            </a:extLst>
          </p:cNvPr>
          <p:cNvSpPr txBox="1"/>
          <p:nvPr/>
        </p:nvSpPr>
        <p:spPr>
          <a:xfrm>
            <a:off x="896186" y="546942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思考｜做得好的商家长什么样子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84F82D4-B458-C5EE-495C-6F7D00FA97E8}"/>
              </a:ext>
            </a:extLst>
          </p:cNvPr>
          <p:cNvCxnSpPr>
            <a:cxnSpLocks/>
          </p:cNvCxnSpPr>
          <p:nvPr/>
        </p:nvCxnSpPr>
        <p:spPr>
          <a:xfrm>
            <a:off x="983955" y="979776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807DB9A6-E705-5951-1304-D1DDA92B1C83}"/>
              </a:ext>
            </a:extLst>
          </p:cNvPr>
          <p:cNvSpPr/>
          <p:nvPr/>
        </p:nvSpPr>
        <p:spPr>
          <a:xfrm>
            <a:off x="3608111" y="1223440"/>
            <a:ext cx="7624352" cy="11470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02CCA323-10ED-40F8-D795-A7DBFB3FFE7E}"/>
              </a:ext>
            </a:extLst>
          </p:cNvPr>
          <p:cNvSpPr/>
          <p:nvPr/>
        </p:nvSpPr>
        <p:spPr>
          <a:xfrm>
            <a:off x="7574526" y="1369406"/>
            <a:ext cx="1628058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1B7E2467-C8CA-8603-52B1-F10A9B71894D}"/>
              </a:ext>
            </a:extLst>
          </p:cNvPr>
          <p:cNvSpPr/>
          <p:nvPr/>
        </p:nvSpPr>
        <p:spPr>
          <a:xfrm>
            <a:off x="9371853" y="1375844"/>
            <a:ext cx="1628058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16D54982-A17C-9C10-9AF0-CAA6B32EFA16}"/>
              </a:ext>
            </a:extLst>
          </p:cNvPr>
          <p:cNvSpPr/>
          <p:nvPr/>
        </p:nvSpPr>
        <p:spPr>
          <a:xfrm>
            <a:off x="3745439" y="1358554"/>
            <a:ext cx="1628058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1AD7DEEF-178B-6E65-ABDD-846A9DF5BA70}"/>
              </a:ext>
            </a:extLst>
          </p:cNvPr>
          <p:cNvSpPr/>
          <p:nvPr/>
        </p:nvSpPr>
        <p:spPr>
          <a:xfrm>
            <a:off x="5533235" y="1375845"/>
            <a:ext cx="1887053" cy="8487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EC1876FA-23A3-AA29-948F-E75145809B33}"/>
              </a:ext>
            </a:extLst>
          </p:cNvPr>
          <p:cNvCxnSpPr>
            <a:cxnSpLocks/>
          </p:cNvCxnSpPr>
          <p:nvPr/>
        </p:nvCxnSpPr>
        <p:spPr>
          <a:xfrm flipV="1">
            <a:off x="2933140" y="2929339"/>
            <a:ext cx="0" cy="1292532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F22E3EF8-CCF1-CB8C-967C-0A5C934F9D10}"/>
              </a:ext>
            </a:extLst>
          </p:cNvPr>
          <p:cNvCxnSpPr>
            <a:cxnSpLocks/>
          </p:cNvCxnSpPr>
          <p:nvPr/>
        </p:nvCxnSpPr>
        <p:spPr>
          <a:xfrm flipV="1">
            <a:off x="6429134" y="2929339"/>
            <a:ext cx="0" cy="1292532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6D1A4449-FE45-0EAB-68AF-28D6569574DE}"/>
              </a:ext>
            </a:extLst>
          </p:cNvPr>
          <p:cNvSpPr/>
          <p:nvPr/>
        </p:nvSpPr>
        <p:spPr>
          <a:xfrm>
            <a:off x="2746044" y="2550906"/>
            <a:ext cx="378476" cy="378476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8ED9AE01-3FF8-8342-A3E9-6F1C14BD8553}"/>
              </a:ext>
            </a:extLst>
          </p:cNvPr>
          <p:cNvSpPr/>
          <p:nvPr/>
        </p:nvSpPr>
        <p:spPr>
          <a:xfrm>
            <a:off x="6245697" y="2550905"/>
            <a:ext cx="378476" cy="378476"/>
          </a:xfrm>
          <a:prstGeom prst="ellipse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4A5136D0-2BF3-8646-DB23-7BFBAA1C521D}"/>
              </a:ext>
            </a:extLst>
          </p:cNvPr>
          <p:cNvCxnSpPr>
            <a:cxnSpLocks/>
          </p:cNvCxnSpPr>
          <p:nvPr/>
        </p:nvCxnSpPr>
        <p:spPr>
          <a:xfrm flipV="1">
            <a:off x="8179278" y="4483562"/>
            <a:ext cx="0" cy="1292532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BAB264DB-EEFF-429A-14CF-AE0DD2C0028A}"/>
              </a:ext>
            </a:extLst>
          </p:cNvPr>
          <p:cNvSpPr/>
          <p:nvPr/>
        </p:nvSpPr>
        <p:spPr>
          <a:xfrm>
            <a:off x="7996119" y="5776051"/>
            <a:ext cx="378476" cy="37847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CD8C23-8811-77C2-5A6F-3ED931CBDD2E}"/>
              </a:ext>
            </a:extLst>
          </p:cNvPr>
          <p:cNvSpPr txBox="1"/>
          <p:nvPr/>
        </p:nvSpPr>
        <p:spPr>
          <a:xfrm>
            <a:off x="1217548" y="1553582"/>
            <a:ext cx="2022408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12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四个方面分析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2D40A8-CBBF-0003-1F78-185C35EFADB9}"/>
              </a:ext>
            </a:extLst>
          </p:cNvPr>
          <p:cNvSpPr txBox="1"/>
          <p:nvPr/>
        </p:nvSpPr>
        <p:spPr>
          <a:xfrm>
            <a:off x="1444103" y="5795115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59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01.</a:t>
            </a:r>
            <a:r>
              <a:rPr lang="zh-CN" altLang="en-US" sz="1659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泛货架型普适性最强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F3E5A8-76A7-8A9C-D38F-257CDBC5E343}"/>
              </a:ext>
            </a:extLst>
          </p:cNvPr>
          <p:cNvSpPr txBox="1"/>
          <p:nvPr/>
        </p:nvSpPr>
        <p:spPr>
          <a:xfrm>
            <a:off x="1320588" y="4705619"/>
            <a:ext cx="3170245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922"/>
              </a:spcBef>
            </a:pP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基期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57%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商家无发短行为、日动销≤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个，</a:t>
            </a:r>
            <a:r>
              <a:rPr lang="en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帮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1.3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万商家从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到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建立挂车行为（日发短≥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条占比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11.4%→84.3%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），勤奋度提升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94.2%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、</a:t>
            </a:r>
            <a:r>
              <a:rPr lang="en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GMV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正增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46%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E1BC515-ABB8-8B88-6D0E-9227EABF6497}"/>
              </a:ext>
            </a:extLst>
          </p:cNvPr>
          <p:cNvSpPr txBox="1"/>
          <p:nvPr/>
        </p:nvSpPr>
        <p:spPr>
          <a:xfrm>
            <a:off x="4849175" y="5791459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59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02.</a:t>
            </a:r>
            <a:r>
              <a:rPr lang="zh-CN" altLang="en-US" sz="1659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直播型适配有基础的商家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6258258-B026-7251-CE1F-6F086C84A286}"/>
              </a:ext>
            </a:extLst>
          </p:cNvPr>
          <p:cNvSpPr txBox="1"/>
          <p:nvPr/>
        </p:nvSpPr>
        <p:spPr>
          <a:xfrm>
            <a:off x="4966016" y="4771090"/>
            <a:ext cx="2725350" cy="518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22"/>
              </a:spcBef>
            </a:pPr>
            <a:r>
              <a:rPr lang="zh-CN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渗透商家80%基期日开播超2小时、双工具混合使用87%，勤奋度提升80.6%但GMV正增46%，GMV要靠后链路曝光突破</a:t>
            </a:r>
            <a:endParaRPr lang="zh-CN" altLang="en-US" sz="922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622B36B-10AF-3BA7-7F79-075B047A69F1}"/>
              </a:ext>
            </a:extLst>
          </p:cNvPr>
          <p:cNvSpPr txBox="1"/>
          <p:nvPr/>
        </p:nvSpPr>
        <p:spPr>
          <a:xfrm>
            <a:off x="8434240" y="5795115"/>
            <a:ext cx="2807128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59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03.</a:t>
            </a:r>
            <a:r>
              <a:rPr lang="zh-CN" altLang="en-US" sz="1659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短视频型部分适配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C4329D-8D59-E955-645A-351DE6F805CF}"/>
              </a:ext>
            </a:extLst>
          </p:cNvPr>
          <p:cNvSpPr txBox="1"/>
          <p:nvPr/>
        </p:nvSpPr>
        <p:spPr>
          <a:xfrm>
            <a:off x="8311697" y="4705619"/>
            <a:ext cx="2562120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922"/>
              </a:spcBef>
            </a:pP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渗透商家基期发短基础本来就好（日发短</a:t>
            </a:r>
            <a:r>
              <a:rPr lang="en-US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&gt;3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条占</a:t>
            </a:r>
            <a:r>
              <a:rPr lang="en-US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49.5% </a:t>
            </a:r>
            <a:r>
              <a:rPr lang="en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vs 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未渗透</a:t>
            </a:r>
            <a:r>
              <a:rPr lang="en-US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26%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），</a:t>
            </a:r>
            <a:r>
              <a:rPr lang="en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是在原经营上做补充，瓶颈在工具渗透率和</a:t>
            </a:r>
            <a:r>
              <a:rPr lang="en-US" altLang="zh-CN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模板质量。</a:t>
            </a:r>
            <a:endParaRPr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40CB31-D8E6-0182-3128-926FEECDBAA0}"/>
              </a:ext>
            </a:extLst>
          </p:cNvPr>
          <p:cNvSpPr txBox="1"/>
          <p:nvPr/>
        </p:nvSpPr>
        <p:spPr>
          <a:xfrm>
            <a:off x="3106621" y="2562831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59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共性发现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77030CC-9CF5-13B1-4A5F-1E57AB0832BC}"/>
              </a:ext>
            </a:extLst>
          </p:cNvPr>
          <p:cNvSpPr txBox="1"/>
          <p:nvPr/>
        </p:nvSpPr>
        <p:spPr>
          <a:xfrm>
            <a:off x="3106621" y="3035939"/>
            <a:ext cx="2829390" cy="65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922"/>
              </a:spcBef>
            </a:pP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做得好的商家基期就有经营动作和意愿，</a:t>
            </a:r>
            <a:r>
              <a:rPr lang="en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放大的是已有的经营惯性，而不是凭空造出好商家；真正的从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0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到</a:t>
            </a:r>
            <a:r>
              <a:rPr lang="en-US" altLang="zh-CN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只发生在泛货架型这种供给薄但门槛低的场景</a:t>
            </a:r>
            <a:endParaRPr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C1F7A34-C507-0541-9596-6FE4A292D304}"/>
              </a:ext>
            </a:extLst>
          </p:cNvPr>
          <p:cNvSpPr txBox="1"/>
          <p:nvPr/>
        </p:nvSpPr>
        <p:spPr>
          <a:xfrm>
            <a:off x="6599113" y="2581681"/>
            <a:ext cx="3109930" cy="34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59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最终策略建议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DFD19B6-50CD-27FC-5EDD-947398275BA0}"/>
              </a:ext>
            </a:extLst>
          </p:cNvPr>
          <p:cNvSpPr txBox="1"/>
          <p:nvPr/>
        </p:nvSpPr>
        <p:spPr>
          <a:xfrm>
            <a:off x="6697733" y="3053703"/>
            <a:ext cx="3919462" cy="12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655" indent="-210655" algn="just">
              <a:lnSpc>
                <a:spcPct val="150000"/>
              </a:lnSpc>
              <a:spcBef>
                <a:spcPts val="922"/>
              </a:spcBef>
              <a:buFont typeface="+mj-ea"/>
              <a:buAutoNum type="circleNumDbPlain"/>
            </a:pP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泛货架型普适性最强优先规模化推全；直播型优先渗透有开播基础的存商；短视频型配合内容质量优化做渗透。</a:t>
            </a:r>
            <a:endParaRPr lang="en-US" altLang="zh-CN" sz="922" b="1" dirty="0">
              <a:solidFill>
                <a:schemeClr val="accent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marL="210655" indent="-210655" algn="just">
              <a:lnSpc>
                <a:spcPct val="150000"/>
              </a:lnSpc>
              <a:spcBef>
                <a:spcPts val="922"/>
              </a:spcBef>
              <a:buFont typeface="+mj-ea"/>
              <a:buAutoNum type="circleNumDbPlain"/>
            </a:pP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推动的进展：分型结论直接输入</a:t>
            </a:r>
            <a:r>
              <a:rPr lang="en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H2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推全方案，推全按分型分层推进（泛货架优先），</a:t>
            </a:r>
            <a:r>
              <a:rPr lang="en-US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提转化</a:t>
            </a:r>
            <a:r>
              <a:rPr lang="en-US" altLang="zh-CN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"</a:t>
            </a:r>
            <a:r>
              <a:rPr lang="zh-CN" altLang="en-US" sz="922" b="1" dirty="0">
                <a:solidFill>
                  <a:schemeClr val="accent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被列为下一阶段核心策略，监控指标按分型差异化设定。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22C3951-A360-1E2E-DD2F-24A1638F9524}"/>
              </a:ext>
            </a:extLst>
          </p:cNvPr>
          <p:cNvSpPr txBox="1"/>
          <p:nvPr/>
        </p:nvSpPr>
        <p:spPr>
          <a:xfrm>
            <a:off x="3899674" y="1429258"/>
            <a:ext cx="1319592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基础画像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3897B3B-5D68-27D5-F4F1-5BE83B9558A9}"/>
              </a:ext>
            </a:extLst>
          </p:cNvPr>
          <p:cNvSpPr txBox="1"/>
          <p:nvPr/>
        </p:nvSpPr>
        <p:spPr>
          <a:xfrm>
            <a:off x="5533246" y="1446548"/>
            <a:ext cx="1887055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经营行为变化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7F099C0-7DD8-D6EA-8AB6-22C1EDE0C5DA}"/>
              </a:ext>
            </a:extLst>
          </p:cNvPr>
          <p:cNvSpPr txBox="1"/>
          <p:nvPr/>
        </p:nvSpPr>
        <p:spPr>
          <a:xfrm>
            <a:off x="7728761" y="1446548"/>
            <a:ext cx="1319592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工具使用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997BC0A-506D-4C43-0AF2-7D39D5AC85AB}"/>
              </a:ext>
            </a:extLst>
          </p:cNvPr>
          <p:cNvSpPr txBox="1"/>
          <p:nvPr/>
        </p:nvSpPr>
        <p:spPr>
          <a:xfrm>
            <a:off x="9526092" y="1446548"/>
            <a:ext cx="1319592" cy="432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结果传导</a:t>
            </a:r>
          </a:p>
        </p:txBody>
      </p:sp>
      <p:sp>
        <p:nvSpPr>
          <p:cNvPr id="55" name="同侧圆角矩形 54">
            <a:extLst>
              <a:ext uri="{FF2B5EF4-FFF2-40B4-BE49-F238E27FC236}">
                <a16:creationId xmlns:a16="http://schemas.microsoft.com/office/drawing/2014/main" id="{CB2BFBDB-43AA-05E7-9A85-3306C77E5F0F}"/>
              </a:ext>
            </a:extLst>
          </p:cNvPr>
          <p:cNvSpPr/>
          <p:nvPr/>
        </p:nvSpPr>
        <p:spPr>
          <a:xfrm rot="10800000">
            <a:off x="3745441" y="1900263"/>
            <a:ext cx="1628056" cy="310823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6" name="同侧圆角矩形 55">
            <a:extLst>
              <a:ext uri="{FF2B5EF4-FFF2-40B4-BE49-F238E27FC236}">
                <a16:creationId xmlns:a16="http://schemas.microsoft.com/office/drawing/2014/main" id="{DCE0A28B-3F28-42D0-DECC-8520DA5B13D3}"/>
              </a:ext>
            </a:extLst>
          </p:cNvPr>
          <p:cNvSpPr/>
          <p:nvPr/>
        </p:nvSpPr>
        <p:spPr>
          <a:xfrm rot="10800000">
            <a:off x="5533221" y="1920680"/>
            <a:ext cx="1887066" cy="29745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7" name="同侧圆角矩形 56">
            <a:extLst>
              <a:ext uri="{FF2B5EF4-FFF2-40B4-BE49-F238E27FC236}">
                <a16:creationId xmlns:a16="http://schemas.microsoft.com/office/drawing/2014/main" id="{555E425A-2201-BBB7-D735-7256E2BDDB90}"/>
              </a:ext>
            </a:extLst>
          </p:cNvPr>
          <p:cNvSpPr/>
          <p:nvPr/>
        </p:nvSpPr>
        <p:spPr>
          <a:xfrm rot="10800000">
            <a:off x="7574527" y="1923810"/>
            <a:ext cx="1628056" cy="3108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8" name="同侧圆角矩形 57">
            <a:extLst>
              <a:ext uri="{FF2B5EF4-FFF2-40B4-BE49-F238E27FC236}">
                <a16:creationId xmlns:a16="http://schemas.microsoft.com/office/drawing/2014/main" id="{651AEE9E-C516-7F95-FF5F-ED81811B2888}"/>
              </a:ext>
            </a:extLst>
          </p:cNvPr>
          <p:cNvSpPr/>
          <p:nvPr/>
        </p:nvSpPr>
        <p:spPr>
          <a:xfrm rot="10800000">
            <a:off x="9371853" y="1926939"/>
            <a:ext cx="1628056" cy="3108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1124322-FD04-9931-C357-2CC7076623B6}"/>
              </a:ext>
            </a:extLst>
          </p:cNvPr>
          <p:cNvSpPr txBox="1"/>
          <p:nvPr/>
        </p:nvSpPr>
        <p:spPr>
          <a:xfrm>
            <a:off x="3723346" y="1925286"/>
            <a:ext cx="1672254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行业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粉丝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/</a:t>
            </a:r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经营时长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BD26B56-C5E9-D9BB-9D18-EDDFB3A5E90C}"/>
              </a:ext>
            </a:extLst>
          </p:cNvPr>
          <p:cNvSpPr txBox="1"/>
          <p:nvPr/>
        </p:nvSpPr>
        <p:spPr>
          <a:xfrm>
            <a:off x="5889913" y="1942576"/>
            <a:ext cx="1173719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实验期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vs</a:t>
            </a:r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基期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5D3951A-0A9C-0D08-DB11-96D514F1DF19}"/>
              </a:ext>
            </a:extLst>
          </p:cNvPr>
          <p:cNvSpPr txBox="1"/>
          <p:nvPr/>
        </p:nvSpPr>
        <p:spPr>
          <a:xfrm>
            <a:off x="7801697" y="1942576"/>
            <a:ext cx="1173719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单工具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vs</a:t>
            </a:r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混合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E995F2A-8FB9-32FE-46A1-E2CAE923ACDD}"/>
              </a:ext>
            </a:extLst>
          </p:cNvPr>
          <p:cNvSpPr txBox="1"/>
          <p:nvPr/>
        </p:nvSpPr>
        <p:spPr>
          <a:xfrm>
            <a:off x="9375411" y="1942576"/>
            <a:ext cx="1620957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勤奋度提升</a:t>
            </a:r>
            <a:r>
              <a:rPr kumimoji="1" lang="en-US" altLang="zh-CN" sz="129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vs GMV</a:t>
            </a:r>
            <a:endParaRPr kumimoji="1" lang="zh-CN" altLang="en-US" sz="129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" name="Фигура">
            <a:extLst>
              <a:ext uri="{FF2B5EF4-FFF2-40B4-BE49-F238E27FC236}">
                <a16:creationId xmlns:a16="http://schemas.microsoft.com/office/drawing/2014/main" id="{48A8ECE9-EE3B-78B5-D5AB-5B67E96815AF}"/>
              </a:ext>
            </a:extLst>
          </p:cNvPr>
          <p:cNvSpPr/>
          <p:nvPr/>
        </p:nvSpPr>
        <p:spPr>
          <a:xfrm>
            <a:off x="1071674" y="5851266"/>
            <a:ext cx="228098" cy="228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77" h="20595" extrusionOk="0">
                <a:moveTo>
                  <a:pt x="10189" y="0"/>
                </a:moveTo>
                <a:cubicBezTo>
                  <a:pt x="7581" y="0"/>
                  <a:pt x="4974" y="1006"/>
                  <a:pt x="2984" y="3016"/>
                </a:cubicBezTo>
                <a:cubicBezTo>
                  <a:pt x="251" y="5779"/>
                  <a:pt x="-605" y="9719"/>
                  <a:pt x="417" y="13220"/>
                </a:cubicBezTo>
                <a:cubicBezTo>
                  <a:pt x="485" y="13493"/>
                  <a:pt x="742" y="13675"/>
                  <a:pt x="1019" y="13644"/>
                </a:cubicBezTo>
                <a:cubicBezTo>
                  <a:pt x="1434" y="13599"/>
                  <a:pt x="1678" y="13150"/>
                  <a:pt x="1492" y="12772"/>
                </a:cubicBezTo>
                <a:cubicBezTo>
                  <a:pt x="639" y="9697"/>
                  <a:pt x="1407" y="6260"/>
                  <a:pt x="3801" y="3841"/>
                </a:cubicBezTo>
                <a:cubicBezTo>
                  <a:pt x="5565" y="2058"/>
                  <a:pt x="7877" y="1167"/>
                  <a:pt x="10189" y="1167"/>
                </a:cubicBezTo>
                <a:cubicBezTo>
                  <a:pt x="12501" y="1167"/>
                  <a:pt x="14813" y="2058"/>
                  <a:pt x="16577" y="3841"/>
                </a:cubicBezTo>
                <a:cubicBezTo>
                  <a:pt x="16895" y="4162"/>
                  <a:pt x="17180" y="4503"/>
                  <a:pt x="17440" y="4856"/>
                </a:cubicBezTo>
                <a:lnTo>
                  <a:pt x="16186" y="4856"/>
                </a:lnTo>
                <a:cubicBezTo>
                  <a:pt x="15862" y="4856"/>
                  <a:pt x="15599" y="5122"/>
                  <a:pt x="15599" y="5449"/>
                </a:cubicBezTo>
                <a:cubicBezTo>
                  <a:pt x="15599" y="5777"/>
                  <a:pt x="15862" y="6041"/>
                  <a:pt x="16186" y="6041"/>
                </a:cubicBezTo>
                <a:lnTo>
                  <a:pt x="18598" y="6041"/>
                </a:lnTo>
                <a:cubicBezTo>
                  <a:pt x="18921" y="6041"/>
                  <a:pt x="19185" y="5777"/>
                  <a:pt x="19185" y="5449"/>
                </a:cubicBezTo>
                <a:cubicBezTo>
                  <a:pt x="19185" y="5446"/>
                  <a:pt x="19183" y="5444"/>
                  <a:pt x="19183" y="5441"/>
                </a:cubicBezTo>
                <a:cubicBezTo>
                  <a:pt x="19183" y="5438"/>
                  <a:pt x="19185" y="5435"/>
                  <a:pt x="19185" y="5432"/>
                </a:cubicBezTo>
                <a:lnTo>
                  <a:pt x="19185" y="2995"/>
                </a:lnTo>
                <a:cubicBezTo>
                  <a:pt x="19185" y="2668"/>
                  <a:pt x="18921" y="2402"/>
                  <a:pt x="18598" y="2402"/>
                </a:cubicBezTo>
                <a:cubicBezTo>
                  <a:pt x="18274" y="2402"/>
                  <a:pt x="18012" y="2668"/>
                  <a:pt x="18012" y="2995"/>
                </a:cubicBezTo>
                <a:lnTo>
                  <a:pt x="18012" y="3708"/>
                </a:lnTo>
                <a:cubicBezTo>
                  <a:pt x="17817" y="3471"/>
                  <a:pt x="17614" y="3238"/>
                  <a:pt x="17394" y="3016"/>
                </a:cubicBezTo>
                <a:cubicBezTo>
                  <a:pt x="15404" y="1006"/>
                  <a:pt x="12797" y="0"/>
                  <a:pt x="10189" y="0"/>
                </a:cubicBezTo>
                <a:close/>
                <a:moveTo>
                  <a:pt x="9590" y="3669"/>
                </a:moveTo>
                <a:cubicBezTo>
                  <a:pt x="8295" y="3787"/>
                  <a:pt x="7031" y="4294"/>
                  <a:pt x="5975" y="5184"/>
                </a:cubicBezTo>
                <a:lnTo>
                  <a:pt x="7228" y="6449"/>
                </a:lnTo>
                <a:cubicBezTo>
                  <a:pt x="7228" y="6449"/>
                  <a:pt x="7228" y="6450"/>
                  <a:pt x="7230" y="6452"/>
                </a:cubicBezTo>
                <a:cubicBezTo>
                  <a:pt x="7462" y="6688"/>
                  <a:pt x="7462" y="7068"/>
                  <a:pt x="7230" y="7303"/>
                </a:cubicBezTo>
                <a:cubicBezTo>
                  <a:pt x="7228" y="7306"/>
                  <a:pt x="7228" y="7306"/>
                  <a:pt x="7228" y="7306"/>
                </a:cubicBezTo>
                <a:cubicBezTo>
                  <a:pt x="7228" y="7306"/>
                  <a:pt x="7226" y="7308"/>
                  <a:pt x="7224" y="7310"/>
                </a:cubicBezTo>
                <a:cubicBezTo>
                  <a:pt x="6991" y="7544"/>
                  <a:pt x="6615" y="7544"/>
                  <a:pt x="6382" y="7310"/>
                </a:cubicBezTo>
                <a:cubicBezTo>
                  <a:pt x="6379" y="7308"/>
                  <a:pt x="6379" y="7306"/>
                  <a:pt x="6379" y="7306"/>
                </a:cubicBezTo>
                <a:lnTo>
                  <a:pt x="5127" y="6040"/>
                </a:lnTo>
                <a:cubicBezTo>
                  <a:pt x="4240" y="7114"/>
                  <a:pt x="3741" y="8403"/>
                  <a:pt x="3629" y="9720"/>
                </a:cubicBezTo>
                <a:lnTo>
                  <a:pt x="5403" y="9720"/>
                </a:lnTo>
                <a:cubicBezTo>
                  <a:pt x="5403" y="9720"/>
                  <a:pt x="5404" y="9720"/>
                  <a:pt x="5407" y="9720"/>
                </a:cubicBezTo>
                <a:cubicBezTo>
                  <a:pt x="5736" y="9721"/>
                  <a:pt x="6002" y="9990"/>
                  <a:pt x="6003" y="10322"/>
                </a:cubicBezTo>
                <a:cubicBezTo>
                  <a:pt x="6003" y="10325"/>
                  <a:pt x="6003" y="10326"/>
                  <a:pt x="6003" y="10326"/>
                </a:cubicBezTo>
                <a:cubicBezTo>
                  <a:pt x="6003" y="10326"/>
                  <a:pt x="6003" y="10327"/>
                  <a:pt x="6003" y="10330"/>
                </a:cubicBezTo>
                <a:cubicBezTo>
                  <a:pt x="6002" y="10662"/>
                  <a:pt x="5736" y="10931"/>
                  <a:pt x="5407" y="10932"/>
                </a:cubicBezTo>
                <a:cubicBezTo>
                  <a:pt x="5404" y="10932"/>
                  <a:pt x="5403" y="10932"/>
                  <a:pt x="5403" y="10932"/>
                </a:cubicBezTo>
                <a:lnTo>
                  <a:pt x="3631" y="10932"/>
                </a:lnTo>
                <a:cubicBezTo>
                  <a:pt x="3754" y="12236"/>
                  <a:pt x="4259" y="13508"/>
                  <a:pt x="5140" y="14570"/>
                </a:cubicBezTo>
                <a:lnTo>
                  <a:pt x="6379" y="13318"/>
                </a:lnTo>
                <a:cubicBezTo>
                  <a:pt x="6379" y="13318"/>
                  <a:pt x="6379" y="13318"/>
                  <a:pt x="6382" y="13316"/>
                </a:cubicBezTo>
                <a:cubicBezTo>
                  <a:pt x="6498" y="13199"/>
                  <a:pt x="6650" y="13141"/>
                  <a:pt x="6803" y="13141"/>
                </a:cubicBezTo>
                <a:cubicBezTo>
                  <a:pt x="6955" y="13141"/>
                  <a:pt x="7107" y="13199"/>
                  <a:pt x="7224" y="13316"/>
                </a:cubicBezTo>
                <a:cubicBezTo>
                  <a:pt x="7226" y="13318"/>
                  <a:pt x="7228" y="13318"/>
                  <a:pt x="7228" y="13318"/>
                </a:cubicBezTo>
                <a:cubicBezTo>
                  <a:pt x="7228" y="13318"/>
                  <a:pt x="7228" y="13319"/>
                  <a:pt x="7230" y="13321"/>
                </a:cubicBezTo>
                <a:cubicBezTo>
                  <a:pt x="7462" y="13556"/>
                  <a:pt x="7462" y="13938"/>
                  <a:pt x="7230" y="14173"/>
                </a:cubicBezTo>
                <a:cubicBezTo>
                  <a:pt x="7228" y="14176"/>
                  <a:pt x="7228" y="14176"/>
                  <a:pt x="7228" y="14176"/>
                </a:cubicBezTo>
                <a:lnTo>
                  <a:pt x="5992" y="15425"/>
                </a:lnTo>
                <a:cubicBezTo>
                  <a:pt x="7044" y="16307"/>
                  <a:pt x="8302" y="16807"/>
                  <a:pt x="9590" y="16925"/>
                </a:cubicBezTo>
                <a:lnTo>
                  <a:pt x="9590" y="15152"/>
                </a:lnTo>
                <a:cubicBezTo>
                  <a:pt x="9590" y="15152"/>
                  <a:pt x="9589" y="15151"/>
                  <a:pt x="9590" y="15148"/>
                </a:cubicBezTo>
                <a:cubicBezTo>
                  <a:pt x="9591" y="14816"/>
                  <a:pt x="9856" y="14547"/>
                  <a:pt x="10185" y="14546"/>
                </a:cubicBezTo>
                <a:cubicBezTo>
                  <a:pt x="10188" y="14546"/>
                  <a:pt x="10189" y="14546"/>
                  <a:pt x="10189" y="14546"/>
                </a:cubicBezTo>
                <a:cubicBezTo>
                  <a:pt x="10189" y="14546"/>
                  <a:pt x="10190" y="14546"/>
                  <a:pt x="10193" y="14546"/>
                </a:cubicBezTo>
                <a:cubicBezTo>
                  <a:pt x="10521" y="14547"/>
                  <a:pt x="10787" y="14816"/>
                  <a:pt x="10788" y="15148"/>
                </a:cubicBezTo>
                <a:cubicBezTo>
                  <a:pt x="10789" y="15151"/>
                  <a:pt x="10788" y="15152"/>
                  <a:pt x="10788" y="15152"/>
                </a:cubicBezTo>
                <a:lnTo>
                  <a:pt x="10788" y="16925"/>
                </a:lnTo>
                <a:cubicBezTo>
                  <a:pt x="12076" y="16807"/>
                  <a:pt x="13334" y="16307"/>
                  <a:pt x="14386" y="15425"/>
                </a:cubicBezTo>
                <a:lnTo>
                  <a:pt x="13124" y="14149"/>
                </a:lnTo>
                <a:cubicBezTo>
                  <a:pt x="13124" y="14149"/>
                  <a:pt x="13123" y="14148"/>
                  <a:pt x="13121" y="14146"/>
                </a:cubicBezTo>
                <a:cubicBezTo>
                  <a:pt x="12890" y="13910"/>
                  <a:pt x="12890" y="13530"/>
                  <a:pt x="13121" y="13294"/>
                </a:cubicBezTo>
                <a:cubicBezTo>
                  <a:pt x="13123" y="13292"/>
                  <a:pt x="13124" y="13292"/>
                  <a:pt x="13124" y="13292"/>
                </a:cubicBezTo>
                <a:cubicBezTo>
                  <a:pt x="13124" y="13292"/>
                  <a:pt x="13124" y="13291"/>
                  <a:pt x="13126" y="13289"/>
                </a:cubicBezTo>
                <a:cubicBezTo>
                  <a:pt x="13243" y="13172"/>
                  <a:pt x="13395" y="13113"/>
                  <a:pt x="13548" y="13113"/>
                </a:cubicBezTo>
                <a:cubicBezTo>
                  <a:pt x="13700" y="13113"/>
                  <a:pt x="13852" y="13172"/>
                  <a:pt x="13969" y="13289"/>
                </a:cubicBezTo>
                <a:cubicBezTo>
                  <a:pt x="13971" y="13291"/>
                  <a:pt x="13973" y="13292"/>
                  <a:pt x="13973" y="13292"/>
                </a:cubicBezTo>
                <a:lnTo>
                  <a:pt x="15238" y="14570"/>
                </a:lnTo>
                <a:cubicBezTo>
                  <a:pt x="16119" y="13508"/>
                  <a:pt x="16624" y="12236"/>
                  <a:pt x="16747" y="10932"/>
                </a:cubicBezTo>
                <a:lnTo>
                  <a:pt x="14956" y="10932"/>
                </a:lnTo>
                <a:cubicBezTo>
                  <a:pt x="14956" y="10932"/>
                  <a:pt x="14954" y="10932"/>
                  <a:pt x="14951" y="10932"/>
                </a:cubicBezTo>
                <a:cubicBezTo>
                  <a:pt x="14622" y="10931"/>
                  <a:pt x="14356" y="10662"/>
                  <a:pt x="14355" y="10330"/>
                </a:cubicBezTo>
                <a:cubicBezTo>
                  <a:pt x="14355" y="10327"/>
                  <a:pt x="14355" y="10326"/>
                  <a:pt x="14355" y="10326"/>
                </a:cubicBezTo>
                <a:cubicBezTo>
                  <a:pt x="14355" y="10326"/>
                  <a:pt x="14355" y="10325"/>
                  <a:pt x="14355" y="10322"/>
                </a:cubicBezTo>
                <a:cubicBezTo>
                  <a:pt x="14356" y="9990"/>
                  <a:pt x="14622" y="9721"/>
                  <a:pt x="14951" y="9720"/>
                </a:cubicBezTo>
                <a:cubicBezTo>
                  <a:pt x="14954" y="9720"/>
                  <a:pt x="14956" y="9720"/>
                  <a:pt x="14956" y="9720"/>
                </a:cubicBezTo>
                <a:lnTo>
                  <a:pt x="16749" y="9720"/>
                </a:lnTo>
                <a:cubicBezTo>
                  <a:pt x="16637" y="8409"/>
                  <a:pt x="16142" y="7126"/>
                  <a:pt x="15264" y="6055"/>
                </a:cubicBezTo>
                <a:lnTo>
                  <a:pt x="13999" y="7334"/>
                </a:lnTo>
                <a:cubicBezTo>
                  <a:pt x="13999" y="7334"/>
                  <a:pt x="13999" y="7334"/>
                  <a:pt x="13996" y="7336"/>
                </a:cubicBezTo>
                <a:cubicBezTo>
                  <a:pt x="13763" y="7570"/>
                  <a:pt x="13386" y="7570"/>
                  <a:pt x="13153" y="7336"/>
                </a:cubicBezTo>
                <a:cubicBezTo>
                  <a:pt x="13150" y="7334"/>
                  <a:pt x="13150" y="7334"/>
                  <a:pt x="13150" y="7334"/>
                </a:cubicBezTo>
                <a:cubicBezTo>
                  <a:pt x="13150" y="7334"/>
                  <a:pt x="13150" y="7333"/>
                  <a:pt x="13148" y="7331"/>
                </a:cubicBezTo>
                <a:cubicBezTo>
                  <a:pt x="12916" y="7095"/>
                  <a:pt x="12916" y="6714"/>
                  <a:pt x="13148" y="6478"/>
                </a:cubicBezTo>
                <a:cubicBezTo>
                  <a:pt x="13150" y="6476"/>
                  <a:pt x="13150" y="6476"/>
                  <a:pt x="13150" y="6476"/>
                </a:cubicBezTo>
                <a:lnTo>
                  <a:pt x="14416" y="5196"/>
                </a:lnTo>
                <a:cubicBezTo>
                  <a:pt x="13358" y="4299"/>
                  <a:pt x="12089" y="3788"/>
                  <a:pt x="10788" y="3669"/>
                </a:cubicBezTo>
                <a:lnTo>
                  <a:pt x="10788" y="5500"/>
                </a:lnTo>
                <a:cubicBezTo>
                  <a:pt x="10788" y="5500"/>
                  <a:pt x="10789" y="5501"/>
                  <a:pt x="10788" y="5504"/>
                </a:cubicBezTo>
                <a:cubicBezTo>
                  <a:pt x="10787" y="5836"/>
                  <a:pt x="10521" y="6105"/>
                  <a:pt x="10193" y="6106"/>
                </a:cubicBezTo>
                <a:cubicBezTo>
                  <a:pt x="10190" y="6106"/>
                  <a:pt x="10189" y="6106"/>
                  <a:pt x="10189" y="6106"/>
                </a:cubicBezTo>
                <a:cubicBezTo>
                  <a:pt x="10189" y="6106"/>
                  <a:pt x="10188" y="6106"/>
                  <a:pt x="10185" y="6106"/>
                </a:cubicBezTo>
                <a:cubicBezTo>
                  <a:pt x="9856" y="6105"/>
                  <a:pt x="9591" y="5836"/>
                  <a:pt x="9590" y="5504"/>
                </a:cubicBezTo>
                <a:cubicBezTo>
                  <a:pt x="9589" y="5501"/>
                  <a:pt x="9590" y="5500"/>
                  <a:pt x="9590" y="5500"/>
                </a:cubicBezTo>
                <a:lnTo>
                  <a:pt x="9590" y="3669"/>
                </a:lnTo>
                <a:close/>
                <a:moveTo>
                  <a:pt x="19323" y="6842"/>
                </a:moveTo>
                <a:cubicBezTo>
                  <a:pt x="19233" y="6848"/>
                  <a:pt x="19141" y="6875"/>
                  <a:pt x="19056" y="6927"/>
                </a:cubicBezTo>
                <a:cubicBezTo>
                  <a:pt x="18806" y="7078"/>
                  <a:pt x="18713" y="7398"/>
                  <a:pt x="18841" y="7662"/>
                </a:cubicBezTo>
                <a:cubicBezTo>
                  <a:pt x="19767" y="10777"/>
                  <a:pt x="19012" y="14293"/>
                  <a:pt x="16577" y="16754"/>
                </a:cubicBezTo>
                <a:cubicBezTo>
                  <a:pt x="13049" y="20320"/>
                  <a:pt x="7329" y="20320"/>
                  <a:pt x="3801" y="16754"/>
                </a:cubicBezTo>
                <a:cubicBezTo>
                  <a:pt x="3473" y="16423"/>
                  <a:pt x="3179" y="16070"/>
                  <a:pt x="2913" y="15704"/>
                </a:cubicBezTo>
                <a:lnTo>
                  <a:pt x="4187" y="15704"/>
                </a:lnTo>
                <a:cubicBezTo>
                  <a:pt x="4511" y="15704"/>
                  <a:pt x="4774" y="15438"/>
                  <a:pt x="4774" y="15110"/>
                </a:cubicBezTo>
                <a:cubicBezTo>
                  <a:pt x="4774" y="14783"/>
                  <a:pt x="4511" y="14518"/>
                  <a:pt x="4187" y="14518"/>
                </a:cubicBezTo>
                <a:lnTo>
                  <a:pt x="1775" y="14518"/>
                </a:lnTo>
                <a:cubicBezTo>
                  <a:pt x="1451" y="14518"/>
                  <a:pt x="1188" y="14783"/>
                  <a:pt x="1188" y="15110"/>
                </a:cubicBezTo>
                <a:cubicBezTo>
                  <a:pt x="1188" y="15113"/>
                  <a:pt x="1190" y="15116"/>
                  <a:pt x="1190" y="15119"/>
                </a:cubicBezTo>
                <a:cubicBezTo>
                  <a:pt x="1190" y="15122"/>
                  <a:pt x="1188" y="15125"/>
                  <a:pt x="1188" y="15128"/>
                </a:cubicBezTo>
                <a:lnTo>
                  <a:pt x="1188" y="17565"/>
                </a:lnTo>
                <a:cubicBezTo>
                  <a:pt x="1188" y="17892"/>
                  <a:pt x="1451" y="18158"/>
                  <a:pt x="1775" y="18158"/>
                </a:cubicBezTo>
                <a:cubicBezTo>
                  <a:pt x="2099" y="18158"/>
                  <a:pt x="2361" y="17892"/>
                  <a:pt x="2361" y="17565"/>
                </a:cubicBezTo>
                <a:lnTo>
                  <a:pt x="2361" y="16886"/>
                </a:lnTo>
                <a:cubicBezTo>
                  <a:pt x="2557" y="17124"/>
                  <a:pt x="2764" y="17356"/>
                  <a:pt x="2984" y="17579"/>
                </a:cubicBezTo>
                <a:cubicBezTo>
                  <a:pt x="6964" y="21600"/>
                  <a:pt x="13414" y="21600"/>
                  <a:pt x="17394" y="17579"/>
                </a:cubicBezTo>
                <a:cubicBezTo>
                  <a:pt x="20150" y="14794"/>
                  <a:pt x="20995" y="10811"/>
                  <a:pt x="19934" y="7289"/>
                </a:cubicBezTo>
                <a:cubicBezTo>
                  <a:pt x="19859" y="7000"/>
                  <a:pt x="19594" y="6825"/>
                  <a:pt x="19323" y="6842"/>
                </a:cubicBezTo>
                <a:close/>
                <a:moveTo>
                  <a:pt x="10178" y="7266"/>
                </a:moveTo>
                <a:cubicBezTo>
                  <a:pt x="10181" y="7265"/>
                  <a:pt x="10181" y="7266"/>
                  <a:pt x="10181" y="7266"/>
                </a:cubicBezTo>
                <a:cubicBezTo>
                  <a:pt x="10181" y="7266"/>
                  <a:pt x="10184" y="7265"/>
                  <a:pt x="10186" y="7266"/>
                </a:cubicBezTo>
                <a:cubicBezTo>
                  <a:pt x="10515" y="7267"/>
                  <a:pt x="10781" y="7537"/>
                  <a:pt x="10782" y="7869"/>
                </a:cubicBezTo>
                <a:cubicBezTo>
                  <a:pt x="10782" y="7872"/>
                  <a:pt x="10782" y="7873"/>
                  <a:pt x="10782" y="7873"/>
                </a:cubicBezTo>
                <a:lnTo>
                  <a:pt x="10782" y="9720"/>
                </a:lnTo>
                <a:lnTo>
                  <a:pt x="11414" y="9720"/>
                </a:lnTo>
                <a:cubicBezTo>
                  <a:pt x="11414" y="9720"/>
                  <a:pt x="11415" y="9720"/>
                  <a:pt x="11418" y="9720"/>
                </a:cubicBezTo>
                <a:cubicBezTo>
                  <a:pt x="11747" y="9721"/>
                  <a:pt x="12013" y="9990"/>
                  <a:pt x="12014" y="10322"/>
                </a:cubicBezTo>
                <a:cubicBezTo>
                  <a:pt x="12014" y="10325"/>
                  <a:pt x="12014" y="10326"/>
                  <a:pt x="12014" y="10326"/>
                </a:cubicBezTo>
                <a:cubicBezTo>
                  <a:pt x="12014" y="10326"/>
                  <a:pt x="12014" y="10327"/>
                  <a:pt x="12014" y="10330"/>
                </a:cubicBezTo>
                <a:cubicBezTo>
                  <a:pt x="12013" y="10662"/>
                  <a:pt x="11747" y="10931"/>
                  <a:pt x="11418" y="10932"/>
                </a:cubicBezTo>
                <a:cubicBezTo>
                  <a:pt x="11415" y="10932"/>
                  <a:pt x="11414" y="10932"/>
                  <a:pt x="11414" y="10932"/>
                </a:cubicBezTo>
                <a:lnTo>
                  <a:pt x="10250" y="10932"/>
                </a:lnTo>
                <a:cubicBezTo>
                  <a:pt x="10250" y="10932"/>
                  <a:pt x="10248" y="10932"/>
                  <a:pt x="10245" y="10932"/>
                </a:cubicBezTo>
                <a:cubicBezTo>
                  <a:pt x="10186" y="10931"/>
                  <a:pt x="10130" y="10919"/>
                  <a:pt x="10076" y="10903"/>
                </a:cubicBezTo>
                <a:cubicBezTo>
                  <a:pt x="9796" y="10853"/>
                  <a:pt x="9583" y="10609"/>
                  <a:pt x="9582" y="10312"/>
                </a:cubicBezTo>
                <a:cubicBezTo>
                  <a:pt x="9582" y="10309"/>
                  <a:pt x="9582" y="10308"/>
                  <a:pt x="9582" y="10308"/>
                </a:cubicBezTo>
                <a:lnTo>
                  <a:pt x="9582" y="7873"/>
                </a:lnTo>
                <a:cubicBezTo>
                  <a:pt x="9582" y="7873"/>
                  <a:pt x="9582" y="7872"/>
                  <a:pt x="9582" y="7869"/>
                </a:cubicBezTo>
                <a:cubicBezTo>
                  <a:pt x="9583" y="7537"/>
                  <a:pt x="9849" y="7267"/>
                  <a:pt x="10178" y="7266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" name="Фигура">
            <a:extLst>
              <a:ext uri="{FF2B5EF4-FFF2-40B4-BE49-F238E27FC236}">
                <a16:creationId xmlns:a16="http://schemas.microsoft.com/office/drawing/2014/main" id="{1C408E38-82D7-8314-402B-5CB25B05A096}"/>
              </a:ext>
            </a:extLst>
          </p:cNvPr>
          <p:cNvSpPr/>
          <p:nvPr/>
        </p:nvSpPr>
        <p:spPr>
          <a:xfrm>
            <a:off x="2817766" y="2630697"/>
            <a:ext cx="235035" cy="218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0" extrusionOk="0">
                <a:moveTo>
                  <a:pt x="10835" y="0"/>
                </a:moveTo>
                <a:cubicBezTo>
                  <a:pt x="10498" y="0"/>
                  <a:pt x="10225" y="292"/>
                  <a:pt x="10225" y="653"/>
                </a:cubicBezTo>
                <a:lnTo>
                  <a:pt x="10225" y="2711"/>
                </a:lnTo>
                <a:cubicBezTo>
                  <a:pt x="10225" y="3072"/>
                  <a:pt x="10498" y="3365"/>
                  <a:pt x="10835" y="3365"/>
                </a:cubicBezTo>
                <a:cubicBezTo>
                  <a:pt x="11171" y="3365"/>
                  <a:pt x="11444" y="3072"/>
                  <a:pt x="11444" y="2711"/>
                </a:cubicBezTo>
                <a:lnTo>
                  <a:pt x="11444" y="653"/>
                </a:lnTo>
                <a:cubicBezTo>
                  <a:pt x="11444" y="292"/>
                  <a:pt x="11171" y="0"/>
                  <a:pt x="10835" y="0"/>
                </a:cubicBezTo>
                <a:close/>
                <a:moveTo>
                  <a:pt x="15869" y="2711"/>
                </a:moveTo>
                <a:cubicBezTo>
                  <a:pt x="15713" y="2711"/>
                  <a:pt x="15557" y="2775"/>
                  <a:pt x="15438" y="2902"/>
                </a:cubicBezTo>
                <a:lnTo>
                  <a:pt x="14157" y="4276"/>
                </a:lnTo>
                <a:cubicBezTo>
                  <a:pt x="13919" y="4531"/>
                  <a:pt x="13919" y="4945"/>
                  <a:pt x="14157" y="5200"/>
                </a:cubicBezTo>
                <a:cubicBezTo>
                  <a:pt x="14395" y="5455"/>
                  <a:pt x="14781" y="5455"/>
                  <a:pt x="15019" y="5200"/>
                </a:cubicBezTo>
                <a:lnTo>
                  <a:pt x="16300" y="3826"/>
                </a:lnTo>
                <a:cubicBezTo>
                  <a:pt x="16538" y="3570"/>
                  <a:pt x="16538" y="3158"/>
                  <a:pt x="16300" y="2902"/>
                </a:cubicBezTo>
                <a:cubicBezTo>
                  <a:pt x="16181" y="2775"/>
                  <a:pt x="16024" y="2711"/>
                  <a:pt x="15869" y="2711"/>
                </a:cubicBezTo>
                <a:close/>
                <a:moveTo>
                  <a:pt x="5750" y="2778"/>
                </a:moveTo>
                <a:cubicBezTo>
                  <a:pt x="5594" y="2778"/>
                  <a:pt x="5438" y="2842"/>
                  <a:pt x="5319" y="2970"/>
                </a:cubicBezTo>
                <a:cubicBezTo>
                  <a:pt x="5081" y="3225"/>
                  <a:pt x="5081" y="3638"/>
                  <a:pt x="5319" y="3893"/>
                </a:cubicBezTo>
                <a:lnTo>
                  <a:pt x="6600" y="5267"/>
                </a:lnTo>
                <a:cubicBezTo>
                  <a:pt x="6838" y="5523"/>
                  <a:pt x="7223" y="5523"/>
                  <a:pt x="7461" y="5267"/>
                </a:cubicBezTo>
                <a:cubicBezTo>
                  <a:pt x="7699" y="5012"/>
                  <a:pt x="7699" y="4598"/>
                  <a:pt x="7461" y="4343"/>
                </a:cubicBezTo>
                <a:lnTo>
                  <a:pt x="6180" y="2970"/>
                </a:lnTo>
                <a:cubicBezTo>
                  <a:pt x="6061" y="2842"/>
                  <a:pt x="5906" y="2778"/>
                  <a:pt x="5750" y="2778"/>
                </a:cubicBezTo>
                <a:close/>
                <a:moveTo>
                  <a:pt x="7845" y="6794"/>
                </a:moveTo>
                <a:cubicBezTo>
                  <a:pt x="7471" y="6799"/>
                  <a:pt x="7107" y="6917"/>
                  <a:pt x="6793" y="7134"/>
                </a:cubicBezTo>
                <a:cubicBezTo>
                  <a:pt x="6520" y="7322"/>
                  <a:pt x="6295" y="7579"/>
                  <a:pt x="6136" y="7883"/>
                </a:cubicBezTo>
                <a:lnTo>
                  <a:pt x="5520" y="9164"/>
                </a:lnTo>
                <a:cubicBezTo>
                  <a:pt x="5451" y="9272"/>
                  <a:pt x="5360" y="9362"/>
                  <a:pt x="5255" y="9427"/>
                </a:cubicBezTo>
                <a:cubicBezTo>
                  <a:pt x="5133" y="9503"/>
                  <a:pt x="4996" y="9544"/>
                  <a:pt x="4855" y="9546"/>
                </a:cubicBezTo>
                <a:lnTo>
                  <a:pt x="3844" y="9546"/>
                </a:lnTo>
                <a:lnTo>
                  <a:pt x="3814" y="19022"/>
                </a:lnTo>
                <a:lnTo>
                  <a:pt x="6722" y="19022"/>
                </a:lnTo>
                <a:lnTo>
                  <a:pt x="8565" y="21055"/>
                </a:lnTo>
                <a:cubicBezTo>
                  <a:pt x="8769" y="21249"/>
                  <a:pt x="9010" y="21395"/>
                  <a:pt x="9270" y="21481"/>
                </a:cubicBezTo>
                <a:cubicBezTo>
                  <a:pt x="9629" y="21598"/>
                  <a:pt x="10011" y="21600"/>
                  <a:pt x="10371" y="21486"/>
                </a:cubicBezTo>
                <a:lnTo>
                  <a:pt x="16077" y="19530"/>
                </a:lnTo>
                <a:cubicBezTo>
                  <a:pt x="16210" y="19487"/>
                  <a:pt x="16333" y="19417"/>
                  <a:pt x="16442" y="19326"/>
                </a:cubicBezTo>
                <a:cubicBezTo>
                  <a:pt x="16527" y="19255"/>
                  <a:pt x="16601" y="19172"/>
                  <a:pt x="16664" y="19079"/>
                </a:cubicBezTo>
                <a:lnTo>
                  <a:pt x="12170" y="14325"/>
                </a:lnTo>
                <a:lnTo>
                  <a:pt x="11730" y="14325"/>
                </a:lnTo>
                <a:cubicBezTo>
                  <a:pt x="11355" y="15204"/>
                  <a:pt x="10698" y="15909"/>
                  <a:pt x="9878" y="16312"/>
                </a:cubicBezTo>
                <a:cubicBezTo>
                  <a:pt x="8999" y="16745"/>
                  <a:pt x="7998" y="16800"/>
                  <a:pt x="7082" y="16465"/>
                </a:cubicBezTo>
                <a:lnTo>
                  <a:pt x="6167" y="16096"/>
                </a:lnTo>
                <a:cubicBezTo>
                  <a:pt x="5956" y="15989"/>
                  <a:pt x="5808" y="15778"/>
                  <a:pt x="5770" y="15531"/>
                </a:cubicBezTo>
                <a:cubicBezTo>
                  <a:pt x="5743" y="15349"/>
                  <a:pt x="5780" y="15162"/>
                  <a:pt x="5872" y="15007"/>
                </a:cubicBezTo>
                <a:lnTo>
                  <a:pt x="8176" y="10163"/>
                </a:lnTo>
                <a:cubicBezTo>
                  <a:pt x="8397" y="9732"/>
                  <a:pt x="8734" y="9381"/>
                  <a:pt x="9142" y="9156"/>
                </a:cubicBezTo>
                <a:cubicBezTo>
                  <a:pt x="9437" y="8994"/>
                  <a:pt x="9761" y="8903"/>
                  <a:pt x="10092" y="8888"/>
                </a:cubicBezTo>
                <a:lnTo>
                  <a:pt x="13081" y="8888"/>
                </a:lnTo>
                <a:cubicBezTo>
                  <a:pt x="13322" y="8472"/>
                  <a:pt x="13661" y="7410"/>
                  <a:pt x="13026" y="6962"/>
                </a:cubicBezTo>
                <a:cubicBezTo>
                  <a:pt x="12869" y="6852"/>
                  <a:pt x="12685" y="6793"/>
                  <a:pt x="12498" y="6794"/>
                </a:cubicBezTo>
                <a:lnTo>
                  <a:pt x="7845" y="6794"/>
                </a:lnTo>
                <a:close/>
                <a:moveTo>
                  <a:pt x="1008" y="9498"/>
                </a:moveTo>
                <a:cubicBezTo>
                  <a:pt x="718" y="9498"/>
                  <a:pt x="572" y="9499"/>
                  <a:pt x="417" y="9551"/>
                </a:cubicBezTo>
                <a:cubicBezTo>
                  <a:pt x="246" y="9618"/>
                  <a:pt x="112" y="9762"/>
                  <a:pt x="50" y="9945"/>
                </a:cubicBezTo>
                <a:cubicBezTo>
                  <a:pt x="1" y="10112"/>
                  <a:pt x="0" y="10269"/>
                  <a:pt x="0" y="10579"/>
                </a:cubicBezTo>
                <a:lnTo>
                  <a:pt x="0" y="17922"/>
                </a:lnTo>
                <a:cubicBezTo>
                  <a:pt x="0" y="18237"/>
                  <a:pt x="1" y="18394"/>
                  <a:pt x="50" y="18561"/>
                </a:cubicBezTo>
                <a:cubicBezTo>
                  <a:pt x="112" y="18744"/>
                  <a:pt x="246" y="18888"/>
                  <a:pt x="417" y="18955"/>
                </a:cubicBezTo>
                <a:cubicBezTo>
                  <a:pt x="573" y="19008"/>
                  <a:pt x="719" y="19007"/>
                  <a:pt x="1008" y="19007"/>
                </a:cubicBezTo>
                <a:lnTo>
                  <a:pt x="2519" y="19007"/>
                </a:lnTo>
                <a:lnTo>
                  <a:pt x="2519" y="9498"/>
                </a:lnTo>
                <a:lnTo>
                  <a:pt x="1012" y="9498"/>
                </a:lnTo>
                <a:lnTo>
                  <a:pt x="1008" y="9498"/>
                </a:lnTo>
                <a:close/>
                <a:moveTo>
                  <a:pt x="19026" y="9521"/>
                </a:moveTo>
                <a:lnTo>
                  <a:pt x="19026" y="19029"/>
                </a:lnTo>
                <a:lnTo>
                  <a:pt x="20589" y="19029"/>
                </a:lnTo>
                <a:cubicBezTo>
                  <a:pt x="20882" y="19029"/>
                  <a:pt x="21028" y="19030"/>
                  <a:pt x="21184" y="18977"/>
                </a:cubicBezTo>
                <a:cubicBezTo>
                  <a:pt x="21354" y="18910"/>
                  <a:pt x="21489" y="18766"/>
                  <a:pt x="21551" y="18583"/>
                </a:cubicBezTo>
                <a:cubicBezTo>
                  <a:pt x="21600" y="18416"/>
                  <a:pt x="21600" y="18259"/>
                  <a:pt x="21600" y="17949"/>
                </a:cubicBezTo>
                <a:lnTo>
                  <a:pt x="21600" y="10605"/>
                </a:lnTo>
                <a:cubicBezTo>
                  <a:pt x="21600" y="10291"/>
                  <a:pt x="21600" y="10134"/>
                  <a:pt x="21551" y="9967"/>
                </a:cubicBezTo>
                <a:cubicBezTo>
                  <a:pt x="21489" y="9784"/>
                  <a:pt x="21354" y="9640"/>
                  <a:pt x="21184" y="9574"/>
                </a:cubicBezTo>
                <a:cubicBezTo>
                  <a:pt x="21028" y="9521"/>
                  <a:pt x="20881" y="9521"/>
                  <a:pt x="20592" y="9521"/>
                </a:cubicBezTo>
                <a:lnTo>
                  <a:pt x="19026" y="9521"/>
                </a:lnTo>
                <a:close/>
                <a:moveTo>
                  <a:pt x="10221" y="10214"/>
                </a:moveTo>
                <a:cubicBezTo>
                  <a:pt x="10027" y="10227"/>
                  <a:pt x="9839" y="10291"/>
                  <a:pt x="9673" y="10398"/>
                </a:cubicBezTo>
                <a:cubicBezTo>
                  <a:pt x="9482" y="10521"/>
                  <a:pt x="9327" y="10699"/>
                  <a:pt x="9224" y="10911"/>
                </a:cubicBezTo>
                <a:lnTo>
                  <a:pt x="7288" y="15038"/>
                </a:lnTo>
                <a:cubicBezTo>
                  <a:pt x="7791" y="15310"/>
                  <a:pt x="8368" y="15380"/>
                  <a:pt x="8914" y="15234"/>
                </a:cubicBezTo>
                <a:cubicBezTo>
                  <a:pt x="9494" y="15080"/>
                  <a:pt x="9998" y="14695"/>
                  <a:pt x="10323" y="14157"/>
                </a:cubicBezTo>
                <a:lnTo>
                  <a:pt x="10972" y="12900"/>
                </a:lnTo>
                <a:lnTo>
                  <a:pt x="12168" y="12894"/>
                </a:lnTo>
                <a:cubicBezTo>
                  <a:pt x="12346" y="12901"/>
                  <a:pt x="12521" y="12942"/>
                  <a:pt x="12684" y="13015"/>
                </a:cubicBezTo>
                <a:cubicBezTo>
                  <a:pt x="12838" y="13085"/>
                  <a:pt x="12980" y="13182"/>
                  <a:pt x="13104" y="13302"/>
                </a:cubicBezTo>
                <a:lnTo>
                  <a:pt x="17781" y="18390"/>
                </a:lnTo>
                <a:lnTo>
                  <a:pt x="17787" y="10214"/>
                </a:lnTo>
                <a:lnTo>
                  <a:pt x="10221" y="10214"/>
                </a:lnTo>
                <a:close/>
              </a:path>
            </a:pathLst>
          </a:custGeom>
          <a:solidFill>
            <a:schemeClr val="accent2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" name="Фигура">
            <a:extLst>
              <a:ext uri="{FF2B5EF4-FFF2-40B4-BE49-F238E27FC236}">
                <a16:creationId xmlns:a16="http://schemas.microsoft.com/office/drawing/2014/main" id="{20A8A460-BD17-6FCB-A135-CE7C92E4EDBD}"/>
              </a:ext>
            </a:extLst>
          </p:cNvPr>
          <p:cNvSpPr/>
          <p:nvPr/>
        </p:nvSpPr>
        <p:spPr>
          <a:xfrm>
            <a:off x="4595872" y="5859769"/>
            <a:ext cx="211613" cy="211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589" extrusionOk="0">
                <a:moveTo>
                  <a:pt x="1908" y="1"/>
                </a:moveTo>
                <a:cubicBezTo>
                  <a:pt x="1711" y="-11"/>
                  <a:pt x="1520" y="73"/>
                  <a:pt x="1396" y="226"/>
                </a:cubicBezTo>
                <a:cubicBezTo>
                  <a:pt x="1300" y="345"/>
                  <a:pt x="1252" y="495"/>
                  <a:pt x="1262" y="648"/>
                </a:cubicBezTo>
                <a:lnTo>
                  <a:pt x="1262" y="17761"/>
                </a:lnTo>
                <a:lnTo>
                  <a:pt x="12704" y="17761"/>
                </a:lnTo>
                <a:lnTo>
                  <a:pt x="12704" y="19687"/>
                </a:lnTo>
                <a:cubicBezTo>
                  <a:pt x="12714" y="20743"/>
                  <a:pt x="13581" y="21589"/>
                  <a:pt x="14634" y="21570"/>
                </a:cubicBezTo>
                <a:cubicBezTo>
                  <a:pt x="15660" y="21552"/>
                  <a:pt x="16484" y="20716"/>
                  <a:pt x="16490" y="19687"/>
                </a:cubicBezTo>
                <a:lnTo>
                  <a:pt x="16490" y="14694"/>
                </a:lnTo>
                <a:lnTo>
                  <a:pt x="15011" y="16131"/>
                </a:lnTo>
                <a:lnTo>
                  <a:pt x="11648" y="17439"/>
                </a:lnTo>
                <a:cubicBezTo>
                  <a:pt x="10897" y="17690"/>
                  <a:pt x="10069" y="17448"/>
                  <a:pt x="9571" y="16830"/>
                </a:cubicBezTo>
                <a:cubicBezTo>
                  <a:pt x="9173" y="16336"/>
                  <a:pt x="9051" y="15673"/>
                  <a:pt x="9251" y="15070"/>
                </a:cubicBezTo>
                <a:lnTo>
                  <a:pt x="10536" y="11699"/>
                </a:lnTo>
                <a:lnTo>
                  <a:pt x="16486" y="5712"/>
                </a:lnTo>
                <a:lnTo>
                  <a:pt x="16486" y="5121"/>
                </a:lnTo>
                <a:lnTo>
                  <a:pt x="12042" y="5121"/>
                </a:lnTo>
                <a:cubicBezTo>
                  <a:pt x="11858" y="5120"/>
                  <a:pt x="11684" y="5036"/>
                  <a:pt x="11570" y="4892"/>
                </a:cubicBezTo>
                <a:cubicBezTo>
                  <a:pt x="11483" y="4781"/>
                  <a:pt x="11438" y="4643"/>
                  <a:pt x="11443" y="4502"/>
                </a:cubicBezTo>
                <a:lnTo>
                  <a:pt x="11443" y="1"/>
                </a:lnTo>
                <a:lnTo>
                  <a:pt x="1908" y="1"/>
                </a:lnTo>
                <a:close/>
                <a:moveTo>
                  <a:pt x="12713" y="388"/>
                </a:moveTo>
                <a:lnTo>
                  <a:pt x="12713" y="3843"/>
                </a:lnTo>
                <a:lnTo>
                  <a:pt x="16136" y="3843"/>
                </a:lnTo>
                <a:lnTo>
                  <a:pt x="12713" y="388"/>
                </a:lnTo>
                <a:close/>
                <a:moveTo>
                  <a:pt x="8245" y="5090"/>
                </a:moveTo>
                <a:cubicBezTo>
                  <a:pt x="8412" y="5090"/>
                  <a:pt x="8580" y="5154"/>
                  <a:pt x="8708" y="5282"/>
                </a:cubicBezTo>
                <a:cubicBezTo>
                  <a:pt x="8963" y="5539"/>
                  <a:pt x="8963" y="5954"/>
                  <a:pt x="8708" y="6210"/>
                </a:cubicBezTo>
                <a:lnTo>
                  <a:pt x="6213" y="8711"/>
                </a:lnTo>
                <a:cubicBezTo>
                  <a:pt x="6082" y="8842"/>
                  <a:pt x="5909" y="8904"/>
                  <a:pt x="5737" y="8901"/>
                </a:cubicBezTo>
                <a:cubicBezTo>
                  <a:pt x="5565" y="8904"/>
                  <a:pt x="5392" y="8842"/>
                  <a:pt x="5261" y="8711"/>
                </a:cubicBezTo>
                <a:lnTo>
                  <a:pt x="4024" y="7471"/>
                </a:lnTo>
                <a:cubicBezTo>
                  <a:pt x="3768" y="7215"/>
                  <a:pt x="3768" y="6799"/>
                  <a:pt x="4024" y="6543"/>
                </a:cubicBezTo>
                <a:cubicBezTo>
                  <a:pt x="4280" y="6287"/>
                  <a:pt x="4694" y="6287"/>
                  <a:pt x="4950" y="6543"/>
                </a:cubicBezTo>
                <a:lnTo>
                  <a:pt x="5737" y="7332"/>
                </a:lnTo>
                <a:lnTo>
                  <a:pt x="7782" y="5282"/>
                </a:lnTo>
                <a:cubicBezTo>
                  <a:pt x="7910" y="5154"/>
                  <a:pt x="8077" y="5090"/>
                  <a:pt x="8245" y="5090"/>
                </a:cubicBezTo>
                <a:close/>
                <a:moveTo>
                  <a:pt x="19290" y="5117"/>
                </a:moveTo>
                <a:cubicBezTo>
                  <a:pt x="19029" y="5137"/>
                  <a:pt x="18781" y="5240"/>
                  <a:pt x="18583" y="5411"/>
                </a:cubicBezTo>
                <a:lnTo>
                  <a:pt x="17437" y="6550"/>
                </a:lnTo>
                <a:lnTo>
                  <a:pt x="20093" y="9230"/>
                </a:lnTo>
                <a:lnTo>
                  <a:pt x="21325" y="8014"/>
                </a:lnTo>
                <a:cubicBezTo>
                  <a:pt x="21505" y="7802"/>
                  <a:pt x="21600" y="7530"/>
                  <a:pt x="21593" y="7252"/>
                </a:cubicBezTo>
                <a:cubicBezTo>
                  <a:pt x="21585" y="6954"/>
                  <a:pt x="21460" y="6671"/>
                  <a:pt x="21246" y="6464"/>
                </a:cubicBezTo>
                <a:lnTo>
                  <a:pt x="20173" y="5399"/>
                </a:lnTo>
                <a:cubicBezTo>
                  <a:pt x="19926" y="5194"/>
                  <a:pt x="19610" y="5093"/>
                  <a:pt x="19290" y="5117"/>
                </a:cubicBezTo>
                <a:close/>
                <a:moveTo>
                  <a:pt x="16539" y="7458"/>
                </a:moveTo>
                <a:lnTo>
                  <a:pt x="12084" y="11910"/>
                </a:lnTo>
                <a:lnTo>
                  <a:pt x="14765" y="14589"/>
                </a:lnTo>
                <a:lnTo>
                  <a:pt x="19196" y="10136"/>
                </a:lnTo>
                <a:lnTo>
                  <a:pt x="16539" y="7458"/>
                </a:lnTo>
                <a:close/>
                <a:moveTo>
                  <a:pt x="8261" y="8905"/>
                </a:moveTo>
                <a:cubicBezTo>
                  <a:pt x="8429" y="8905"/>
                  <a:pt x="8596" y="8970"/>
                  <a:pt x="8724" y="9098"/>
                </a:cubicBezTo>
                <a:cubicBezTo>
                  <a:pt x="8980" y="9354"/>
                  <a:pt x="8980" y="9770"/>
                  <a:pt x="8724" y="10026"/>
                </a:cubicBezTo>
                <a:lnTo>
                  <a:pt x="6229" y="12526"/>
                </a:lnTo>
                <a:cubicBezTo>
                  <a:pt x="6098" y="12658"/>
                  <a:pt x="5925" y="12720"/>
                  <a:pt x="5753" y="12716"/>
                </a:cubicBezTo>
                <a:cubicBezTo>
                  <a:pt x="5582" y="12720"/>
                  <a:pt x="5409" y="12658"/>
                  <a:pt x="5277" y="12526"/>
                </a:cubicBezTo>
                <a:lnTo>
                  <a:pt x="4041" y="11287"/>
                </a:lnTo>
                <a:cubicBezTo>
                  <a:pt x="3785" y="11030"/>
                  <a:pt x="3785" y="10615"/>
                  <a:pt x="4041" y="10359"/>
                </a:cubicBezTo>
                <a:cubicBezTo>
                  <a:pt x="4296" y="10103"/>
                  <a:pt x="4711" y="10103"/>
                  <a:pt x="4966" y="10359"/>
                </a:cubicBezTo>
                <a:lnTo>
                  <a:pt x="5753" y="11147"/>
                </a:lnTo>
                <a:lnTo>
                  <a:pt x="7798" y="9098"/>
                </a:lnTo>
                <a:cubicBezTo>
                  <a:pt x="7926" y="8970"/>
                  <a:pt x="8094" y="8905"/>
                  <a:pt x="8261" y="8905"/>
                </a:cubicBezTo>
                <a:close/>
                <a:moveTo>
                  <a:pt x="8261" y="12722"/>
                </a:moveTo>
                <a:cubicBezTo>
                  <a:pt x="8429" y="12722"/>
                  <a:pt x="8596" y="12786"/>
                  <a:pt x="8724" y="12915"/>
                </a:cubicBezTo>
                <a:cubicBezTo>
                  <a:pt x="8980" y="13171"/>
                  <a:pt x="8980" y="13586"/>
                  <a:pt x="8724" y="13842"/>
                </a:cubicBezTo>
                <a:lnTo>
                  <a:pt x="6229" y="16343"/>
                </a:lnTo>
                <a:cubicBezTo>
                  <a:pt x="6098" y="16474"/>
                  <a:pt x="5925" y="16536"/>
                  <a:pt x="5753" y="16533"/>
                </a:cubicBezTo>
                <a:cubicBezTo>
                  <a:pt x="5582" y="16536"/>
                  <a:pt x="5409" y="16474"/>
                  <a:pt x="5277" y="16343"/>
                </a:cubicBezTo>
                <a:lnTo>
                  <a:pt x="4041" y="15103"/>
                </a:lnTo>
                <a:cubicBezTo>
                  <a:pt x="3785" y="14847"/>
                  <a:pt x="3785" y="14431"/>
                  <a:pt x="4041" y="14175"/>
                </a:cubicBezTo>
                <a:cubicBezTo>
                  <a:pt x="4296" y="13919"/>
                  <a:pt x="4711" y="13919"/>
                  <a:pt x="4966" y="14175"/>
                </a:cubicBezTo>
                <a:lnTo>
                  <a:pt x="5753" y="14964"/>
                </a:lnTo>
                <a:lnTo>
                  <a:pt x="7798" y="12915"/>
                </a:lnTo>
                <a:cubicBezTo>
                  <a:pt x="7926" y="12786"/>
                  <a:pt x="8094" y="12722"/>
                  <a:pt x="8261" y="12722"/>
                </a:cubicBezTo>
                <a:close/>
                <a:moveTo>
                  <a:pt x="11387" y="13025"/>
                </a:moveTo>
                <a:lnTo>
                  <a:pt x="10456" y="15438"/>
                </a:lnTo>
                <a:cubicBezTo>
                  <a:pt x="10384" y="15635"/>
                  <a:pt x="10417" y="15855"/>
                  <a:pt x="10544" y="16022"/>
                </a:cubicBezTo>
                <a:cubicBezTo>
                  <a:pt x="10691" y="16214"/>
                  <a:pt x="10937" y="16303"/>
                  <a:pt x="11173" y="16249"/>
                </a:cubicBezTo>
                <a:lnTo>
                  <a:pt x="13655" y="15306"/>
                </a:lnTo>
                <a:lnTo>
                  <a:pt x="11387" y="13025"/>
                </a:lnTo>
                <a:close/>
                <a:moveTo>
                  <a:pt x="628" y="19050"/>
                </a:moveTo>
                <a:cubicBezTo>
                  <a:pt x="460" y="19044"/>
                  <a:pt x="297" y="19107"/>
                  <a:pt x="178" y="19226"/>
                </a:cubicBezTo>
                <a:cubicBezTo>
                  <a:pt x="67" y="19336"/>
                  <a:pt x="3" y="19485"/>
                  <a:pt x="0" y="19642"/>
                </a:cubicBezTo>
                <a:lnTo>
                  <a:pt x="0" y="20398"/>
                </a:lnTo>
                <a:cubicBezTo>
                  <a:pt x="10" y="20653"/>
                  <a:pt x="97" y="20898"/>
                  <a:pt x="252" y="21100"/>
                </a:cubicBezTo>
                <a:cubicBezTo>
                  <a:pt x="473" y="21390"/>
                  <a:pt x="810" y="21568"/>
                  <a:pt x="1173" y="21589"/>
                </a:cubicBezTo>
                <a:lnTo>
                  <a:pt x="12090" y="21587"/>
                </a:lnTo>
                <a:cubicBezTo>
                  <a:pt x="11857" y="21319"/>
                  <a:pt x="11679" y="21009"/>
                  <a:pt x="11564" y="20673"/>
                </a:cubicBezTo>
                <a:cubicBezTo>
                  <a:pt x="11466" y="20382"/>
                  <a:pt x="11417" y="20077"/>
                  <a:pt x="11420" y="19770"/>
                </a:cubicBezTo>
                <a:lnTo>
                  <a:pt x="11420" y="19050"/>
                </a:lnTo>
                <a:lnTo>
                  <a:pt x="628" y="19050"/>
                </a:lnTo>
                <a:close/>
              </a:path>
            </a:pathLst>
          </a:custGeom>
          <a:solidFill>
            <a:schemeClr val="accent3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5" name="Фигура">
            <a:extLst>
              <a:ext uri="{FF2B5EF4-FFF2-40B4-BE49-F238E27FC236}">
                <a16:creationId xmlns:a16="http://schemas.microsoft.com/office/drawing/2014/main" id="{8BED1CAF-8606-2A66-BCDF-85823373FFDD}"/>
              </a:ext>
            </a:extLst>
          </p:cNvPr>
          <p:cNvSpPr/>
          <p:nvPr/>
        </p:nvSpPr>
        <p:spPr>
          <a:xfrm>
            <a:off x="6328691" y="2634005"/>
            <a:ext cx="212486" cy="212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17" extrusionOk="0">
                <a:moveTo>
                  <a:pt x="10824" y="0"/>
                </a:moveTo>
                <a:cubicBezTo>
                  <a:pt x="10481" y="0"/>
                  <a:pt x="10203" y="277"/>
                  <a:pt x="10203" y="619"/>
                </a:cubicBezTo>
                <a:lnTo>
                  <a:pt x="10203" y="1214"/>
                </a:lnTo>
                <a:lnTo>
                  <a:pt x="621" y="1214"/>
                </a:lnTo>
                <a:cubicBezTo>
                  <a:pt x="278" y="1214"/>
                  <a:pt x="0" y="1490"/>
                  <a:pt x="0" y="1832"/>
                </a:cubicBezTo>
                <a:cubicBezTo>
                  <a:pt x="0" y="2173"/>
                  <a:pt x="278" y="2451"/>
                  <a:pt x="621" y="2451"/>
                </a:cubicBezTo>
                <a:lnTo>
                  <a:pt x="1256" y="2451"/>
                </a:lnTo>
                <a:lnTo>
                  <a:pt x="1256" y="13927"/>
                </a:lnTo>
                <a:lnTo>
                  <a:pt x="621" y="13927"/>
                </a:lnTo>
                <a:cubicBezTo>
                  <a:pt x="278" y="13927"/>
                  <a:pt x="0" y="14204"/>
                  <a:pt x="0" y="14546"/>
                </a:cubicBezTo>
                <a:cubicBezTo>
                  <a:pt x="0" y="14887"/>
                  <a:pt x="278" y="15165"/>
                  <a:pt x="621" y="15165"/>
                </a:cubicBezTo>
                <a:lnTo>
                  <a:pt x="8686" y="15165"/>
                </a:lnTo>
                <a:lnTo>
                  <a:pt x="6425" y="20665"/>
                </a:lnTo>
                <a:cubicBezTo>
                  <a:pt x="6295" y="20981"/>
                  <a:pt x="6447" y="21341"/>
                  <a:pt x="6764" y="21470"/>
                </a:cubicBezTo>
                <a:cubicBezTo>
                  <a:pt x="7081" y="21600"/>
                  <a:pt x="7443" y="21449"/>
                  <a:pt x="7573" y="21133"/>
                </a:cubicBezTo>
                <a:lnTo>
                  <a:pt x="8994" y="17675"/>
                </a:lnTo>
                <a:lnTo>
                  <a:pt x="10215" y="17675"/>
                </a:lnTo>
                <a:lnTo>
                  <a:pt x="10215" y="19676"/>
                </a:lnTo>
                <a:cubicBezTo>
                  <a:pt x="10215" y="20018"/>
                  <a:pt x="10492" y="20294"/>
                  <a:pt x="10835" y="20294"/>
                </a:cubicBezTo>
                <a:cubicBezTo>
                  <a:pt x="11177" y="20294"/>
                  <a:pt x="11456" y="20018"/>
                  <a:pt x="11456" y="19676"/>
                </a:cubicBezTo>
                <a:lnTo>
                  <a:pt x="11456" y="17675"/>
                </a:lnTo>
                <a:lnTo>
                  <a:pt x="12650" y="17675"/>
                </a:lnTo>
                <a:lnTo>
                  <a:pt x="14037" y="21129"/>
                </a:lnTo>
                <a:cubicBezTo>
                  <a:pt x="14164" y="21446"/>
                  <a:pt x="14525" y="21600"/>
                  <a:pt x="14843" y="21473"/>
                </a:cubicBezTo>
                <a:cubicBezTo>
                  <a:pt x="15161" y="21346"/>
                  <a:pt x="15315" y="20986"/>
                  <a:pt x="15188" y="20669"/>
                </a:cubicBezTo>
                <a:lnTo>
                  <a:pt x="12979" y="15165"/>
                </a:lnTo>
                <a:lnTo>
                  <a:pt x="20979" y="15165"/>
                </a:lnTo>
                <a:cubicBezTo>
                  <a:pt x="21322" y="15165"/>
                  <a:pt x="21600" y="14887"/>
                  <a:pt x="21600" y="14546"/>
                </a:cubicBezTo>
                <a:cubicBezTo>
                  <a:pt x="21600" y="14204"/>
                  <a:pt x="21322" y="13927"/>
                  <a:pt x="20979" y="13927"/>
                </a:cubicBezTo>
                <a:lnTo>
                  <a:pt x="20344" y="13927"/>
                </a:lnTo>
                <a:lnTo>
                  <a:pt x="20344" y="2451"/>
                </a:lnTo>
                <a:lnTo>
                  <a:pt x="20979" y="2451"/>
                </a:lnTo>
                <a:cubicBezTo>
                  <a:pt x="21322" y="2451"/>
                  <a:pt x="21600" y="2173"/>
                  <a:pt x="21600" y="1832"/>
                </a:cubicBezTo>
                <a:cubicBezTo>
                  <a:pt x="21600" y="1490"/>
                  <a:pt x="21322" y="1214"/>
                  <a:pt x="20979" y="1214"/>
                </a:cubicBezTo>
                <a:lnTo>
                  <a:pt x="11443" y="1214"/>
                </a:lnTo>
                <a:lnTo>
                  <a:pt x="11443" y="619"/>
                </a:lnTo>
                <a:cubicBezTo>
                  <a:pt x="11443" y="277"/>
                  <a:pt x="11166" y="0"/>
                  <a:pt x="10824" y="0"/>
                </a:cubicBezTo>
                <a:close/>
                <a:moveTo>
                  <a:pt x="14966" y="3830"/>
                </a:moveTo>
                <a:lnTo>
                  <a:pt x="14971" y="3830"/>
                </a:lnTo>
                <a:lnTo>
                  <a:pt x="16799" y="3830"/>
                </a:lnTo>
                <a:cubicBezTo>
                  <a:pt x="17083" y="3830"/>
                  <a:pt x="17227" y="3830"/>
                  <a:pt x="17380" y="3878"/>
                </a:cubicBezTo>
                <a:cubicBezTo>
                  <a:pt x="17548" y="3939"/>
                  <a:pt x="17680" y="4069"/>
                  <a:pt x="17741" y="4236"/>
                </a:cubicBezTo>
                <a:cubicBezTo>
                  <a:pt x="17789" y="4389"/>
                  <a:pt x="17789" y="4533"/>
                  <a:pt x="17789" y="4820"/>
                </a:cubicBezTo>
                <a:lnTo>
                  <a:pt x="17789" y="11689"/>
                </a:lnTo>
                <a:cubicBezTo>
                  <a:pt x="17789" y="11972"/>
                  <a:pt x="17789" y="12116"/>
                  <a:pt x="17741" y="12269"/>
                </a:cubicBezTo>
                <a:cubicBezTo>
                  <a:pt x="17680" y="12436"/>
                  <a:pt x="17548" y="12567"/>
                  <a:pt x="17380" y="12628"/>
                </a:cubicBezTo>
                <a:cubicBezTo>
                  <a:pt x="17227" y="12676"/>
                  <a:pt x="17083" y="12676"/>
                  <a:pt x="16795" y="12676"/>
                </a:cubicBezTo>
                <a:lnTo>
                  <a:pt x="14966" y="12676"/>
                </a:lnTo>
                <a:cubicBezTo>
                  <a:pt x="14683" y="12676"/>
                  <a:pt x="14538" y="12676"/>
                  <a:pt x="14385" y="12628"/>
                </a:cubicBezTo>
                <a:cubicBezTo>
                  <a:pt x="14218" y="12567"/>
                  <a:pt x="14086" y="12436"/>
                  <a:pt x="14025" y="12269"/>
                </a:cubicBezTo>
                <a:cubicBezTo>
                  <a:pt x="13976" y="12116"/>
                  <a:pt x="13976" y="11972"/>
                  <a:pt x="13976" y="11685"/>
                </a:cubicBezTo>
                <a:lnTo>
                  <a:pt x="13976" y="4816"/>
                </a:lnTo>
                <a:cubicBezTo>
                  <a:pt x="13976" y="4533"/>
                  <a:pt x="13976" y="4389"/>
                  <a:pt x="14025" y="4236"/>
                </a:cubicBezTo>
                <a:cubicBezTo>
                  <a:pt x="14086" y="4069"/>
                  <a:pt x="14218" y="3939"/>
                  <a:pt x="14385" y="3878"/>
                </a:cubicBezTo>
                <a:cubicBezTo>
                  <a:pt x="14537" y="3830"/>
                  <a:pt x="14682" y="3830"/>
                  <a:pt x="14966" y="3830"/>
                </a:cubicBezTo>
                <a:close/>
                <a:moveTo>
                  <a:pt x="15246" y="5107"/>
                </a:moveTo>
                <a:lnTo>
                  <a:pt x="15246" y="11399"/>
                </a:lnTo>
                <a:lnTo>
                  <a:pt x="16518" y="11399"/>
                </a:lnTo>
                <a:lnTo>
                  <a:pt x="16518" y="5107"/>
                </a:lnTo>
                <a:lnTo>
                  <a:pt x="15246" y="5107"/>
                </a:lnTo>
                <a:close/>
                <a:moveTo>
                  <a:pt x="9885" y="6356"/>
                </a:moveTo>
                <a:lnTo>
                  <a:pt x="9890" y="6356"/>
                </a:lnTo>
                <a:lnTo>
                  <a:pt x="11718" y="6356"/>
                </a:lnTo>
                <a:cubicBezTo>
                  <a:pt x="12002" y="6356"/>
                  <a:pt x="12146" y="6356"/>
                  <a:pt x="12299" y="6405"/>
                </a:cubicBezTo>
                <a:cubicBezTo>
                  <a:pt x="12467" y="6466"/>
                  <a:pt x="12599" y="6597"/>
                  <a:pt x="12660" y="6764"/>
                </a:cubicBezTo>
                <a:cubicBezTo>
                  <a:pt x="12708" y="6917"/>
                  <a:pt x="12708" y="7061"/>
                  <a:pt x="12708" y="7348"/>
                </a:cubicBezTo>
                <a:lnTo>
                  <a:pt x="12708" y="11689"/>
                </a:lnTo>
                <a:cubicBezTo>
                  <a:pt x="12708" y="11972"/>
                  <a:pt x="12708" y="12116"/>
                  <a:pt x="12660" y="12269"/>
                </a:cubicBezTo>
                <a:cubicBezTo>
                  <a:pt x="12599" y="12436"/>
                  <a:pt x="12467" y="12567"/>
                  <a:pt x="12299" y="12628"/>
                </a:cubicBezTo>
                <a:cubicBezTo>
                  <a:pt x="12146" y="12676"/>
                  <a:pt x="12002" y="12676"/>
                  <a:pt x="11714" y="12676"/>
                </a:cubicBezTo>
                <a:lnTo>
                  <a:pt x="9885" y="12676"/>
                </a:lnTo>
                <a:cubicBezTo>
                  <a:pt x="9601" y="12676"/>
                  <a:pt x="9457" y="12676"/>
                  <a:pt x="9304" y="12628"/>
                </a:cubicBezTo>
                <a:cubicBezTo>
                  <a:pt x="9137" y="12567"/>
                  <a:pt x="9005" y="12436"/>
                  <a:pt x="8944" y="12269"/>
                </a:cubicBezTo>
                <a:cubicBezTo>
                  <a:pt x="8895" y="12116"/>
                  <a:pt x="8895" y="11972"/>
                  <a:pt x="8895" y="11685"/>
                </a:cubicBezTo>
                <a:lnTo>
                  <a:pt x="8895" y="7344"/>
                </a:lnTo>
                <a:cubicBezTo>
                  <a:pt x="8895" y="7061"/>
                  <a:pt x="8895" y="6917"/>
                  <a:pt x="8944" y="6764"/>
                </a:cubicBezTo>
                <a:cubicBezTo>
                  <a:pt x="9005" y="6597"/>
                  <a:pt x="9137" y="6466"/>
                  <a:pt x="9304" y="6405"/>
                </a:cubicBezTo>
                <a:cubicBezTo>
                  <a:pt x="9456" y="6357"/>
                  <a:pt x="9601" y="6356"/>
                  <a:pt x="9885" y="6356"/>
                </a:cubicBezTo>
                <a:close/>
                <a:moveTo>
                  <a:pt x="10165" y="7619"/>
                </a:moveTo>
                <a:lnTo>
                  <a:pt x="10165" y="11399"/>
                </a:lnTo>
                <a:lnTo>
                  <a:pt x="11437" y="11399"/>
                </a:lnTo>
                <a:lnTo>
                  <a:pt x="11437" y="7619"/>
                </a:lnTo>
                <a:lnTo>
                  <a:pt x="10165" y="7619"/>
                </a:lnTo>
                <a:close/>
                <a:moveTo>
                  <a:pt x="4822" y="8872"/>
                </a:moveTo>
                <a:lnTo>
                  <a:pt x="4826" y="8872"/>
                </a:lnTo>
                <a:lnTo>
                  <a:pt x="6655" y="8872"/>
                </a:lnTo>
                <a:cubicBezTo>
                  <a:pt x="6938" y="8872"/>
                  <a:pt x="7083" y="8872"/>
                  <a:pt x="7236" y="8920"/>
                </a:cubicBezTo>
                <a:cubicBezTo>
                  <a:pt x="7403" y="8981"/>
                  <a:pt x="7534" y="9113"/>
                  <a:pt x="7595" y="9280"/>
                </a:cubicBezTo>
                <a:cubicBezTo>
                  <a:pt x="7644" y="9433"/>
                  <a:pt x="7645" y="9576"/>
                  <a:pt x="7645" y="9864"/>
                </a:cubicBezTo>
                <a:lnTo>
                  <a:pt x="7645" y="11689"/>
                </a:lnTo>
                <a:cubicBezTo>
                  <a:pt x="7645" y="11972"/>
                  <a:pt x="7644" y="12116"/>
                  <a:pt x="7595" y="12269"/>
                </a:cubicBezTo>
                <a:cubicBezTo>
                  <a:pt x="7534" y="12436"/>
                  <a:pt x="7403" y="12567"/>
                  <a:pt x="7236" y="12628"/>
                </a:cubicBezTo>
                <a:cubicBezTo>
                  <a:pt x="7083" y="12676"/>
                  <a:pt x="6938" y="12676"/>
                  <a:pt x="6650" y="12676"/>
                </a:cubicBezTo>
                <a:lnTo>
                  <a:pt x="4822" y="12676"/>
                </a:lnTo>
                <a:cubicBezTo>
                  <a:pt x="4538" y="12676"/>
                  <a:pt x="4394" y="12676"/>
                  <a:pt x="4241" y="12628"/>
                </a:cubicBezTo>
                <a:cubicBezTo>
                  <a:pt x="4073" y="12567"/>
                  <a:pt x="3941" y="12436"/>
                  <a:pt x="3880" y="12269"/>
                </a:cubicBezTo>
                <a:cubicBezTo>
                  <a:pt x="3832" y="12116"/>
                  <a:pt x="3832" y="11972"/>
                  <a:pt x="3832" y="11685"/>
                </a:cubicBezTo>
                <a:lnTo>
                  <a:pt x="3832" y="9859"/>
                </a:lnTo>
                <a:cubicBezTo>
                  <a:pt x="3832" y="9576"/>
                  <a:pt x="3832" y="9433"/>
                  <a:pt x="3880" y="9280"/>
                </a:cubicBezTo>
                <a:cubicBezTo>
                  <a:pt x="3941" y="9113"/>
                  <a:pt x="4073" y="8981"/>
                  <a:pt x="4241" y="8920"/>
                </a:cubicBezTo>
                <a:cubicBezTo>
                  <a:pt x="4393" y="8872"/>
                  <a:pt x="4537" y="8872"/>
                  <a:pt x="4822" y="8872"/>
                </a:cubicBezTo>
                <a:close/>
                <a:moveTo>
                  <a:pt x="5084" y="10161"/>
                </a:moveTo>
                <a:lnTo>
                  <a:pt x="5084" y="11399"/>
                </a:lnTo>
                <a:lnTo>
                  <a:pt x="6356" y="11399"/>
                </a:lnTo>
                <a:lnTo>
                  <a:pt x="6356" y="10161"/>
                </a:lnTo>
                <a:lnTo>
                  <a:pt x="5084" y="10161"/>
                </a:lnTo>
                <a:close/>
                <a:moveTo>
                  <a:pt x="10025" y="15165"/>
                </a:moveTo>
                <a:lnTo>
                  <a:pt x="10215" y="15165"/>
                </a:lnTo>
                <a:lnTo>
                  <a:pt x="10215" y="16438"/>
                </a:lnTo>
                <a:lnTo>
                  <a:pt x="9503" y="16438"/>
                </a:lnTo>
                <a:lnTo>
                  <a:pt x="10025" y="15165"/>
                </a:lnTo>
                <a:close/>
                <a:moveTo>
                  <a:pt x="11456" y="15165"/>
                </a:moveTo>
                <a:lnTo>
                  <a:pt x="11642" y="15165"/>
                </a:lnTo>
                <a:lnTo>
                  <a:pt x="12154" y="16438"/>
                </a:lnTo>
                <a:lnTo>
                  <a:pt x="11456" y="16438"/>
                </a:lnTo>
                <a:lnTo>
                  <a:pt x="11456" y="15165"/>
                </a:lnTo>
                <a:close/>
              </a:path>
            </a:pathLst>
          </a:custGeom>
          <a:solidFill>
            <a:schemeClr val="accent4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8" name="Фигура">
            <a:extLst>
              <a:ext uri="{FF2B5EF4-FFF2-40B4-BE49-F238E27FC236}">
                <a16:creationId xmlns:a16="http://schemas.microsoft.com/office/drawing/2014/main" id="{9B13F63A-A19F-3C50-7282-A72F12DB1E0B}"/>
              </a:ext>
            </a:extLst>
          </p:cNvPr>
          <p:cNvSpPr/>
          <p:nvPr/>
        </p:nvSpPr>
        <p:spPr>
          <a:xfrm>
            <a:off x="8081871" y="5862170"/>
            <a:ext cx="206970" cy="206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4" h="21583" extrusionOk="0">
                <a:moveTo>
                  <a:pt x="10789" y="0"/>
                </a:moveTo>
                <a:cubicBezTo>
                  <a:pt x="10150" y="0"/>
                  <a:pt x="9511" y="244"/>
                  <a:pt x="9023" y="734"/>
                </a:cubicBezTo>
                <a:cubicBezTo>
                  <a:pt x="8047" y="1712"/>
                  <a:pt x="8047" y="3301"/>
                  <a:pt x="9023" y="4279"/>
                </a:cubicBezTo>
                <a:cubicBezTo>
                  <a:pt x="9999" y="5258"/>
                  <a:pt x="11581" y="5258"/>
                  <a:pt x="12557" y="4279"/>
                </a:cubicBezTo>
                <a:cubicBezTo>
                  <a:pt x="13533" y="3301"/>
                  <a:pt x="13533" y="1712"/>
                  <a:pt x="12557" y="734"/>
                </a:cubicBezTo>
                <a:cubicBezTo>
                  <a:pt x="12069" y="244"/>
                  <a:pt x="11429" y="0"/>
                  <a:pt x="10789" y="0"/>
                </a:cubicBezTo>
                <a:close/>
                <a:moveTo>
                  <a:pt x="7803" y="4886"/>
                </a:moveTo>
                <a:cubicBezTo>
                  <a:pt x="7363" y="5315"/>
                  <a:pt x="7009" y="5823"/>
                  <a:pt x="6758" y="6385"/>
                </a:cubicBezTo>
                <a:cubicBezTo>
                  <a:pt x="6491" y="6983"/>
                  <a:pt x="6347" y="7630"/>
                  <a:pt x="6335" y="8285"/>
                </a:cubicBezTo>
                <a:lnTo>
                  <a:pt x="6335" y="9595"/>
                </a:lnTo>
                <a:cubicBezTo>
                  <a:pt x="6335" y="9719"/>
                  <a:pt x="6374" y="9838"/>
                  <a:pt x="6446" y="9938"/>
                </a:cubicBezTo>
                <a:cubicBezTo>
                  <a:pt x="6556" y="10090"/>
                  <a:pt x="6730" y="10182"/>
                  <a:pt x="6918" y="10185"/>
                </a:cubicBezTo>
                <a:lnTo>
                  <a:pt x="14591" y="10185"/>
                </a:lnTo>
                <a:cubicBezTo>
                  <a:pt x="14794" y="10204"/>
                  <a:pt x="14992" y="10119"/>
                  <a:pt x="15117" y="9958"/>
                </a:cubicBezTo>
                <a:cubicBezTo>
                  <a:pt x="15203" y="9847"/>
                  <a:pt x="15246" y="9709"/>
                  <a:pt x="15239" y="9569"/>
                </a:cubicBezTo>
                <a:lnTo>
                  <a:pt x="15239" y="8392"/>
                </a:lnTo>
                <a:cubicBezTo>
                  <a:pt x="15239" y="7679"/>
                  <a:pt x="15081" y="6975"/>
                  <a:pt x="14778" y="6330"/>
                </a:cubicBezTo>
                <a:cubicBezTo>
                  <a:pt x="14524" y="5788"/>
                  <a:pt x="14171" y="5299"/>
                  <a:pt x="13739" y="4886"/>
                </a:cubicBezTo>
                <a:cubicBezTo>
                  <a:pt x="13007" y="5851"/>
                  <a:pt x="11856" y="6400"/>
                  <a:pt x="10648" y="6361"/>
                </a:cubicBezTo>
                <a:cubicBezTo>
                  <a:pt x="9527" y="6325"/>
                  <a:pt x="8481" y="5783"/>
                  <a:pt x="7803" y="4886"/>
                </a:cubicBezTo>
                <a:close/>
                <a:moveTo>
                  <a:pt x="4455" y="11396"/>
                </a:moveTo>
                <a:cubicBezTo>
                  <a:pt x="3815" y="11396"/>
                  <a:pt x="3176" y="11640"/>
                  <a:pt x="2688" y="12129"/>
                </a:cubicBezTo>
                <a:cubicBezTo>
                  <a:pt x="1713" y="13108"/>
                  <a:pt x="1713" y="14696"/>
                  <a:pt x="2688" y="15675"/>
                </a:cubicBezTo>
                <a:cubicBezTo>
                  <a:pt x="3664" y="16654"/>
                  <a:pt x="5246" y="16654"/>
                  <a:pt x="6222" y="15675"/>
                </a:cubicBezTo>
                <a:cubicBezTo>
                  <a:pt x="7198" y="14696"/>
                  <a:pt x="7198" y="13108"/>
                  <a:pt x="6222" y="12129"/>
                </a:cubicBezTo>
                <a:cubicBezTo>
                  <a:pt x="5734" y="11640"/>
                  <a:pt x="5094" y="11396"/>
                  <a:pt x="4455" y="11396"/>
                </a:cubicBezTo>
                <a:close/>
                <a:moveTo>
                  <a:pt x="17143" y="11396"/>
                </a:moveTo>
                <a:cubicBezTo>
                  <a:pt x="16504" y="11396"/>
                  <a:pt x="15865" y="11640"/>
                  <a:pt x="15377" y="12129"/>
                </a:cubicBezTo>
                <a:cubicBezTo>
                  <a:pt x="14401" y="13108"/>
                  <a:pt x="14401" y="14696"/>
                  <a:pt x="15377" y="15675"/>
                </a:cubicBezTo>
                <a:cubicBezTo>
                  <a:pt x="16353" y="16654"/>
                  <a:pt x="17935" y="16654"/>
                  <a:pt x="18911" y="15675"/>
                </a:cubicBezTo>
                <a:cubicBezTo>
                  <a:pt x="19886" y="14696"/>
                  <a:pt x="19886" y="13108"/>
                  <a:pt x="18911" y="12129"/>
                </a:cubicBezTo>
                <a:cubicBezTo>
                  <a:pt x="18423" y="11640"/>
                  <a:pt x="17783" y="11396"/>
                  <a:pt x="17143" y="11396"/>
                </a:cubicBezTo>
                <a:close/>
                <a:moveTo>
                  <a:pt x="11396" y="11455"/>
                </a:moveTo>
                <a:lnTo>
                  <a:pt x="10155" y="11466"/>
                </a:lnTo>
                <a:lnTo>
                  <a:pt x="10160" y="13083"/>
                </a:lnTo>
                <a:lnTo>
                  <a:pt x="8028" y="15209"/>
                </a:lnTo>
                <a:lnTo>
                  <a:pt x="8835" y="16104"/>
                </a:lnTo>
                <a:lnTo>
                  <a:pt x="10807" y="14204"/>
                </a:lnTo>
                <a:lnTo>
                  <a:pt x="12709" y="16105"/>
                </a:lnTo>
                <a:lnTo>
                  <a:pt x="13581" y="15208"/>
                </a:lnTo>
                <a:lnTo>
                  <a:pt x="11396" y="13048"/>
                </a:lnTo>
                <a:lnTo>
                  <a:pt x="11396" y="11455"/>
                </a:lnTo>
                <a:close/>
                <a:moveTo>
                  <a:pt x="1469" y="16281"/>
                </a:moveTo>
                <a:cubicBezTo>
                  <a:pt x="1028" y="16710"/>
                  <a:pt x="674" y="17219"/>
                  <a:pt x="423" y="17781"/>
                </a:cubicBezTo>
                <a:cubicBezTo>
                  <a:pt x="156" y="18379"/>
                  <a:pt x="12" y="19025"/>
                  <a:pt x="0" y="19681"/>
                </a:cubicBezTo>
                <a:lnTo>
                  <a:pt x="0" y="20991"/>
                </a:lnTo>
                <a:cubicBezTo>
                  <a:pt x="0" y="21114"/>
                  <a:pt x="39" y="21234"/>
                  <a:pt x="111" y="21333"/>
                </a:cubicBezTo>
                <a:cubicBezTo>
                  <a:pt x="221" y="21486"/>
                  <a:pt x="396" y="21578"/>
                  <a:pt x="583" y="21581"/>
                </a:cubicBezTo>
                <a:lnTo>
                  <a:pt x="8256" y="21581"/>
                </a:lnTo>
                <a:cubicBezTo>
                  <a:pt x="8459" y="21600"/>
                  <a:pt x="8657" y="21514"/>
                  <a:pt x="8783" y="21354"/>
                </a:cubicBezTo>
                <a:cubicBezTo>
                  <a:pt x="8869" y="21243"/>
                  <a:pt x="8912" y="21105"/>
                  <a:pt x="8905" y="20965"/>
                </a:cubicBezTo>
                <a:lnTo>
                  <a:pt x="8905" y="19788"/>
                </a:lnTo>
                <a:cubicBezTo>
                  <a:pt x="8904" y="19075"/>
                  <a:pt x="8746" y="18371"/>
                  <a:pt x="8444" y="17726"/>
                </a:cubicBezTo>
                <a:cubicBezTo>
                  <a:pt x="8189" y="17184"/>
                  <a:pt x="7837" y="16694"/>
                  <a:pt x="7404" y="16281"/>
                </a:cubicBezTo>
                <a:cubicBezTo>
                  <a:pt x="6673" y="17246"/>
                  <a:pt x="5522" y="17796"/>
                  <a:pt x="4314" y="17757"/>
                </a:cubicBezTo>
                <a:cubicBezTo>
                  <a:pt x="3192" y="17721"/>
                  <a:pt x="2146" y="17179"/>
                  <a:pt x="1469" y="16281"/>
                </a:cubicBezTo>
                <a:close/>
                <a:moveTo>
                  <a:pt x="14157" y="16281"/>
                </a:moveTo>
                <a:cubicBezTo>
                  <a:pt x="13717" y="16710"/>
                  <a:pt x="13363" y="17219"/>
                  <a:pt x="13112" y="17781"/>
                </a:cubicBezTo>
                <a:cubicBezTo>
                  <a:pt x="12845" y="18379"/>
                  <a:pt x="12700" y="19025"/>
                  <a:pt x="12688" y="19681"/>
                </a:cubicBezTo>
                <a:lnTo>
                  <a:pt x="12688" y="20991"/>
                </a:lnTo>
                <a:cubicBezTo>
                  <a:pt x="12689" y="21114"/>
                  <a:pt x="12728" y="21234"/>
                  <a:pt x="12800" y="21333"/>
                </a:cubicBezTo>
                <a:cubicBezTo>
                  <a:pt x="12910" y="21486"/>
                  <a:pt x="13084" y="21578"/>
                  <a:pt x="13272" y="21581"/>
                </a:cubicBezTo>
                <a:lnTo>
                  <a:pt x="20945" y="21581"/>
                </a:lnTo>
                <a:cubicBezTo>
                  <a:pt x="21147" y="21600"/>
                  <a:pt x="21346" y="21514"/>
                  <a:pt x="21471" y="21354"/>
                </a:cubicBezTo>
                <a:cubicBezTo>
                  <a:pt x="21557" y="21243"/>
                  <a:pt x="21600" y="21105"/>
                  <a:pt x="21593" y="20965"/>
                </a:cubicBezTo>
                <a:lnTo>
                  <a:pt x="21593" y="19788"/>
                </a:lnTo>
                <a:cubicBezTo>
                  <a:pt x="21592" y="19075"/>
                  <a:pt x="21435" y="18371"/>
                  <a:pt x="21132" y="17726"/>
                </a:cubicBezTo>
                <a:cubicBezTo>
                  <a:pt x="20878" y="17184"/>
                  <a:pt x="20525" y="16694"/>
                  <a:pt x="20092" y="16281"/>
                </a:cubicBezTo>
                <a:cubicBezTo>
                  <a:pt x="19361" y="17246"/>
                  <a:pt x="18210" y="17796"/>
                  <a:pt x="17002" y="17757"/>
                </a:cubicBezTo>
                <a:cubicBezTo>
                  <a:pt x="15880" y="17721"/>
                  <a:pt x="14834" y="17179"/>
                  <a:pt x="14157" y="16281"/>
                </a:cubicBezTo>
                <a:close/>
              </a:path>
            </a:pathLst>
          </a:cu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027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69EAD68-6996-0795-C1E4-81D8DB06C5EE}"/>
              </a:ext>
            </a:extLst>
          </p:cNvPr>
          <p:cNvSpPr/>
          <p:nvPr/>
        </p:nvSpPr>
        <p:spPr>
          <a:xfrm>
            <a:off x="1049634" y="4221877"/>
            <a:ext cx="267896" cy="267896"/>
          </a:xfrm>
          <a:prstGeom prst="ellips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014C526-534C-0291-38CA-7641B158FD46}"/>
              </a:ext>
            </a:extLst>
          </p:cNvPr>
          <p:cNvSpPr/>
          <p:nvPr/>
        </p:nvSpPr>
        <p:spPr>
          <a:xfrm>
            <a:off x="4546718" y="4221877"/>
            <a:ext cx="267896" cy="267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2</a:t>
            </a:r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B2C478D-7D08-0BCF-F6F6-DC2BF8222E46}"/>
              </a:ext>
            </a:extLst>
          </p:cNvPr>
          <p:cNvSpPr/>
          <p:nvPr/>
        </p:nvSpPr>
        <p:spPr>
          <a:xfrm>
            <a:off x="8043801" y="4221877"/>
            <a:ext cx="267896" cy="267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3</a:t>
            </a:r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424F336-4375-30B0-27C7-4C26E8CDB701}"/>
              </a:ext>
            </a:extLst>
          </p:cNvPr>
          <p:cNvSpPr/>
          <p:nvPr/>
        </p:nvSpPr>
        <p:spPr>
          <a:xfrm>
            <a:off x="2798176" y="4221877"/>
            <a:ext cx="267896" cy="267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0A0A7B36-9486-7C40-71E0-225857681AF6}"/>
              </a:ext>
            </a:extLst>
          </p:cNvPr>
          <p:cNvSpPr/>
          <p:nvPr/>
        </p:nvSpPr>
        <p:spPr>
          <a:xfrm>
            <a:off x="6295260" y="4221877"/>
            <a:ext cx="267896" cy="26789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37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右 8">
            <a:extLst>
              <a:ext uri="{FF2B5EF4-FFF2-40B4-BE49-F238E27FC236}">
                <a16:creationId xmlns:a16="http://schemas.microsoft.com/office/drawing/2014/main" id="{4BCDC153-C7DE-5407-0B5A-1EDE6034BD4D}"/>
              </a:ext>
            </a:extLst>
          </p:cNvPr>
          <p:cNvSpPr/>
          <p:nvPr/>
        </p:nvSpPr>
        <p:spPr>
          <a:xfrm>
            <a:off x="983955" y="1547094"/>
            <a:ext cx="10224093" cy="117970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05F9FD0-8D12-60EF-CCAC-D78DD482BEF5}"/>
              </a:ext>
            </a:extLst>
          </p:cNvPr>
          <p:cNvSpPr/>
          <p:nvPr/>
        </p:nvSpPr>
        <p:spPr>
          <a:xfrm>
            <a:off x="1856048" y="2075796"/>
            <a:ext cx="795713" cy="7197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43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O1</a:t>
            </a:r>
            <a:endParaRPr lang="zh-CN" altLang="en-US" sz="1843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BEEC3D5-3260-E30B-18FD-B42CF20B50E4}"/>
              </a:ext>
            </a:extLst>
          </p:cNvPr>
          <p:cNvSpPr/>
          <p:nvPr/>
        </p:nvSpPr>
        <p:spPr>
          <a:xfrm>
            <a:off x="5337919" y="2062099"/>
            <a:ext cx="719759" cy="7197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59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O2</a:t>
            </a:r>
            <a:endParaRPr lang="zh-CN" altLang="en-US" sz="1659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FAFF8D1-ADB1-DA49-A6BC-CB510D5A81E9}"/>
              </a:ext>
            </a:extLst>
          </p:cNvPr>
          <p:cNvSpPr/>
          <p:nvPr/>
        </p:nvSpPr>
        <p:spPr>
          <a:xfrm>
            <a:off x="8792775" y="2085621"/>
            <a:ext cx="719759" cy="7197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59" b="1" dirty="0">
                <a:solidFill>
                  <a:schemeClr val="accent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O3</a:t>
            </a:r>
            <a:endParaRPr lang="zh-CN" altLang="en-US" sz="1659" b="1" dirty="0">
              <a:solidFill>
                <a:schemeClr val="accent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77C227-360B-23ED-46E0-8055B9F6F1D8}"/>
              </a:ext>
            </a:extLst>
          </p:cNvPr>
          <p:cNvSpPr/>
          <p:nvPr/>
        </p:nvSpPr>
        <p:spPr>
          <a:xfrm>
            <a:off x="974986" y="5716286"/>
            <a:ext cx="2750095" cy="4587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帮商家决策</a:t>
            </a:r>
            <a:endParaRPr lang="zh-CN" altLang="en-US" sz="129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24C312-3742-1BB4-DE2A-A1F9EEAC38E1}"/>
              </a:ext>
            </a:extLst>
          </p:cNvPr>
          <p:cNvSpPr/>
          <p:nvPr/>
        </p:nvSpPr>
        <p:spPr>
          <a:xfrm>
            <a:off x="4333491" y="5709878"/>
            <a:ext cx="2890269" cy="442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9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通过托管替商家做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3D1F72-4239-B898-35C7-64C1BDCF86C0}"/>
              </a:ext>
            </a:extLst>
          </p:cNvPr>
          <p:cNvSpPr/>
          <p:nvPr/>
        </p:nvSpPr>
        <p:spPr>
          <a:xfrm>
            <a:off x="7823200" y="5709878"/>
            <a:ext cx="2804160" cy="4577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</a:t>
            </a:r>
            <a:r>
              <a:rPr lang="zh-CN" altLang="en-US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商家</a:t>
            </a:r>
            <a:r>
              <a:rPr lang="zh-CN" altLang="zh-CN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反馈</a:t>
            </a:r>
            <a:r>
              <a:rPr lang="zh-CN" altLang="en-US" sz="129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复盘</a:t>
            </a:r>
          </a:p>
        </p:txBody>
      </p:sp>
      <p:sp>
        <p:nvSpPr>
          <p:cNvPr id="17" name="箭头: 下 34">
            <a:extLst>
              <a:ext uri="{FF2B5EF4-FFF2-40B4-BE49-F238E27FC236}">
                <a16:creationId xmlns:a16="http://schemas.microsoft.com/office/drawing/2014/main" id="{C01CD999-499E-8E42-688B-0D7C6287D32C}"/>
              </a:ext>
            </a:extLst>
          </p:cNvPr>
          <p:cNvSpPr/>
          <p:nvPr/>
        </p:nvSpPr>
        <p:spPr>
          <a:xfrm>
            <a:off x="2146650" y="2867913"/>
            <a:ext cx="237390" cy="19889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8" name="箭头: 下 35">
            <a:extLst>
              <a:ext uri="{FF2B5EF4-FFF2-40B4-BE49-F238E27FC236}">
                <a16:creationId xmlns:a16="http://schemas.microsoft.com/office/drawing/2014/main" id="{81BCC9E1-6256-2804-A9AE-1FD4B56F6587}"/>
              </a:ext>
            </a:extLst>
          </p:cNvPr>
          <p:cNvSpPr/>
          <p:nvPr/>
        </p:nvSpPr>
        <p:spPr>
          <a:xfrm>
            <a:off x="5559577" y="2862697"/>
            <a:ext cx="286808" cy="19889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9" name="箭头: 下 36">
            <a:extLst>
              <a:ext uri="{FF2B5EF4-FFF2-40B4-BE49-F238E27FC236}">
                <a16:creationId xmlns:a16="http://schemas.microsoft.com/office/drawing/2014/main" id="{D100E4A6-FA7C-4105-FDAE-CBF737E18F4C}"/>
              </a:ext>
            </a:extLst>
          </p:cNvPr>
          <p:cNvSpPr/>
          <p:nvPr/>
        </p:nvSpPr>
        <p:spPr>
          <a:xfrm>
            <a:off x="9019257" y="2845259"/>
            <a:ext cx="266797" cy="202614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6BF705B-0FF8-9D81-268B-D0946EC823F5}"/>
              </a:ext>
            </a:extLst>
          </p:cNvPr>
          <p:cNvSpPr txBox="1"/>
          <p:nvPr/>
        </p:nvSpPr>
        <p:spPr>
          <a:xfrm>
            <a:off x="983954" y="1272558"/>
            <a:ext cx="6765284" cy="48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58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思考：中小商家的三层痛点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D3E0AE6-B725-41D2-EFF7-F3C8B28DAC85}"/>
              </a:ext>
            </a:extLst>
          </p:cNvPr>
          <p:cNvSpPr txBox="1"/>
          <p:nvPr/>
        </p:nvSpPr>
        <p:spPr>
          <a:xfrm>
            <a:off x="896186" y="546942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灵顺项目｜进一步思考</a:t>
            </a:r>
          </a:p>
        </p:txBody>
      </p:sp>
      <p:cxnSp>
        <p:nvCxnSpPr>
          <p:cNvPr id="32" name="直接连接符 11">
            <a:extLst>
              <a:ext uri="{FF2B5EF4-FFF2-40B4-BE49-F238E27FC236}">
                <a16:creationId xmlns:a16="http://schemas.microsoft.com/office/drawing/2014/main" id="{64B78703-82BF-3E8A-49D5-A82EE5077E24}"/>
              </a:ext>
            </a:extLst>
          </p:cNvPr>
          <p:cNvCxnSpPr>
            <a:cxnSpLocks/>
          </p:cNvCxnSpPr>
          <p:nvPr/>
        </p:nvCxnSpPr>
        <p:spPr>
          <a:xfrm>
            <a:off x="983955" y="979776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A2F9EB3-ABE9-6E49-1A6E-A47D447EA798}"/>
              </a:ext>
            </a:extLst>
          </p:cNvPr>
          <p:cNvSpPr/>
          <p:nvPr/>
        </p:nvSpPr>
        <p:spPr>
          <a:xfrm>
            <a:off x="929890" y="3082034"/>
            <a:ext cx="2804160" cy="25240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1BF330-16B2-5B82-C436-B759A171F700}"/>
              </a:ext>
            </a:extLst>
          </p:cNvPr>
          <p:cNvSpPr/>
          <p:nvPr/>
        </p:nvSpPr>
        <p:spPr>
          <a:xfrm>
            <a:off x="4328161" y="3082033"/>
            <a:ext cx="2895599" cy="2471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8320DF-BE42-2DC4-5141-7B7817744EC7}"/>
              </a:ext>
            </a:extLst>
          </p:cNvPr>
          <p:cNvSpPr/>
          <p:nvPr/>
        </p:nvSpPr>
        <p:spPr>
          <a:xfrm>
            <a:off x="7823200" y="3087753"/>
            <a:ext cx="2804160" cy="25183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C8AEDA5C-6EB1-A648-D1BC-8D04C9C6090F}"/>
              </a:ext>
            </a:extLst>
          </p:cNvPr>
          <p:cNvSpPr/>
          <p:nvPr/>
        </p:nvSpPr>
        <p:spPr>
          <a:xfrm>
            <a:off x="1111379" y="3225936"/>
            <a:ext cx="2465647" cy="2269730"/>
          </a:xfrm>
          <a:prstGeom prst="roundRect">
            <a:avLst>
              <a:gd name="adj" fmla="val 72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AEAADE8-2FEF-B114-F0CD-C35EB4287545}"/>
              </a:ext>
            </a:extLst>
          </p:cNvPr>
          <p:cNvSpPr/>
          <p:nvPr/>
        </p:nvSpPr>
        <p:spPr>
          <a:xfrm>
            <a:off x="4439312" y="3188622"/>
            <a:ext cx="2668976" cy="2258226"/>
          </a:xfrm>
          <a:prstGeom prst="roundRect">
            <a:avLst>
              <a:gd name="adj" fmla="val 72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9BCA7808-1FED-7967-DC4B-6F86D78327F3}"/>
              </a:ext>
            </a:extLst>
          </p:cNvPr>
          <p:cNvSpPr/>
          <p:nvPr/>
        </p:nvSpPr>
        <p:spPr>
          <a:xfrm>
            <a:off x="7962228" y="3231080"/>
            <a:ext cx="2514120" cy="2264586"/>
          </a:xfrm>
          <a:prstGeom prst="roundRect">
            <a:avLst>
              <a:gd name="adj" fmla="val 72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1" name="矩形: 圆角 38">
            <a:extLst>
              <a:ext uri="{FF2B5EF4-FFF2-40B4-BE49-F238E27FC236}">
                <a16:creationId xmlns:a16="http://schemas.microsoft.com/office/drawing/2014/main" id="{B3C0876A-3915-7732-0B65-BC717E73DCB4}"/>
              </a:ext>
            </a:extLst>
          </p:cNvPr>
          <p:cNvSpPr/>
          <p:nvPr/>
        </p:nvSpPr>
        <p:spPr>
          <a:xfrm>
            <a:off x="1252787" y="3345901"/>
            <a:ext cx="2143454" cy="34406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59"/>
              </a:spcBef>
              <a:spcAft>
                <a:spcPts val="1106"/>
              </a:spcAft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方向盲</a:t>
            </a:r>
            <a:endParaRPr lang="zh-CN" altLang="en-US" sz="129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2" name="矩形: 圆角 42">
            <a:extLst>
              <a:ext uri="{FF2B5EF4-FFF2-40B4-BE49-F238E27FC236}">
                <a16:creationId xmlns:a16="http://schemas.microsoft.com/office/drawing/2014/main" id="{B1241C6C-CFAF-F216-52E6-C88644CA214E}"/>
              </a:ext>
            </a:extLst>
          </p:cNvPr>
          <p:cNvSpPr/>
          <p:nvPr/>
        </p:nvSpPr>
        <p:spPr>
          <a:xfrm>
            <a:off x="4621183" y="3346681"/>
            <a:ext cx="2320212" cy="3423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59"/>
              </a:spcBef>
              <a:spcAft>
                <a:spcPts val="1106"/>
              </a:spcAft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执行难</a:t>
            </a:r>
            <a:endParaRPr lang="zh-CN" altLang="en-US" sz="129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3" name="矩形: 圆角 43">
            <a:extLst>
              <a:ext uri="{FF2B5EF4-FFF2-40B4-BE49-F238E27FC236}">
                <a16:creationId xmlns:a16="http://schemas.microsoft.com/office/drawing/2014/main" id="{258B1B1E-308A-DECD-DA74-11FB845CA8B2}"/>
              </a:ext>
            </a:extLst>
          </p:cNvPr>
          <p:cNvSpPr/>
          <p:nvPr/>
        </p:nvSpPr>
        <p:spPr>
          <a:xfrm>
            <a:off x="8122631" y="3346680"/>
            <a:ext cx="2185593" cy="34329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659"/>
              </a:spcBef>
              <a:spcAft>
                <a:spcPts val="1106"/>
              </a:spcAft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反馈缺</a:t>
            </a:r>
            <a:endParaRPr lang="zh-CN" altLang="en-US" sz="129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F360C8B-39A8-69A3-EAAC-F7C91529E54F}"/>
              </a:ext>
            </a:extLst>
          </p:cNvPr>
          <p:cNvSpPr txBox="1"/>
          <p:nvPr/>
        </p:nvSpPr>
        <p:spPr>
          <a:xfrm>
            <a:off x="1177505" y="3781000"/>
            <a:ext cx="2298017" cy="1555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922"/>
              </a:spcAft>
            </a:pP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不知道自己适合做哪个场域：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14.7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万无人运营商家里，泛货架型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57%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基期没发过短视频、日动销≤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件，短视频型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82%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挤在达人行业、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万粉以上只占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26%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，直播型有粉丝基础但缺低成本的持续开播能力。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algn="just">
              <a:spcAft>
                <a:spcPts val="922"/>
              </a:spcAft>
            </a:pP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商家连自己该走直播、短视频还是货架都判断不了，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且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试错成本高。</a:t>
            </a:r>
            <a:endParaRPr lang="zh-CN" altLang="en-US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B1DC26-6B49-8141-EA98-0FAF4D3A315F}"/>
              </a:ext>
            </a:extLst>
          </p:cNvPr>
          <p:cNvSpPr txBox="1"/>
          <p:nvPr/>
        </p:nvSpPr>
        <p:spPr>
          <a:xfrm>
            <a:off x="4703824" y="3833552"/>
            <a:ext cx="2083056" cy="1573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922"/>
              </a:spcAft>
            </a:pP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知道方向也做不好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922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922"/>
              </a:spcAft>
            </a:pP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不会做短视频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AI帮他0到1建挂车行为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922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922"/>
              </a:spcAft>
            </a:pP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直播型不会写话术、做台本</a:t>
            </a: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用TTS、话术生成降门槛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922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922"/>
              </a:spcAft>
            </a:pP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货架型不会介绍产品，</a:t>
            </a:r>
            <a:r>
              <a:rPr lang="en-US" altLang="zh-CN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922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帮助生成产品素材、详情介绍，进行店铺装修打分给出修改建议。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AE761A-7C56-AD76-C7DC-E586343BE4BA}"/>
              </a:ext>
            </a:extLst>
          </p:cNvPr>
          <p:cNvSpPr txBox="1"/>
          <p:nvPr/>
        </p:nvSpPr>
        <p:spPr>
          <a:xfrm>
            <a:off x="8105083" y="3851928"/>
            <a:ext cx="2343194" cy="12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922"/>
              </a:spcAft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做了看不到效果，没人告诉他好不好、差在哪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922"/>
              </a:spcAft>
            </a:pP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这批商家是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无人运营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的，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天没被企微联系、没访问过商家</a:t>
            </a:r>
            <a:r>
              <a:rPr lang="en-US" altLang="zh-CN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360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，白努力了看不到反馈，就放弃了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  <a:endParaRPr lang="en-US" altLang="zh-CN" sz="922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740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E3020-F968-88C7-4B29-16E5760A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>
            <a:extLst>
              <a:ext uri="{FF2B5EF4-FFF2-40B4-BE49-F238E27FC236}">
                <a16:creationId xmlns:a16="http://schemas.microsoft.com/office/drawing/2014/main" id="{3E801D45-06E8-FB66-3CE7-5CC633F18111}"/>
              </a:ext>
            </a:extLst>
          </p:cNvPr>
          <p:cNvSpPr txBox="1"/>
          <p:nvPr/>
        </p:nvSpPr>
        <p:spPr>
          <a:xfrm>
            <a:off x="896186" y="546942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主要工作任务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3D31746-17A0-FD17-4162-178DEA74B5A4}"/>
              </a:ext>
            </a:extLst>
          </p:cNvPr>
          <p:cNvCxnSpPr/>
          <p:nvPr/>
        </p:nvCxnSpPr>
        <p:spPr>
          <a:xfrm>
            <a:off x="983955" y="979776"/>
            <a:ext cx="1022409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7">
            <a:extLst>
              <a:ext uri="{FF2B5EF4-FFF2-40B4-BE49-F238E27FC236}">
                <a16:creationId xmlns:a16="http://schemas.microsoft.com/office/drawing/2014/main" id="{F5CC4954-58A5-47F3-6E46-92CC7D7B8A9F}"/>
              </a:ext>
            </a:extLst>
          </p:cNvPr>
          <p:cNvSpPr/>
          <p:nvPr/>
        </p:nvSpPr>
        <p:spPr>
          <a:xfrm>
            <a:off x="1329680" y="2896972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Q2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1D7D4FEE-F7A9-88FD-41B0-9D9618ABAFDD}"/>
              </a:ext>
            </a:extLst>
          </p:cNvPr>
          <p:cNvSpPr/>
          <p:nvPr/>
        </p:nvSpPr>
        <p:spPr>
          <a:xfrm>
            <a:off x="2382985" y="2661031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项目二：AI Agent 分析自动化</a:t>
            </a:r>
          </a:p>
          <a:p>
            <a:pPr algn="l">
              <a:lnSpc>
                <a:spcPct val="115000"/>
              </a:lnSpc>
            </a:pP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高频场景Skill化 · 防错校验机制</a:t>
            </a:r>
          </a:p>
          <a:p>
            <a:pPr algn="l">
              <a:lnSpc>
                <a:spcPct val="115000"/>
              </a:lnSpc>
            </a:pPr>
            <a:r>
              <a:rPr sz="1152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产出：</a:t>
            </a:r>
            <a:r>
              <a:rPr sz="1152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单次复盘从 3-4 小时压缩到 25 分钟</a:t>
            </a:r>
          </a:p>
        </p:txBody>
      </p:sp>
    </p:spTree>
    <p:extLst>
      <p:ext uri="{BB962C8B-B14F-4D97-AF65-F5344CB8AC3E}">
        <p14:creationId xmlns:p14="http://schemas.microsoft.com/office/powerpoint/2010/main" val="398082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7F0155A0-BC5E-45F1-87A2-F5182BE40DD8}"/>
              </a:ext>
            </a:extLst>
          </p:cNvPr>
          <p:cNvSpPr/>
          <p:nvPr/>
        </p:nvSpPr>
        <p:spPr>
          <a:xfrm>
            <a:off x="1522626" y="3060008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5118AEA-1A59-4528-A89E-98B8AE9CC554}"/>
              </a:ext>
            </a:extLst>
          </p:cNvPr>
          <p:cNvSpPr/>
          <p:nvPr/>
        </p:nvSpPr>
        <p:spPr>
          <a:xfrm>
            <a:off x="3735906" y="3060008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5A1B101-8472-49DC-A33B-940B6D3A28DD}"/>
              </a:ext>
            </a:extLst>
          </p:cNvPr>
          <p:cNvSpPr/>
          <p:nvPr/>
        </p:nvSpPr>
        <p:spPr>
          <a:xfrm>
            <a:off x="5940460" y="3060008"/>
            <a:ext cx="536869" cy="1328452"/>
          </a:xfrm>
          <a:custGeom>
            <a:avLst/>
            <a:gdLst>
              <a:gd name="connsiteX0" fmla="*/ 581406 w 581406"/>
              <a:gd name="connsiteY0" fmla="*/ 275844 h 1438655"/>
              <a:gd name="connsiteX1" fmla="*/ 581406 w 581406"/>
              <a:gd name="connsiteY1" fmla="*/ 1162812 h 1438655"/>
              <a:gd name="connsiteX2" fmla="*/ 305562 w 581406"/>
              <a:gd name="connsiteY2" fmla="*/ 1438656 h 1438655"/>
              <a:gd name="connsiteX3" fmla="*/ 275844 w 581406"/>
              <a:gd name="connsiteY3" fmla="*/ 1438656 h 1438655"/>
              <a:gd name="connsiteX4" fmla="*/ 0 w 581406"/>
              <a:gd name="connsiteY4" fmla="*/ 1162812 h 1438655"/>
              <a:gd name="connsiteX5" fmla="*/ 0 w 581406"/>
              <a:gd name="connsiteY5" fmla="*/ 275844 h 1438655"/>
              <a:gd name="connsiteX6" fmla="*/ 275844 w 581406"/>
              <a:gd name="connsiteY6" fmla="*/ 0 h 1438655"/>
              <a:gd name="connsiteX7" fmla="*/ 305562 w 581406"/>
              <a:gd name="connsiteY7" fmla="*/ 0 h 1438655"/>
              <a:gd name="connsiteX8" fmla="*/ 581406 w 581406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6" h="1438655">
                <a:moveTo>
                  <a:pt x="581406" y="275844"/>
                </a:moveTo>
                <a:lnTo>
                  <a:pt x="581406" y="1162812"/>
                </a:lnTo>
                <a:cubicBezTo>
                  <a:pt x="581406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6" y="123444"/>
                  <a:pt x="581406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ACDEF2EF-79B9-4ABB-ADEE-F3B820F4409A}"/>
              </a:ext>
            </a:extLst>
          </p:cNvPr>
          <p:cNvSpPr/>
          <p:nvPr/>
        </p:nvSpPr>
        <p:spPr>
          <a:xfrm>
            <a:off x="8148005" y="3060008"/>
            <a:ext cx="536868" cy="1328452"/>
          </a:xfrm>
          <a:custGeom>
            <a:avLst/>
            <a:gdLst>
              <a:gd name="connsiteX0" fmla="*/ 581405 w 581405"/>
              <a:gd name="connsiteY0" fmla="*/ 275844 h 1438655"/>
              <a:gd name="connsiteX1" fmla="*/ 581405 w 581405"/>
              <a:gd name="connsiteY1" fmla="*/ 1162812 h 1438655"/>
              <a:gd name="connsiteX2" fmla="*/ 305562 w 581405"/>
              <a:gd name="connsiteY2" fmla="*/ 1438656 h 1438655"/>
              <a:gd name="connsiteX3" fmla="*/ 275844 w 581405"/>
              <a:gd name="connsiteY3" fmla="*/ 1438656 h 1438655"/>
              <a:gd name="connsiteX4" fmla="*/ 0 w 581405"/>
              <a:gd name="connsiteY4" fmla="*/ 1162812 h 1438655"/>
              <a:gd name="connsiteX5" fmla="*/ 0 w 581405"/>
              <a:gd name="connsiteY5" fmla="*/ 275844 h 1438655"/>
              <a:gd name="connsiteX6" fmla="*/ 275844 w 581405"/>
              <a:gd name="connsiteY6" fmla="*/ 0 h 1438655"/>
              <a:gd name="connsiteX7" fmla="*/ 305562 w 581405"/>
              <a:gd name="connsiteY7" fmla="*/ 0 h 1438655"/>
              <a:gd name="connsiteX8" fmla="*/ 581405 w 581405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405" h="1438655">
                <a:moveTo>
                  <a:pt x="581405" y="275844"/>
                </a:moveTo>
                <a:lnTo>
                  <a:pt x="581405" y="1162812"/>
                </a:lnTo>
                <a:cubicBezTo>
                  <a:pt x="581405" y="1315212"/>
                  <a:pt x="457962" y="1438656"/>
                  <a:pt x="305562" y="1438656"/>
                </a:cubicBezTo>
                <a:lnTo>
                  <a:pt x="275844" y="1438656"/>
                </a:lnTo>
                <a:cubicBezTo>
                  <a:pt x="123444" y="1438656"/>
                  <a:pt x="0" y="1315212"/>
                  <a:pt x="0" y="1162812"/>
                </a:cubicBezTo>
                <a:lnTo>
                  <a:pt x="0" y="275844"/>
                </a:lnTo>
                <a:cubicBezTo>
                  <a:pt x="0" y="123444"/>
                  <a:pt x="123444" y="0"/>
                  <a:pt x="275844" y="0"/>
                </a:cubicBezTo>
                <a:lnTo>
                  <a:pt x="305562" y="0"/>
                </a:lnTo>
                <a:cubicBezTo>
                  <a:pt x="457962" y="0"/>
                  <a:pt x="581405" y="123444"/>
                  <a:pt x="581405" y="275844"/>
                </a:cubicBezTo>
                <a:close/>
              </a:path>
            </a:pathLst>
          </a:custGeom>
          <a:solidFill>
            <a:schemeClr val="bg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A46D6CC-26E2-4E32-B64D-3FB0FC03AF29}"/>
              </a:ext>
            </a:extLst>
          </p:cNvPr>
          <p:cNvSpPr/>
          <p:nvPr/>
        </p:nvSpPr>
        <p:spPr>
          <a:xfrm>
            <a:off x="1734059" y="1887762"/>
            <a:ext cx="70363" cy="70363"/>
          </a:xfrm>
          <a:custGeom>
            <a:avLst/>
            <a:gdLst>
              <a:gd name="connsiteX0" fmla="*/ 76200 w 76200"/>
              <a:gd name="connsiteY0" fmla="*/ 38100 h 76200"/>
              <a:gd name="connsiteX1" fmla="*/ 38100 w 76200"/>
              <a:gd name="connsiteY1" fmla="*/ 76200 h 76200"/>
              <a:gd name="connsiteX2" fmla="*/ 0 w 76200"/>
              <a:gd name="connsiteY2" fmla="*/ 38100 h 76200"/>
              <a:gd name="connsiteX3" fmla="*/ 38100 w 76200"/>
              <a:gd name="connsiteY3" fmla="*/ 0 h 76200"/>
              <a:gd name="connsiteX4" fmla="*/ 76200 w 76200"/>
              <a:gd name="connsiteY4" fmla="*/ 381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579F70B-886C-4BF9-A3FA-A6BBDEFE4850}"/>
              </a:ext>
            </a:extLst>
          </p:cNvPr>
          <p:cNvSpPr/>
          <p:nvPr/>
        </p:nvSpPr>
        <p:spPr>
          <a:xfrm>
            <a:off x="1896948" y="1222070"/>
            <a:ext cx="1749223" cy="334927"/>
          </a:xfrm>
          <a:custGeom>
            <a:avLst/>
            <a:gdLst>
              <a:gd name="connsiteX0" fmla="*/ 1712976 w 1894331"/>
              <a:gd name="connsiteY0" fmla="*/ 362712 h 362712"/>
              <a:gd name="connsiteX1" fmla="*/ 181356 w 1894331"/>
              <a:gd name="connsiteY1" fmla="*/ 362712 h 362712"/>
              <a:gd name="connsiteX2" fmla="*/ 0 w 1894331"/>
              <a:gd name="connsiteY2" fmla="*/ 181356 h 362712"/>
              <a:gd name="connsiteX3" fmla="*/ 0 w 1894331"/>
              <a:gd name="connsiteY3" fmla="*/ 181356 h 362712"/>
              <a:gd name="connsiteX4" fmla="*/ 181356 w 1894331"/>
              <a:gd name="connsiteY4" fmla="*/ 0 h 362712"/>
              <a:gd name="connsiteX5" fmla="*/ 1712976 w 1894331"/>
              <a:gd name="connsiteY5" fmla="*/ 0 h 362712"/>
              <a:gd name="connsiteX6" fmla="*/ 1894332 w 1894331"/>
              <a:gd name="connsiteY6" fmla="*/ 181356 h 362712"/>
              <a:gd name="connsiteX7" fmla="*/ 1894332 w 1894331"/>
              <a:gd name="connsiteY7" fmla="*/ 181356 h 362712"/>
              <a:gd name="connsiteX8" fmla="*/ 1712976 w 1894331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1" h="362712">
                <a:moveTo>
                  <a:pt x="1712976" y="362712"/>
                </a:moveTo>
                <a:lnTo>
                  <a:pt x="181356" y="362712"/>
                </a:lnTo>
                <a:cubicBezTo>
                  <a:pt x="81534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4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2" y="81534"/>
                  <a:pt x="1894332" y="181356"/>
                </a:cubicBezTo>
                <a:lnTo>
                  <a:pt x="1894332" y="181356"/>
                </a:lnTo>
                <a:cubicBezTo>
                  <a:pt x="1894332" y="281940"/>
                  <a:pt x="1813560" y="362712"/>
                  <a:pt x="1712976" y="362712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当前痛点</a:t>
            </a: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A9FB32B5-4DD6-4CDB-A9DF-E7408AC44D4E}"/>
              </a:ext>
            </a:extLst>
          </p:cNvPr>
          <p:cNvSpPr/>
          <p:nvPr/>
        </p:nvSpPr>
        <p:spPr>
          <a:xfrm>
            <a:off x="1814058" y="4984176"/>
            <a:ext cx="1159731" cy="334927"/>
          </a:xfrm>
          <a:custGeom>
            <a:avLst/>
            <a:gdLst>
              <a:gd name="connsiteX0" fmla="*/ 1712976 w 1894332"/>
              <a:gd name="connsiteY0" fmla="*/ 362712 h 362712"/>
              <a:gd name="connsiteX1" fmla="*/ 181356 w 1894332"/>
              <a:gd name="connsiteY1" fmla="*/ 362712 h 362712"/>
              <a:gd name="connsiteX2" fmla="*/ 0 w 1894332"/>
              <a:gd name="connsiteY2" fmla="*/ 181356 h 362712"/>
              <a:gd name="connsiteX3" fmla="*/ 0 w 1894332"/>
              <a:gd name="connsiteY3" fmla="*/ 181356 h 362712"/>
              <a:gd name="connsiteX4" fmla="*/ 181356 w 1894332"/>
              <a:gd name="connsiteY4" fmla="*/ 0 h 362712"/>
              <a:gd name="connsiteX5" fmla="*/ 1712976 w 1894332"/>
              <a:gd name="connsiteY5" fmla="*/ 0 h 362712"/>
              <a:gd name="connsiteX6" fmla="*/ 1894333 w 1894332"/>
              <a:gd name="connsiteY6" fmla="*/ 181356 h 362712"/>
              <a:gd name="connsiteX7" fmla="*/ 1894333 w 1894332"/>
              <a:gd name="connsiteY7" fmla="*/ 181356 h 362712"/>
              <a:gd name="connsiteX8" fmla="*/ 1712976 w 1894332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2" h="362712">
                <a:moveTo>
                  <a:pt x="1712976" y="362712"/>
                </a:moveTo>
                <a:lnTo>
                  <a:pt x="181356" y="362712"/>
                </a:lnTo>
                <a:cubicBezTo>
                  <a:pt x="81535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5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3" y="81534"/>
                  <a:pt x="1894333" y="181356"/>
                </a:cubicBezTo>
                <a:lnTo>
                  <a:pt x="1894333" y="181356"/>
                </a:lnTo>
                <a:cubicBezTo>
                  <a:pt x="1894333" y="281178"/>
                  <a:pt x="1812798" y="362712"/>
                  <a:pt x="1712976" y="362712"/>
                </a:cubicBezTo>
                <a:close/>
              </a:path>
            </a:pathLst>
          </a:custGeom>
          <a:solidFill>
            <a:schemeClr val="accent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最终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9DCF6D0A-1343-4793-93FA-D7A529994C2C}"/>
              </a:ext>
            </a:extLst>
          </p:cNvPr>
          <p:cNvSpPr/>
          <p:nvPr/>
        </p:nvSpPr>
        <p:spPr>
          <a:xfrm>
            <a:off x="6157076" y="1887762"/>
            <a:ext cx="70363" cy="70363"/>
          </a:xfrm>
          <a:custGeom>
            <a:avLst/>
            <a:gdLst>
              <a:gd name="connsiteX0" fmla="*/ 76200 w 76200"/>
              <a:gd name="connsiteY0" fmla="*/ 38100 h 76200"/>
              <a:gd name="connsiteX1" fmla="*/ 38100 w 76200"/>
              <a:gd name="connsiteY1" fmla="*/ 76200 h 76200"/>
              <a:gd name="connsiteX2" fmla="*/ 0 w 76200"/>
              <a:gd name="connsiteY2" fmla="*/ 38100 h 76200"/>
              <a:gd name="connsiteX3" fmla="*/ 38100 w 76200"/>
              <a:gd name="connsiteY3" fmla="*/ 0 h 76200"/>
              <a:gd name="connsiteX4" fmla="*/ 76200 w 76200"/>
              <a:gd name="connsiteY4" fmla="*/ 381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00" h="76200">
                <a:moveTo>
                  <a:pt x="76200" y="38100"/>
                </a:moveTo>
                <a:cubicBezTo>
                  <a:pt x="76200" y="59142"/>
                  <a:pt x="59142" y="76200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DF1160E0-1415-4E76-A920-658E89EF387C}"/>
              </a:ext>
            </a:extLst>
          </p:cNvPr>
          <p:cNvSpPr/>
          <p:nvPr/>
        </p:nvSpPr>
        <p:spPr>
          <a:xfrm>
            <a:off x="6192257" y="1253087"/>
            <a:ext cx="1749223" cy="334927"/>
          </a:xfrm>
          <a:custGeom>
            <a:avLst/>
            <a:gdLst>
              <a:gd name="connsiteX0" fmla="*/ 1712976 w 1894331"/>
              <a:gd name="connsiteY0" fmla="*/ 362712 h 362712"/>
              <a:gd name="connsiteX1" fmla="*/ 181356 w 1894331"/>
              <a:gd name="connsiteY1" fmla="*/ 362712 h 362712"/>
              <a:gd name="connsiteX2" fmla="*/ 0 w 1894331"/>
              <a:gd name="connsiteY2" fmla="*/ 181356 h 362712"/>
              <a:gd name="connsiteX3" fmla="*/ 0 w 1894331"/>
              <a:gd name="connsiteY3" fmla="*/ 181356 h 362712"/>
              <a:gd name="connsiteX4" fmla="*/ 181356 w 1894331"/>
              <a:gd name="connsiteY4" fmla="*/ 0 h 362712"/>
              <a:gd name="connsiteX5" fmla="*/ 1712976 w 1894331"/>
              <a:gd name="connsiteY5" fmla="*/ 0 h 362712"/>
              <a:gd name="connsiteX6" fmla="*/ 1894332 w 1894331"/>
              <a:gd name="connsiteY6" fmla="*/ 181356 h 362712"/>
              <a:gd name="connsiteX7" fmla="*/ 1894332 w 1894331"/>
              <a:gd name="connsiteY7" fmla="*/ 181356 h 362712"/>
              <a:gd name="connsiteX8" fmla="*/ 1712976 w 1894331"/>
              <a:gd name="connsiteY8" fmla="*/ 362712 h 3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4331" h="362712">
                <a:moveTo>
                  <a:pt x="1712976" y="362712"/>
                </a:moveTo>
                <a:lnTo>
                  <a:pt x="181356" y="362712"/>
                </a:lnTo>
                <a:cubicBezTo>
                  <a:pt x="81534" y="362712"/>
                  <a:pt x="0" y="281178"/>
                  <a:pt x="0" y="181356"/>
                </a:cubicBezTo>
                <a:lnTo>
                  <a:pt x="0" y="181356"/>
                </a:lnTo>
                <a:cubicBezTo>
                  <a:pt x="0" y="81534"/>
                  <a:pt x="81534" y="0"/>
                  <a:pt x="181356" y="0"/>
                </a:cubicBezTo>
                <a:lnTo>
                  <a:pt x="1712976" y="0"/>
                </a:lnTo>
                <a:cubicBezTo>
                  <a:pt x="1812798" y="0"/>
                  <a:pt x="1894332" y="81534"/>
                  <a:pt x="1894332" y="181356"/>
                </a:cubicBezTo>
                <a:lnTo>
                  <a:pt x="1894332" y="181356"/>
                </a:lnTo>
                <a:cubicBezTo>
                  <a:pt x="1894332" y="281940"/>
                  <a:pt x="1812798" y="362712"/>
                  <a:pt x="1712976" y="362712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1106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解决方案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FA9AB9C-0CCF-B763-8FC2-2532C112A967}"/>
              </a:ext>
            </a:extLst>
          </p:cNvPr>
          <p:cNvSpPr txBox="1"/>
          <p:nvPr/>
        </p:nvSpPr>
        <p:spPr>
          <a:xfrm>
            <a:off x="1825323" y="1758459"/>
            <a:ext cx="3786469" cy="705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复盘类报告单次产出要</a:t>
            </a:r>
            <a:r>
              <a:rPr lang="en-US" altLang="zh-CN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3-4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小时，而且周报、日报、大促日报每周每月都要重复出；不同人产出的格式和口径常不统一，每次都要提前对齐。这类有固定分析框架的高频工作，本质是重复劳动。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A8055BE-2795-9666-4A50-42C8D935FC20}"/>
              </a:ext>
            </a:extLst>
          </p:cNvPr>
          <p:cNvSpPr txBox="1"/>
          <p:nvPr/>
        </p:nvSpPr>
        <p:spPr>
          <a:xfrm>
            <a:off x="6275681" y="1757178"/>
            <a:ext cx="3786469" cy="495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en" altLang="zh-CN" sz="922" dirty="0" err="1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DataAgent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" altLang="zh-CN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Skill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机制，把取数→算贡献度→可视化的链路固化成</a:t>
            </a:r>
            <a:r>
              <a:rPr lang="en" altLang="zh-CN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Skill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执行时输入数据周期就能自动跑，把重复的取数分析交给</a:t>
            </a:r>
            <a:r>
              <a:rPr lang="en" altLang="zh-CN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</a:t>
            </a:r>
            <a:r>
              <a:rPr lang="zh-CN" altLang="en-US" sz="922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846488A-4F53-7846-F119-C5443AF9D251}"/>
              </a:ext>
            </a:extLst>
          </p:cNvPr>
          <p:cNvSpPr txBox="1"/>
          <p:nvPr/>
        </p:nvSpPr>
        <p:spPr>
          <a:xfrm>
            <a:off x="3485883" y="4864806"/>
            <a:ext cx="7297751" cy="120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1.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 梳理高频场景：选出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6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个有固定分析框架的场景做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Skill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化</a:t>
            </a:r>
            <a:r>
              <a:rPr lang="zh-CN" altLang="en-US" sz="922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勤奋度圈选周报、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818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日报、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WBR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周报、目标测算、大促达成率、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DAC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分析； </a:t>
            </a:r>
            <a:endParaRPr lang="en-US" altLang="zh-CN" sz="922" b="1" dirty="0">
              <a:solidFill>
                <a:srgbClr val="24292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2.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 沉淀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Skill</a:t>
            </a:r>
            <a:r>
              <a:rPr lang="zh-CN" altLang="e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心得：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例如数据来源提取、口径定义、输出格式、需关注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注意力衰减问题，单个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skill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不要超过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400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行，需要进行格式和数据准确性调准等； </a:t>
            </a:r>
            <a:endParaRPr lang="en-US" altLang="zh-CN" sz="922" b="1" dirty="0">
              <a:solidFill>
                <a:srgbClr val="24292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  <a:p>
            <a:pPr algn="just">
              <a:lnSpc>
                <a:spcPct val="150000"/>
              </a:lnSpc>
              <a:spcAft>
                <a:spcPts val="1106"/>
              </a:spcAft>
            </a:pP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3. 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建立校验机制：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自查</a:t>
            </a:r>
            <a:r>
              <a:rPr lang="en-US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+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人工抽检，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GMV</a:t>
            </a:r>
            <a:r>
              <a:rPr lang="zh-CN" altLang="e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、</a:t>
            </a:r>
            <a:r>
              <a:rPr lang="zh-CN" altLang="en-US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消耗这类关键指标每次肉眼抽查，发现过幻觉数据就回写规则、持续更新</a:t>
            </a:r>
            <a:r>
              <a:rPr lang="en" altLang="zh-C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Skill</a:t>
            </a:r>
            <a:r>
              <a:rPr lang="zh-CN" altLang="en" sz="922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。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963218D3-2EFF-CA63-1389-776E7E435C77}"/>
              </a:ext>
            </a:extLst>
          </p:cNvPr>
          <p:cNvSpPr/>
          <p:nvPr/>
        </p:nvSpPr>
        <p:spPr>
          <a:xfrm>
            <a:off x="3307743" y="4785423"/>
            <a:ext cx="7808180" cy="1384546"/>
          </a:xfrm>
          <a:prstGeom prst="roundRect">
            <a:avLst>
              <a:gd name="adj" fmla="val 9672"/>
            </a:avLst>
          </a:prstGeom>
          <a:noFill/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A045895-4CCC-4976-A3AA-86FF145A1113}"/>
              </a:ext>
            </a:extLst>
          </p:cNvPr>
          <p:cNvSpPr txBox="1"/>
          <p:nvPr/>
        </p:nvSpPr>
        <p:spPr>
          <a:xfrm>
            <a:off x="888811" y="554018"/>
            <a:ext cx="7098443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anose="00020600040101010101" pitchFamily="18" charset="-122"/>
              </a:rPr>
              <a:t> </a:t>
            </a:r>
            <a:r>
              <a:rPr lang="en-US" altLang="zh-CN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anose="00020600040101010101" pitchFamily="18" charset="-122"/>
              </a:rPr>
              <a:t>AI Agent</a:t>
            </a:r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自动化｜工作总结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C1875F2-0D3B-4DEC-B6AD-E1F0AFD11D0A}"/>
              </a:ext>
            </a:extLst>
          </p:cNvPr>
          <p:cNvCxnSpPr/>
          <p:nvPr/>
        </p:nvCxnSpPr>
        <p:spPr>
          <a:xfrm>
            <a:off x="983955" y="979776"/>
            <a:ext cx="1022409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形状 5">
            <a:extLst>
              <a:ext uri="{FF2B5EF4-FFF2-40B4-BE49-F238E27FC236}">
                <a16:creationId xmlns:a16="http://schemas.microsoft.com/office/drawing/2014/main" id="{B6ABAC4B-F3AA-5755-3564-B826794C4786}"/>
              </a:ext>
            </a:extLst>
          </p:cNvPr>
          <p:cNvSpPr/>
          <p:nvPr/>
        </p:nvSpPr>
        <p:spPr>
          <a:xfrm rot="5400000">
            <a:off x="5473880" y="-1834906"/>
            <a:ext cx="1127256" cy="11118280"/>
          </a:xfrm>
          <a:custGeom>
            <a:avLst/>
            <a:gdLst>
              <a:gd name="connsiteX0" fmla="*/ 0 w 1223247"/>
              <a:gd name="connsiteY0" fmla="*/ 600797 h 12065051"/>
              <a:gd name="connsiteX1" fmla="*/ 611624 w 1223247"/>
              <a:gd name="connsiteY1" fmla="*/ 0 h 12065051"/>
              <a:gd name="connsiteX2" fmla="*/ 1223247 w 1223247"/>
              <a:gd name="connsiteY2" fmla="*/ 600797 h 12065051"/>
              <a:gd name="connsiteX3" fmla="*/ 936896 w 1223247"/>
              <a:gd name="connsiteY3" fmla="*/ 600797 h 12065051"/>
              <a:gd name="connsiteX4" fmla="*/ 936896 w 1223247"/>
              <a:gd name="connsiteY4" fmla="*/ 12065051 h 12065051"/>
              <a:gd name="connsiteX5" fmla="*/ 287117 w 1223247"/>
              <a:gd name="connsiteY5" fmla="*/ 12065051 h 12065051"/>
              <a:gd name="connsiteX6" fmla="*/ 287117 w 1223247"/>
              <a:gd name="connsiteY6" fmla="*/ 600797 h 12065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3247" h="12065051">
                <a:moveTo>
                  <a:pt x="0" y="600797"/>
                </a:moveTo>
                <a:lnTo>
                  <a:pt x="611624" y="0"/>
                </a:lnTo>
                <a:lnTo>
                  <a:pt x="1223247" y="600797"/>
                </a:lnTo>
                <a:lnTo>
                  <a:pt x="936896" y="600797"/>
                </a:lnTo>
                <a:lnTo>
                  <a:pt x="936896" y="12065051"/>
                </a:lnTo>
                <a:lnTo>
                  <a:pt x="287117" y="12065051"/>
                </a:lnTo>
                <a:lnTo>
                  <a:pt x="287117" y="600797"/>
                </a:lnTo>
                <a:close/>
              </a:path>
            </a:pathLst>
          </a:custGeom>
          <a:gradFill>
            <a:gsLst>
              <a:gs pos="1000">
                <a:schemeClr val="accent1">
                  <a:alpha val="29839"/>
                </a:schemeClr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FDC44001-76D4-4C50-A8EE-98F65BD6DAFF}"/>
              </a:ext>
            </a:extLst>
          </p:cNvPr>
          <p:cNvSpPr/>
          <p:nvPr/>
        </p:nvSpPr>
        <p:spPr>
          <a:xfrm>
            <a:off x="1796680" y="3060008"/>
            <a:ext cx="1737262" cy="1328452"/>
          </a:xfrm>
          <a:custGeom>
            <a:avLst/>
            <a:gdLst>
              <a:gd name="connsiteX0" fmla="*/ 1881378 w 1881378"/>
              <a:gd name="connsiteY0" fmla="*/ 275844 h 1438655"/>
              <a:gd name="connsiteX1" fmla="*/ 1881378 w 1881378"/>
              <a:gd name="connsiteY1" fmla="*/ 1162812 h 1438655"/>
              <a:gd name="connsiteX2" fmla="*/ 1605534 w 1881378"/>
              <a:gd name="connsiteY2" fmla="*/ 1438656 h 1438655"/>
              <a:gd name="connsiteX3" fmla="*/ 0 w 1881378"/>
              <a:gd name="connsiteY3" fmla="*/ 1438656 h 1438655"/>
              <a:gd name="connsiteX4" fmla="*/ 275844 w 1881378"/>
              <a:gd name="connsiteY4" fmla="*/ 1162812 h 1438655"/>
              <a:gd name="connsiteX5" fmla="*/ 275844 w 1881378"/>
              <a:gd name="connsiteY5" fmla="*/ 275844 h 1438655"/>
              <a:gd name="connsiteX6" fmla="*/ 0 w 1881378"/>
              <a:gd name="connsiteY6" fmla="*/ 0 h 1438655"/>
              <a:gd name="connsiteX7" fmla="*/ 1605534 w 1881378"/>
              <a:gd name="connsiteY7" fmla="*/ 0 h 1438655"/>
              <a:gd name="connsiteX8" fmla="*/ 1881378 w 1881378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8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1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845E894F-07F4-478A-AECA-1B2399C8DD98}"/>
              </a:ext>
            </a:extLst>
          </p:cNvPr>
          <p:cNvSpPr/>
          <p:nvPr/>
        </p:nvSpPr>
        <p:spPr>
          <a:xfrm>
            <a:off x="4001857" y="3060008"/>
            <a:ext cx="1737261" cy="1328452"/>
          </a:xfrm>
          <a:custGeom>
            <a:avLst/>
            <a:gdLst>
              <a:gd name="connsiteX0" fmla="*/ 1881378 w 1881377"/>
              <a:gd name="connsiteY0" fmla="*/ 275844 h 1438655"/>
              <a:gd name="connsiteX1" fmla="*/ 1881378 w 1881377"/>
              <a:gd name="connsiteY1" fmla="*/ 1162812 h 1438655"/>
              <a:gd name="connsiteX2" fmla="*/ 1605534 w 1881377"/>
              <a:gd name="connsiteY2" fmla="*/ 1438656 h 1438655"/>
              <a:gd name="connsiteX3" fmla="*/ 0 w 1881377"/>
              <a:gd name="connsiteY3" fmla="*/ 1438656 h 1438655"/>
              <a:gd name="connsiteX4" fmla="*/ 275844 w 1881377"/>
              <a:gd name="connsiteY4" fmla="*/ 1162812 h 1438655"/>
              <a:gd name="connsiteX5" fmla="*/ 275844 w 1881377"/>
              <a:gd name="connsiteY5" fmla="*/ 275844 h 1438655"/>
              <a:gd name="connsiteX6" fmla="*/ 0 w 1881377"/>
              <a:gd name="connsiteY6" fmla="*/ 0 h 1438655"/>
              <a:gd name="connsiteX7" fmla="*/ 1605534 w 1881377"/>
              <a:gd name="connsiteY7" fmla="*/ 0 h 1438655"/>
              <a:gd name="connsiteX8" fmla="*/ 1881378 w 1881377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7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172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2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FBB877-75C0-4B41-9D1D-E42D81539E2B}"/>
              </a:ext>
            </a:extLst>
          </p:cNvPr>
          <p:cNvSpPr/>
          <p:nvPr/>
        </p:nvSpPr>
        <p:spPr>
          <a:xfrm>
            <a:off x="6204219" y="3060008"/>
            <a:ext cx="1737261" cy="1328452"/>
          </a:xfrm>
          <a:custGeom>
            <a:avLst/>
            <a:gdLst>
              <a:gd name="connsiteX0" fmla="*/ 1881378 w 1881377"/>
              <a:gd name="connsiteY0" fmla="*/ 275844 h 1438655"/>
              <a:gd name="connsiteX1" fmla="*/ 1881378 w 1881377"/>
              <a:gd name="connsiteY1" fmla="*/ 1162812 h 1438655"/>
              <a:gd name="connsiteX2" fmla="*/ 1605534 w 1881377"/>
              <a:gd name="connsiteY2" fmla="*/ 1438656 h 1438655"/>
              <a:gd name="connsiteX3" fmla="*/ 0 w 1881377"/>
              <a:gd name="connsiteY3" fmla="*/ 1438656 h 1438655"/>
              <a:gd name="connsiteX4" fmla="*/ 275844 w 1881377"/>
              <a:gd name="connsiteY4" fmla="*/ 1162812 h 1438655"/>
              <a:gd name="connsiteX5" fmla="*/ 275844 w 1881377"/>
              <a:gd name="connsiteY5" fmla="*/ 275844 h 1438655"/>
              <a:gd name="connsiteX6" fmla="*/ 0 w 1881377"/>
              <a:gd name="connsiteY6" fmla="*/ 0 h 1438655"/>
              <a:gd name="connsiteX7" fmla="*/ 1605534 w 1881377"/>
              <a:gd name="connsiteY7" fmla="*/ 0 h 1438655"/>
              <a:gd name="connsiteX8" fmla="*/ 1881378 w 1881377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7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3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FE5AF8EC-B487-4B47-9FFD-27548AD06601}"/>
              </a:ext>
            </a:extLst>
          </p:cNvPr>
          <p:cNvSpPr/>
          <p:nvPr/>
        </p:nvSpPr>
        <p:spPr>
          <a:xfrm>
            <a:off x="8422059" y="3060008"/>
            <a:ext cx="1737262" cy="1328452"/>
          </a:xfrm>
          <a:custGeom>
            <a:avLst/>
            <a:gdLst>
              <a:gd name="connsiteX0" fmla="*/ 1881378 w 1881378"/>
              <a:gd name="connsiteY0" fmla="*/ 275844 h 1438655"/>
              <a:gd name="connsiteX1" fmla="*/ 1881378 w 1881378"/>
              <a:gd name="connsiteY1" fmla="*/ 1162812 h 1438655"/>
              <a:gd name="connsiteX2" fmla="*/ 1605534 w 1881378"/>
              <a:gd name="connsiteY2" fmla="*/ 1438656 h 1438655"/>
              <a:gd name="connsiteX3" fmla="*/ 0 w 1881378"/>
              <a:gd name="connsiteY3" fmla="*/ 1438656 h 1438655"/>
              <a:gd name="connsiteX4" fmla="*/ 275844 w 1881378"/>
              <a:gd name="connsiteY4" fmla="*/ 1162812 h 1438655"/>
              <a:gd name="connsiteX5" fmla="*/ 275844 w 1881378"/>
              <a:gd name="connsiteY5" fmla="*/ 275844 h 1438655"/>
              <a:gd name="connsiteX6" fmla="*/ 0 w 1881378"/>
              <a:gd name="connsiteY6" fmla="*/ 0 h 1438655"/>
              <a:gd name="connsiteX7" fmla="*/ 1605534 w 1881378"/>
              <a:gd name="connsiteY7" fmla="*/ 0 h 1438655"/>
              <a:gd name="connsiteX8" fmla="*/ 1881378 w 1881378"/>
              <a:gd name="connsiteY8" fmla="*/ 275844 h 1438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1378" h="1438655">
                <a:moveTo>
                  <a:pt x="1881378" y="275844"/>
                </a:moveTo>
                <a:lnTo>
                  <a:pt x="1881378" y="1162812"/>
                </a:lnTo>
                <a:cubicBezTo>
                  <a:pt x="1881378" y="1315212"/>
                  <a:pt x="1757934" y="1438656"/>
                  <a:pt x="1605534" y="1438656"/>
                </a:cubicBezTo>
                <a:lnTo>
                  <a:pt x="0" y="1438656"/>
                </a:lnTo>
                <a:cubicBezTo>
                  <a:pt x="152400" y="1438656"/>
                  <a:pt x="275844" y="1315212"/>
                  <a:pt x="275844" y="1162812"/>
                </a:cubicBezTo>
                <a:lnTo>
                  <a:pt x="275844" y="275844"/>
                </a:lnTo>
                <a:cubicBezTo>
                  <a:pt x="275844" y="123444"/>
                  <a:pt x="152400" y="0"/>
                  <a:pt x="0" y="0"/>
                </a:cubicBezTo>
                <a:lnTo>
                  <a:pt x="1605534" y="0"/>
                </a:lnTo>
                <a:cubicBezTo>
                  <a:pt x="1757934" y="0"/>
                  <a:pt x="1881378" y="123444"/>
                  <a:pt x="1881378" y="275844"/>
                </a:cubicBezTo>
                <a:close/>
              </a:path>
            </a:pathLst>
          </a:custGeom>
          <a:solidFill>
            <a:schemeClr val="accent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" name="Freeform 132">
            <a:extLst>
              <a:ext uri="{FF2B5EF4-FFF2-40B4-BE49-F238E27FC236}">
                <a16:creationId xmlns:a16="http://schemas.microsoft.com/office/drawing/2014/main" id="{D9553D98-A152-B277-CC05-DE4205E1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854" y="3308989"/>
            <a:ext cx="265413" cy="295523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543A76A2-2C64-1533-F403-5E0EF997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816" y="3308988"/>
            <a:ext cx="265414" cy="295525"/>
          </a:xfrm>
          <a:custGeom>
            <a:avLst/>
            <a:gdLst>
              <a:gd name="T0" fmla="*/ 933 w 1051"/>
              <a:gd name="T1" fmla="*/ 1050 h 1169"/>
              <a:gd name="T2" fmla="*/ 933 w 1051"/>
              <a:gd name="T3" fmla="*/ 411 h 1169"/>
              <a:gd name="T4" fmla="*/ 118 w 1051"/>
              <a:gd name="T5" fmla="*/ 411 h 1169"/>
              <a:gd name="T6" fmla="*/ 118 w 1051"/>
              <a:gd name="T7" fmla="*/ 1050 h 1169"/>
              <a:gd name="T8" fmla="*/ 933 w 1051"/>
              <a:gd name="T9" fmla="*/ 1050 h 1169"/>
              <a:gd name="T10" fmla="*/ 933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3 w 1051"/>
              <a:gd name="T17" fmla="*/ 1168 h 1169"/>
              <a:gd name="T18" fmla="*/ 118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8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8 w 1051"/>
              <a:gd name="T35" fmla="*/ 118 h 1169"/>
              <a:gd name="T36" fmla="*/ 758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3 w 1051"/>
              <a:gd name="T43" fmla="*/ 118 h 1169"/>
              <a:gd name="T44" fmla="*/ 790 w 1051"/>
              <a:gd name="T45" fmla="*/ 588 h 1169"/>
              <a:gd name="T46" fmla="*/ 443 w 1051"/>
              <a:gd name="T47" fmla="*/ 935 h 1169"/>
              <a:gd name="T48" fmla="*/ 257 w 1051"/>
              <a:gd name="T49" fmla="*/ 750 h 1169"/>
              <a:gd name="T50" fmla="*/ 320 w 1051"/>
              <a:gd name="T51" fmla="*/ 687 h 1169"/>
              <a:gd name="T52" fmla="*/ 443 w 1051"/>
              <a:gd name="T53" fmla="*/ 810 h 1169"/>
              <a:gd name="T54" fmla="*/ 728 w 1051"/>
              <a:gd name="T55" fmla="*/ 525 h 1169"/>
              <a:gd name="T56" fmla="*/ 790 w 1051"/>
              <a:gd name="T57" fmla="*/ 58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1" h="1169">
                <a:moveTo>
                  <a:pt x="933" y="1050"/>
                </a:moveTo>
                <a:lnTo>
                  <a:pt x="933" y="411"/>
                </a:lnTo>
                <a:lnTo>
                  <a:pt x="118" y="411"/>
                </a:lnTo>
                <a:lnTo>
                  <a:pt x="118" y="1050"/>
                </a:lnTo>
                <a:lnTo>
                  <a:pt x="933" y="1050"/>
                </a:lnTo>
                <a:close/>
                <a:moveTo>
                  <a:pt x="933" y="118"/>
                </a:moveTo>
                <a:cubicBezTo>
                  <a:pt x="996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6" y="1168"/>
                  <a:pt x="933" y="1168"/>
                </a:cubicBezTo>
                <a:lnTo>
                  <a:pt x="118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8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8" y="118"/>
                </a:lnTo>
                <a:lnTo>
                  <a:pt x="758" y="0"/>
                </a:lnTo>
                <a:lnTo>
                  <a:pt x="875" y="0"/>
                </a:lnTo>
                <a:lnTo>
                  <a:pt x="875" y="118"/>
                </a:lnTo>
                <a:lnTo>
                  <a:pt x="933" y="118"/>
                </a:lnTo>
                <a:close/>
                <a:moveTo>
                  <a:pt x="790" y="588"/>
                </a:moveTo>
                <a:lnTo>
                  <a:pt x="443" y="935"/>
                </a:lnTo>
                <a:lnTo>
                  <a:pt x="257" y="750"/>
                </a:lnTo>
                <a:lnTo>
                  <a:pt x="320" y="687"/>
                </a:lnTo>
                <a:lnTo>
                  <a:pt x="443" y="810"/>
                </a:lnTo>
                <a:lnTo>
                  <a:pt x="728" y="525"/>
                </a:lnTo>
                <a:lnTo>
                  <a:pt x="790" y="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Freeform 125">
            <a:extLst>
              <a:ext uri="{FF2B5EF4-FFF2-40B4-BE49-F238E27FC236}">
                <a16:creationId xmlns:a16="http://schemas.microsoft.com/office/drawing/2014/main" id="{E7AAD5C0-F1ED-56DC-2B84-4858E1C55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781" y="3360846"/>
            <a:ext cx="353513" cy="191811"/>
          </a:xfrm>
          <a:custGeom>
            <a:avLst/>
            <a:gdLst>
              <a:gd name="T0" fmla="*/ 757 w 1400"/>
              <a:gd name="T1" fmla="*/ 464 h 758"/>
              <a:gd name="T2" fmla="*/ 1107 w 1400"/>
              <a:gd name="T3" fmla="*/ 639 h 758"/>
              <a:gd name="T4" fmla="*/ 1107 w 1400"/>
              <a:gd name="T5" fmla="*/ 757 h 758"/>
              <a:gd name="T6" fmla="*/ 407 w 1400"/>
              <a:gd name="T7" fmla="*/ 757 h 758"/>
              <a:gd name="T8" fmla="*/ 407 w 1400"/>
              <a:gd name="T9" fmla="*/ 639 h 758"/>
              <a:gd name="T10" fmla="*/ 757 w 1400"/>
              <a:gd name="T11" fmla="*/ 464 h 758"/>
              <a:gd name="T12" fmla="*/ 1145 w 1400"/>
              <a:gd name="T13" fmla="*/ 475 h 758"/>
              <a:gd name="T14" fmla="*/ 1399 w 1400"/>
              <a:gd name="T15" fmla="*/ 639 h 758"/>
              <a:gd name="T16" fmla="*/ 1399 w 1400"/>
              <a:gd name="T17" fmla="*/ 757 h 758"/>
              <a:gd name="T18" fmla="*/ 1224 w 1400"/>
              <a:gd name="T19" fmla="*/ 757 h 758"/>
              <a:gd name="T20" fmla="*/ 1224 w 1400"/>
              <a:gd name="T21" fmla="*/ 639 h 758"/>
              <a:gd name="T22" fmla="*/ 1145 w 1400"/>
              <a:gd name="T23" fmla="*/ 475 h 758"/>
              <a:gd name="T24" fmla="*/ 757 w 1400"/>
              <a:gd name="T25" fmla="*/ 349 h 758"/>
              <a:gd name="T26" fmla="*/ 582 w 1400"/>
              <a:gd name="T27" fmla="*/ 175 h 758"/>
              <a:gd name="T28" fmla="*/ 757 w 1400"/>
              <a:gd name="T29" fmla="*/ 0 h 758"/>
              <a:gd name="T30" fmla="*/ 932 w 1400"/>
              <a:gd name="T31" fmla="*/ 175 h 758"/>
              <a:gd name="T32" fmla="*/ 757 w 1400"/>
              <a:gd name="T33" fmla="*/ 349 h 758"/>
              <a:gd name="T34" fmla="*/ 1049 w 1400"/>
              <a:gd name="T35" fmla="*/ 349 h 758"/>
              <a:gd name="T36" fmla="*/ 997 w 1400"/>
              <a:gd name="T37" fmla="*/ 341 h 758"/>
              <a:gd name="T38" fmla="*/ 1049 w 1400"/>
              <a:gd name="T39" fmla="*/ 175 h 758"/>
              <a:gd name="T40" fmla="*/ 997 w 1400"/>
              <a:gd name="T41" fmla="*/ 8 h 758"/>
              <a:gd name="T42" fmla="*/ 1049 w 1400"/>
              <a:gd name="T43" fmla="*/ 0 h 758"/>
              <a:gd name="T44" fmla="*/ 1224 w 1400"/>
              <a:gd name="T45" fmla="*/ 175 h 758"/>
              <a:gd name="T46" fmla="*/ 1049 w 1400"/>
              <a:gd name="T47" fmla="*/ 349 h 758"/>
              <a:gd name="T48" fmla="*/ 467 w 1400"/>
              <a:gd name="T49" fmla="*/ 289 h 758"/>
              <a:gd name="T50" fmla="*/ 467 w 1400"/>
              <a:gd name="T51" fmla="*/ 407 h 758"/>
              <a:gd name="T52" fmla="*/ 292 w 1400"/>
              <a:gd name="T53" fmla="*/ 407 h 758"/>
              <a:gd name="T54" fmla="*/ 292 w 1400"/>
              <a:gd name="T55" fmla="*/ 582 h 758"/>
              <a:gd name="T56" fmla="*/ 175 w 1400"/>
              <a:gd name="T57" fmla="*/ 582 h 758"/>
              <a:gd name="T58" fmla="*/ 175 w 1400"/>
              <a:gd name="T59" fmla="*/ 407 h 758"/>
              <a:gd name="T60" fmla="*/ 0 w 1400"/>
              <a:gd name="T61" fmla="*/ 407 h 758"/>
              <a:gd name="T62" fmla="*/ 0 w 1400"/>
              <a:gd name="T63" fmla="*/ 289 h 758"/>
              <a:gd name="T64" fmla="*/ 175 w 1400"/>
              <a:gd name="T65" fmla="*/ 289 h 758"/>
              <a:gd name="T66" fmla="*/ 175 w 1400"/>
              <a:gd name="T67" fmla="*/ 114 h 758"/>
              <a:gd name="T68" fmla="*/ 292 w 1400"/>
              <a:gd name="T69" fmla="*/ 114 h 758"/>
              <a:gd name="T70" fmla="*/ 292 w 1400"/>
              <a:gd name="T71" fmla="*/ 289 h 758"/>
              <a:gd name="T72" fmla="*/ 467 w 1400"/>
              <a:gd name="T73" fmla="*/ 289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00" h="758">
                <a:moveTo>
                  <a:pt x="757" y="464"/>
                </a:moveTo>
                <a:cubicBezTo>
                  <a:pt x="874" y="464"/>
                  <a:pt x="1107" y="522"/>
                  <a:pt x="1107" y="639"/>
                </a:cubicBezTo>
                <a:lnTo>
                  <a:pt x="1107" y="757"/>
                </a:lnTo>
                <a:lnTo>
                  <a:pt x="407" y="757"/>
                </a:lnTo>
                <a:lnTo>
                  <a:pt x="407" y="639"/>
                </a:lnTo>
                <a:cubicBezTo>
                  <a:pt x="407" y="522"/>
                  <a:pt x="639" y="464"/>
                  <a:pt x="757" y="464"/>
                </a:cubicBezTo>
                <a:close/>
                <a:moveTo>
                  <a:pt x="1145" y="475"/>
                </a:moveTo>
                <a:cubicBezTo>
                  <a:pt x="1262" y="494"/>
                  <a:pt x="1399" y="549"/>
                  <a:pt x="1399" y="639"/>
                </a:cubicBezTo>
                <a:lnTo>
                  <a:pt x="1399" y="757"/>
                </a:lnTo>
                <a:lnTo>
                  <a:pt x="1224" y="757"/>
                </a:lnTo>
                <a:lnTo>
                  <a:pt x="1224" y="639"/>
                </a:lnTo>
                <a:cubicBezTo>
                  <a:pt x="1224" y="571"/>
                  <a:pt x="1194" y="519"/>
                  <a:pt x="1145" y="475"/>
                </a:cubicBezTo>
                <a:close/>
                <a:moveTo>
                  <a:pt x="757" y="349"/>
                </a:moveTo>
                <a:cubicBezTo>
                  <a:pt x="661" y="349"/>
                  <a:pt x="582" y="270"/>
                  <a:pt x="582" y="175"/>
                </a:cubicBezTo>
                <a:cubicBezTo>
                  <a:pt x="582" y="79"/>
                  <a:pt x="661" y="0"/>
                  <a:pt x="757" y="0"/>
                </a:cubicBezTo>
                <a:cubicBezTo>
                  <a:pt x="852" y="0"/>
                  <a:pt x="932" y="79"/>
                  <a:pt x="932" y="175"/>
                </a:cubicBezTo>
                <a:cubicBezTo>
                  <a:pt x="932" y="270"/>
                  <a:pt x="852" y="349"/>
                  <a:pt x="757" y="349"/>
                </a:cubicBezTo>
                <a:close/>
                <a:moveTo>
                  <a:pt x="1049" y="349"/>
                </a:moveTo>
                <a:cubicBezTo>
                  <a:pt x="1030" y="349"/>
                  <a:pt x="1014" y="347"/>
                  <a:pt x="997" y="341"/>
                </a:cubicBezTo>
                <a:cubicBezTo>
                  <a:pt x="1030" y="295"/>
                  <a:pt x="1049" y="238"/>
                  <a:pt x="1049" y="175"/>
                </a:cubicBezTo>
                <a:cubicBezTo>
                  <a:pt x="1049" y="113"/>
                  <a:pt x="1030" y="54"/>
                  <a:pt x="997" y="8"/>
                </a:cubicBezTo>
                <a:cubicBezTo>
                  <a:pt x="1014" y="2"/>
                  <a:pt x="1030" y="0"/>
                  <a:pt x="1049" y="0"/>
                </a:cubicBezTo>
                <a:cubicBezTo>
                  <a:pt x="1145" y="0"/>
                  <a:pt x="1224" y="79"/>
                  <a:pt x="1224" y="175"/>
                </a:cubicBezTo>
                <a:cubicBezTo>
                  <a:pt x="1224" y="270"/>
                  <a:pt x="1145" y="349"/>
                  <a:pt x="1049" y="349"/>
                </a:cubicBezTo>
                <a:close/>
                <a:moveTo>
                  <a:pt x="467" y="289"/>
                </a:moveTo>
                <a:lnTo>
                  <a:pt x="467" y="407"/>
                </a:lnTo>
                <a:lnTo>
                  <a:pt x="292" y="407"/>
                </a:lnTo>
                <a:lnTo>
                  <a:pt x="292" y="582"/>
                </a:lnTo>
                <a:lnTo>
                  <a:pt x="175" y="582"/>
                </a:lnTo>
                <a:lnTo>
                  <a:pt x="175" y="407"/>
                </a:lnTo>
                <a:lnTo>
                  <a:pt x="0" y="407"/>
                </a:lnTo>
                <a:lnTo>
                  <a:pt x="0" y="289"/>
                </a:lnTo>
                <a:lnTo>
                  <a:pt x="175" y="289"/>
                </a:lnTo>
                <a:lnTo>
                  <a:pt x="175" y="114"/>
                </a:lnTo>
                <a:lnTo>
                  <a:pt x="292" y="114"/>
                </a:lnTo>
                <a:lnTo>
                  <a:pt x="292" y="289"/>
                </a:lnTo>
                <a:lnTo>
                  <a:pt x="467" y="2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" name="Freeform 15">
            <a:extLst>
              <a:ext uri="{FF2B5EF4-FFF2-40B4-BE49-F238E27FC236}">
                <a16:creationId xmlns:a16="http://schemas.microsoft.com/office/drawing/2014/main" id="{552392C6-9E0E-0AC1-1E7C-CF1100100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1844" y="3338542"/>
            <a:ext cx="294409" cy="236419"/>
          </a:xfrm>
          <a:custGeom>
            <a:avLst/>
            <a:gdLst>
              <a:gd name="T0" fmla="*/ 861 w 1166"/>
              <a:gd name="T1" fmla="*/ 828 h 935"/>
              <a:gd name="T2" fmla="*/ 943 w 1166"/>
              <a:gd name="T3" fmla="*/ 746 h 935"/>
              <a:gd name="T4" fmla="*/ 774 w 1166"/>
              <a:gd name="T5" fmla="*/ 576 h 935"/>
              <a:gd name="T6" fmla="*/ 815 w 1166"/>
              <a:gd name="T7" fmla="*/ 437 h 935"/>
              <a:gd name="T8" fmla="*/ 552 w 1166"/>
              <a:gd name="T9" fmla="*/ 174 h 935"/>
              <a:gd name="T10" fmla="*/ 290 w 1166"/>
              <a:gd name="T11" fmla="*/ 437 h 935"/>
              <a:gd name="T12" fmla="*/ 552 w 1166"/>
              <a:gd name="T13" fmla="*/ 699 h 935"/>
              <a:gd name="T14" fmla="*/ 692 w 1166"/>
              <a:gd name="T15" fmla="*/ 658 h 935"/>
              <a:gd name="T16" fmla="*/ 861 w 1166"/>
              <a:gd name="T17" fmla="*/ 828 h 935"/>
              <a:gd name="T18" fmla="*/ 1050 w 1166"/>
              <a:gd name="T19" fmla="*/ 0 h 935"/>
              <a:gd name="T20" fmla="*/ 1165 w 1166"/>
              <a:gd name="T21" fmla="*/ 117 h 935"/>
              <a:gd name="T22" fmla="*/ 1165 w 1166"/>
              <a:gd name="T23" fmla="*/ 817 h 935"/>
              <a:gd name="T24" fmla="*/ 1050 w 1166"/>
              <a:gd name="T25" fmla="*/ 934 h 935"/>
              <a:gd name="T26" fmla="*/ 115 w 1166"/>
              <a:gd name="T27" fmla="*/ 934 h 935"/>
              <a:gd name="T28" fmla="*/ 0 w 1166"/>
              <a:gd name="T29" fmla="*/ 817 h 935"/>
              <a:gd name="T30" fmla="*/ 0 w 1166"/>
              <a:gd name="T31" fmla="*/ 117 h 935"/>
              <a:gd name="T32" fmla="*/ 115 w 1166"/>
              <a:gd name="T33" fmla="*/ 0 h 935"/>
              <a:gd name="T34" fmla="*/ 1050 w 1166"/>
              <a:gd name="T35" fmla="*/ 0 h 935"/>
              <a:gd name="T36" fmla="*/ 552 w 1166"/>
              <a:gd name="T37" fmla="*/ 292 h 935"/>
              <a:gd name="T38" fmla="*/ 700 w 1166"/>
              <a:gd name="T39" fmla="*/ 437 h 935"/>
              <a:gd name="T40" fmla="*/ 552 w 1166"/>
              <a:gd name="T41" fmla="*/ 584 h 935"/>
              <a:gd name="T42" fmla="*/ 408 w 1166"/>
              <a:gd name="T43" fmla="*/ 437 h 935"/>
              <a:gd name="T44" fmla="*/ 552 w 1166"/>
              <a:gd name="T45" fmla="*/ 292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935">
                <a:moveTo>
                  <a:pt x="861" y="828"/>
                </a:moveTo>
                <a:lnTo>
                  <a:pt x="943" y="746"/>
                </a:lnTo>
                <a:lnTo>
                  <a:pt x="774" y="576"/>
                </a:lnTo>
                <a:cubicBezTo>
                  <a:pt x="798" y="535"/>
                  <a:pt x="815" y="489"/>
                  <a:pt x="815" y="437"/>
                </a:cubicBezTo>
                <a:cubicBezTo>
                  <a:pt x="815" y="292"/>
                  <a:pt x="697" y="174"/>
                  <a:pt x="552" y="174"/>
                </a:cubicBezTo>
                <a:cubicBezTo>
                  <a:pt x="407" y="174"/>
                  <a:pt x="290" y="292"/>
                  <a:pt x="290" y="437"/>
                </a:cubicBezTo>
                <a:cubicBezTo>
                  <a:pt x="290" y="582"/>
                  <a:pt x="408" y="699"/>
                  <a:pt x="552" y="699"/>
                </a:cubicBezTo>
                <a:cubicBezTo>
                  <a:pt x="604" y="699"/>
                  <a:pt x="651" y="683"/>
                  <a:pt x="692" y="658"/>
                </a:cubicBezTo>
                <a:lnTo>
                  <a:pt x="861" y="828"/>
                </a:lnTo>
                <a:close/>
                <a:moveTo>
                  <a:pt x="1050" y="0"/>
                </a:moveTo>
                <a:cubicBezTo>
                  <a:pt x="1113" y="0"/>
                  <a:pt x="1165" y="54"/>
                  <a:pt x="1165" y="117"/>
                </a:cubicBezTo>
                <a:lnTo>
                  <a:pt x="1165" y="817"/>
                </a:lnTo>
                <a:cubicBezTo>
                  <a:pt x="1165" y="879"/>
                  <a:pt x="1113" y="934"/>
                  <a:pt x="1050" y="934"/>
                </a:cubicBezTo>
                <a:lnTo>
                  <a:pt x="115" y="934"/>
                </a:lnTo>
                <a:cubicBezTo>
                  <a:pt x="52" y="934"/>
                  <a:pt x="0" y="879"/>
                  <a:pt x="0" y="817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1050" y="0"/>
                </a:lnTo>
                <a:close/>
                <a:moveTo>
                  <a:pt x="552" y="292"/>
                </a:moveTo>
                <a:cubicBezTo>
                  <a:pt x="632" y="292"/>
                  <a:pt x="700" y="358"/>
                  <a:pt x="700" y="437"/>
                </a:cubicBezTo>
                <a:cubicBezTo>
                  <a:pt x="700" y="516"/>
                  <a:pt x="631" y="584"/>
                  <a:pt x="552" y="584"/>
                </a:cubicBezTo>
                <a:cubicBezTo>
                  <a:pt x="472" y="584"/>
                  <a:pt x="408" y="516"/>
                  <a:pt x="408" y="437"/>
                </a:cubicBezTo>
                <a:cubicBezTo>
                  <a:pt x="408" y="358"/>
                  <a:pt x="473" y="292"/>
                  <a:pt x="552" y="2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sz="1659"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6B2021-E684-97EA-7F1E-5C3AA328FEE7}"/>
              </a:ext>
            </a:extLst>
          </p:cNvPr>
          <p:cNvSpPr txBox="1"/>
          <p:nvPr/>
        </p:nvSpPr>
        <p:spPr>
          <a:xfrm>
            <a:off x="2024086" y="3714259"/>
            <a:ext cx="1470331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勤奋度圈选主播分析报告</a:t>
            </a:r>
            <a:endParaRPr lang="zh-CN" altLang="en-US" sz="1659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434D90-66E3-F6EC-0006-18365F6496C8}"/>
              </a:ext>
            </a:extLst>
          </p:cNvPr>
          <p:cNvSpPr txBox="1"/>
          <p:nvPr/>
        </p:nvSpPr>
        <p:spPr>
          <a:xfrm>
            <a:off x="4316520" y="3714793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818</a:t>
            </a:r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大促日报</a:t>
            </a:r>
            <a:endParaRPr lang="zh-CN" altLang="en-US" sz="1659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5061A7-6E58-B170-2345-C2406EB11E4E}"/>
              </a:ext>
            </a:extLst>
          </p:cNvPr>
          <p:cNvSpPr txBox="1"/>
          <p:nvPr/>
        </p:nvSpPr>
        <p:spPr>
          <a:xfrm>
            <a:off x="6525682" y="3714793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达人粉丝</a:t>
            </a:r>
            <a:r>
              <a:rPr lang="en-US" altLang="zh-CN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UA</a:t>
            </a:r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对</a:t>
            </a:r>
            <a:endParaRPr lang="zh-CN" altLang="en-US" sz="1659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E293889-0708-54E8-F8CD-F6BCA56AC2A9}"/>
              </a:ext>
            </a:extLst>
          </p:cNvPr>
          <p:cNvSpPr txBox="1"/>
          <p:nvPr/>
        </p:nvSpPr>
        <p:spPr>
          <a:xfrm>
            <a:off x="8734844" y="3714793"/>
            <a:ext cx="1349447" cy="602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59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日报业绩达成</a:t>
            </a:r>
            <a:endParaRPr lang="zh-CN" altLang="en-US" sz="1659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838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C4AD-64FA-4446-D260-2C1C4B42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>
            <a:extLst>
              <a:ext uri="{FF2B5EF4-FFF2-40B4-BE49-F238E27FC236}">
                <a16:creationId xmlns:a16="http://schemas.microsoft.com/office/drawing/2014/main" id="{76AB26C3-10EA-30F5-30C2-E97B33C10247}"/>
              </a:ext>
            </a:extLst>
          </p:cNvPr>
          <p:cNvSpPr txBox="1"/>
          <p:nvPr/>
        </p:nvSpPr>
        <p:spPr>
          <a:xfrm>
            <a:off x="896186" y="546942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主要工作任务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9A8961E-69E0-5986-1811-54C9CB5B7C60}"/>
              </a:ext>
            </a:extLst>
          </p:cNvPr>
          <p:cNvCxnSpPr/>
          <p:nvPr/>
        </p:nvCxnSpPr>
        <p:spPr>
          <a:xfrm>
            <a:off x="983955" y="979776"/>
            <a:ext cx="1022409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9">
            <a:extLst>
              <a:ext uri="{FF2B5EF4-FFF2-40B4-BE49-F238E27FC236}">
                <a16:creationId xmlns:a16="http://schemas.microsoft.com/office/drawing/2014/main" id="{37C0A7A4-42A9-D2AA-49DB-A5C9D055AC9E}"/>
              </a:ext>
            </a:extLst>
          </p:cNvPr>
          <p:cNvSpPr/>
          <p:nvPr/>
        </p:nvSpPr>
        <p:spPr>
          <a:xfrm>
            <a:off x="1329680" y="3032957"/>
            <a:ext cx="800513" cy="80051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843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Q3</a:t>
            </a:r>
          </a:p>
        </p:txBody>
      </p:sp>
      <p:sp>
        <p:nvSpPr>
          <p:cNvPr id="3" name="Rounded Rectangle 10">
            <a:extLst>
              <a:ext uri="{FF2B5EF4-FFF2-40B4-BE49-F238E27FC236}">
                <a16:creationId xmlns:a16="http://schemas.microsoft.com/office/drawing/2014/main" id="{4C3A18E0-C9D9-2A03-1BB7-71E0DE9D227B}"/>
              </a:ext>
            </a:extLst>
          </p:cNvPr>
          <p:cNvSpPr/>
          <p:nvPr/>
        </p:nvSpPr>
        <p:spPr>
          <a:xfrm>
            <a:off x="2382985" y="2797016"/>
            <a:ext cx="8679244" cy="1263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2793" rtlCol="0" anchor="ctr"/>
          <a:lstStyle/>
          <a:p>
            <a:pPr algn="l">
              <a:lnSpc>
                <a:spcPct val="115000"/>
              </a:lnSpc>
            </a:pPr>
            <a:r>
              <a:rPr sz="1567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项目三：目标测算与常态化大盘分析</a:t>
            </a:r>
            <a:endParaRPr sz="1567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152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Q3过程目标测算下发 · WBR/MBR/818复盘</a:t>
            </a:r>
          </a:p>
          <a:p>
            <a:pPr algn="l">
              <a:lnSpc>
                <a:spcPct val="115000"/>
              </a:lnSpc>
            </a:pPr>
            <a:r>
              <a:rPr sz="1152" b="1" dirty="0" err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产出：</a:t>
            </a:r>
            <a:r>
              <a:rPr sz="1152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目标下发业务线；拆解定位大盘结构性问题</a:t>
            </a:r>
            <a:endParaRPr sz="1152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844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69337" y="1625741"/>
            <a:ext cx="58985" cy="20223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1011" y="1575181"/>
            <a:ext cx="4634548" cy="303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290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业务逻辑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9335" y="1912240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精品与达人：人设型商家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靠主播个人 IP 经营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70270" y="2379908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24180" y="1912240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依靠主播个人 IP 直播带货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经营命脉是开播供给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25115" y="2379908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79024" y="1912240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开播供给是 GMV 基础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人在播、播得勤，GMV 才有基础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9337" y="3370016"/>
            <a:ext cx="58985" cy="20223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21011" y="3319456"/>
            <a:ext cx="4634548" cy="303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</a:pPr>
            <a:r>
              <a:rPr sz="1290" b="1">
                <a:solidFill>
                  <a:srgbClr val="2E75B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管理逻辑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9335" y="3656514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GMV 结果目标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下行期结果指标指导不了动作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70270" y="4124182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24180" y="3656514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考勤奋度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D9E2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最直接、最可管的过程抓手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25115" y="4124182"/>
            <a:ext cx="353911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79024" y="3656514"/>
            <a:ext cx="2949258" cy="11375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117" tIns="67412" rIns="101117" bIns="67412" rtlCol="0" anchor="ctr"/>
          <a:lstStyle/>
          <a:p>
            <a:pPr algn="ctr">
              <a:lnSpc>
                <a:spcPct val="115000"/>
              </a:lnSpc>
            </a:pPr>
            <a:r>
              <a:rPr sz="1474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可日常管理的过程目标</a:t>
            </a:r>
          </a:p>
          <a:p>
            <a:pPr algn="ctr">
              <a:lnSpc>
                <a:spcPct val="115000"/>
              </a:lnSpc>
            </a:pPr>
            <a:r>
              <a:rPr sz="1198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 GMV 结果目标翻译成过程目标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69336" y="5198554"/>
            <a:ext cx="9858947" cy="5224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51676" rtlCol="0" anchor="ctr"/>
          <a:lstStyle/>
          <a:p>
            <a:pPr>
              <a:lnSpc>
                <a:spcPct val="115000"/>
              </a:lnSpc>
            </a:pP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本质：考勤奋度，就是把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GMV 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结果目标翻译成可日常管理的过程目标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en-US"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对人设型商家就是要多播，高标准是主动施压、传导管理意图。</a:t>
            </a:r>
          </a:p>
          <a:p>
            <a:pPr>
              <a:lnSpc>
                <a:spcPct val="115000"/>
              </a:lnSpc>
            </a:pPr>
            <a:endParaRPr sz="1244" b="1" dirty="0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65C57C-9F49-58C1-4197-AF638B19EA12}"/>
              </a:ext>
            </a:extLst>
          </p:cNvPr>
          <p:cNvSpPr txBox="1"/>
          <p:nvPr/>
        </p:nvSpPr>
        <p:spPr>
          <a:xfrm>
            <a:off x="988926" y="816518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过程指标测算｜为什么要考勤奋度</a:t>
            </a:r>
          </a:p>
        </p:txBody>
      </p:sp>
      <p:cxnSp>
        <p:nvCxnSpPr>
          <p:cNvPr id="23" name="直接连接符 8">
            <a:extLst>
              <a:ext uri="{FF2B5EF4-FFF2-40B4-BE49-F238E27FC236}">
                <a16:creationId xmlns:a16="http://schemas.microsoft.com/office/drawing/2014/main" id="{181D9FDE-E6EF-1A3B-38EF-DE87E6B7FC5C}"/>
              </a:ext>
            </a:extLst>
          </p:cNvPr>
          <p:cNvCxnSpPr>
            <a:cxnSpLocks/>
          </p:cNvCxnSpPr>
          <p:nvPr/>
        </p:nvCxnSpPr>
        <p:spPr>
          <a:xfrm>
            <a:off x="1161755" y="1249264"/>
            <a:ext cx="1024044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8">
            <a:extLst>
              <a:ext uri="{FF2B5EF4-FFF2-40B4-BE49-F238E27FC236}">
                <a16:creationId xmlns:a16="http://schemas.microsoft.com/office/drawing/2014/main" id="{B8FB2FCE-4A03-9954-F9D7-AD736C9B8BE0}"/>
              </a:ext>
            </a:extLst>
          </p:cNvPr>
          <p:cNvSpPr/>
          <p:nvPr/>
        </p:nvSpPr>
        <p:spPr>
          <a:xfrm>
            <a:off x="1169335" y="5902163"/>
            <a:ext cx="9858947" cy="5224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Ins="151676" rtlCol="0" anchor="ctr"/>
          <a:lstStyle/>
          <a:p>
            <a:pPr algn="l">
              <a:lnSpc>
                <a:spcPct val="115000"/>
              </a:lnSpc>
            </a:pP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达成复盘（截至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9/30）：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达人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QTD 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达成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86.71%、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精品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83.74%，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相对位置和量级与测算一致</a:t>
            </a:r>
            <a:r>
              <a:rPr lang="zh-CN" altLang="en-US"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，表明</a:t>
            </a:r>
            <a:r>
              <a:rPr sz="1244" b="1" dirty="0" err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目标压力方向对</a:t>
            </a:r>
            <a:r>
              <a:rPr sz="1244" b="1" dirty="0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69336" y="1575182"/>
            <a:ext cx="3117787" cy="842645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659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供给</a:t>
            </a:r>
          </a:p>
          <a:p>
            <a:pPr algn="ctr">
              <a:lnSpc>
                <a:spcPct val="112000"/>
              </a:lnSpc>
            </a:pPr>
            <a:r>
              <a:rPr sz="1060">
                <a:solidFill>
                  <a:srgbClr val="D9E2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好商品 · 好商家 · 持续供给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9336" y="2586355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动销商家与店效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动销商家规模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单店产出效率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9336" y="4018851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经营勤奋度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上新与商品运营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商家运营动作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54535" y="3134075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24181" y="1575182"/>
            <a:ext cx="3117787" cy="842645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659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流量</a:t>
            </a:r>
          </a:p>
          <a:p>
            <a:pPr algn="ctr">
              <a:lnSpc>
                <a:spcPct val="112000"/>
              </a:lnSpc>
            </a:pPr>
            <a:r>
              <a:rPr sz="1060">
                <a:solidFill>
                  <a:srgbClr val="D9E2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更多曝光 · 更高效率 · 精准匹配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4181" y="2586355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曝光与 GPM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整体曝光规模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单位曝光价值（GPM）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4181" y="4018851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流量入口及转化效率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各流量入口规模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从曝光到点击、下单的转化效率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9025" y="1575182"/>
            <a:ext cx="3117787" cy="842645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659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</a:t>
            </a:r>
          </a:p>
          <a:p>
            <a:pPr algn="ctr">
              <a:lnSpc>
                <a:spcPct val="112000"/>
              </a:lnSpc>
            </a:pPr>
            <a:r>
              <a:rPr sz="1060">
                <a:solidFill>
                  <a:srgbClr val="D9E2F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更多用户 · 更高价值 · 长期经营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9025" y="2586355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规模与价值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用户规模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用户单体价值（频次、客单价）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9025" y="4018851"/>
            <a:ext cx="3117787" cy="126396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1676" rtlCol="0" anchor="ctr"/>
          <a:lstStyle/>
          <a:p>
            <a:pPr algn="l">
              <a:lnSpc>
                <a:spcPct val="112000"/>
              </a:lnSpc>
            </a:pPr>
            <a:r>
              <a:rPr sz="1382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客群结构及分层流转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新老客结构</a:t>
            </a:r>
          </a:p>
          <a:p>
            <a:pPr algn="l">
              <a:lnSpc>
                <a:spcPct val="112000"/>
              </a:lnSpc>
            </a:pPr>
            <a:r>
              <a:rPr sz="1106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各客群分层及流转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9336" y="5324951"/>
            <a:ext cx="9858947" cy="71624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321011" y="5442923"/>
            <a:ext cx="1263968" cy="471881"/>
          </a:xfrm>
          <a:prstGeom prst="roundRect">
            <a:avLst>
              <a:gd name="adj" fmla="val 7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29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排查流程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3509" y="5442923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发现下滑环节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607327" y="5586172"/>
            <a:ext cx="252794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60122" y="5442923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定位下降指标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713939" y="5586172"/>
            <a:ext cx="252794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66734" y="5442923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下钻具体类型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0552" y="5586172"/>
            <a:ext cx="252794" cy="168529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73347" y="5442923"/>
            <a:ext cx="1811687" cy="471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</a:pPr>
            <a:r>
              <a:rPr sz="1198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定位具体问题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25C379-21B2-F048-942D-B0E0D4CD1333}"/>
              </a:ext>
            </a:extLst>
          </p:cNvPr>
          <p:cNvSpPr txBox="1"/>
          <p:nvPr/>
        </p:nvSpPr>
        <p:spPr>
          <a:xfrm>
            <a:off x="1161754" y="801165"/>
            <a:ext cx="9642780" cy="43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12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电商常态化经营分析</a:t>
            </a:r>
          </a:p>
        </p:txBody>
      </p:sp>
      <p:cxnSp>
        <p:nvCxnSpPr>
          <p:cNvPr id="27" name="直接连接符 8">
            <a:extLst>
              <a:ext uri="{FF2B5EF4-FFF2-40B4-BE49-F238E27FC236}">
                <a16:creationId xmlns:a16="http://schemas.microsoft.com/office/drawing/2014/main" id="{6E64F66F-40C9-6D0D-9916-B439B8AD445E}"/>
              </a:ext>
            </a:extLst>
          </p:cNvPr>
          <p:cNvCxnSpPr>
            <a:cxnSpLocks/>
          </p:cNvCxnSpPr>
          <p:nvPr/>
        </p:nvCxnSpPr>
        <p:spPr>
          <a:xfrm>
            <a:off x="1161754" y="1249264"/>
            <a:ext cx="989180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Arrow 9">
            <a:extLst>
              <a:ext uri="{FF2B5EF4-FFF2-40B4-BE49-F238E27FC236}">
                <a16:creationId xmlns:a16="http://schemas.microsoft.com/office/drawing/2014/main" id="{B86AC8B7-23D3-3631-56DB-E313A15B69D3}"/>
              </a:ext>
            </a:extLst>
          </p:cNvPr>
          <p:cNvSpPr/>
          <p:nvPr/>
        </p:nvSpPr>
        <p:spPr>
          <a:xfrm>
            <a:off x="7777174" y="3134075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Right Arrow 9">
            <a:extLst>
              <a:ext uri="{FF2B5EF4-FFF2-40B4-BE49-F238E27FC236}">
                <a16:creationId xmlns:a16="http://schemas.microsoft.com/office/drawing/2014/main" id="{773C6EBE-F876-9D23-895A-2D23FE743CE1}"/>
              </a:ext>
            </a:extLst>
          </p:cNvPr>
          <p:cNvSpPr/>
          <p:nvPr/>
        </p:nvSpPr>
        <p:spPr>
          <a:xfrm>
            <a:off x="4322129" y="4549718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Right Arrow 9">
            <a:extLst>
              <a:ext uri="{FF2B5EF4-FFF2-40B4-BE49-F238E27FC236}">
                <a16:creationId xmlns:a16="http://schemas.microsoft.com/office/drawing/2014/main" id="{7C1E18D1-3FB8-44A8-385B-76774B1A9518}"/>
              </a:ext>
            </a:extLst>
          </p:cNvPr>
          <p:cNvSpPr/>
          <p:nvPr/>
        </p:nvSpPr>
        <p:spPr>
          <a:xfrm>
            <a:off x="7767247" y="4549718"/>
            <a:ext cx="286499" cy="202235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59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商务蓝色">
      <a:dk1>
        <a:srgbClr val="383535"/>
      </a:dk1>
      <a:lt1>
        <a:srgbClr val="FEFFFF"/>
      </a:lt1>
      <a:dk2>
        <a:srgbClr val="9EA0A0"/>
      </a:dk2>
      <a:lt2>
        <a:srgbClr val="EFEFEF"/>
      </a:lt2>
      <a:accent1>
        <a:srgbClr val="234499"/>
      </a:accent1>
      <a:accent2>
        <a:srgbClr val="4473C5"/>
      </a:accent2>
      <a:accent3>
        <a:srgbClr val="5E91CE"/>
      </a:accent3>
      <a:accent4>
        <a:srgbClr val="89BAE4"/>
      </a:accent4>
      <a:accent5>
        <a:srgbClr val="9FA0A0"/>
      </a:accent5>
      <a:accent6>
        <a:srgbClr val="EFEFEF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1517</Words>
  <Application>Microsoft Macintosh PowerPoint</Application>
  <PresentationFormat>宽屏</PresentationFormat>
  <Paragraphs>175</Paragraphs>
  <Slides>12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等线 Light</vt:lpstr>
      <vt:lpstr>微软雅黑</vt:lpstr>
      <vt:lpstr>微软雅黑</vt:lpstr>
      <vt:lpstr>Arial</vt:lpstr>
      <vt:lpstr>Calibri</vt:lpstr>
      <vt:lpstr>Office Theme</vt:lpstr>
      <vt:lpstr>Office 主题​​</vt:lpstr>
      <vt:lpstr>thinkcell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shaw</cp:lastModifiedBy>
  <cp:revision>7</cp:revision>
  <dcterms:created xsi:type="dcterms:W3CDTF">2013-01-27T09:14:16Z</dcterms:created>
  <dcterms:modified xsi:type="dcterms:W3CDTF">2026-10-24T10:26:27Z</dcterms:modified>
  <cp:category/>
</cp:coreProperties>
</file>