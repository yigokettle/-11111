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3631" r:id="rId2"/>
    <p:sldId id="3632" r:id="rId3"/>
    <p:sldId id="2752" r:id="rId4"/>
    <p:sldId id="3635" r:id="rId5"/>
    <p:sldId id="3092" r:id="rId6"/>
    <p:sldId id="3093" r:id="rId7"/>
    <p:sldId id="3625" r:id="rId8"/>
    <p:sldId id="353" r:id="rId9"/>
    <p:sldId id="3626" r:id="rId10"/>
    <p:sldId id="372" r:id="rId11"/>
    <p:sldId id="3547" r:id="rId12"/>
    <p:sldId id="3627" r:id="rId13"/>
    <p:sldId id="256" r:id="rId14"/>
    <p:sldId id="257" r:id="rId15"/>
    <p:sldId id="258" r:id="rId16"/>
    <p:sldId id="3630" r:id="rId17"/>
    <p:sldId id="3628" r:id="rId18"/>
    <p:sldId id="3629" r:id="rId19"/>
    <p:sldId id="259" r:id="rId20"/>
  </p:sldIdLst>
  <p:sldSz cx="12192000" cy="631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1"/>
    <p:restoredTop sz="94579"/>
  </p:normalViewPr>
  <p:slideViewPr>
    <p:cSldViewPr snapToGrid="0" snapToObjects="1">
      <p:cViewPr varScale="1">
        <p:scale>
          <a:sx n="125" d="100"/>
          <a:sy n="125" d="100"/>
        </p:scale>
        <p:origin x="36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67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717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63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28C3-0B9E-8ED3-6A1F-8651D6CE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2CB70-0D8E-D215-71B9-CFC797EC7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D9A451-EBEC-4D0C-BF88-604EAAC61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D1978-0575-1D23-0E6D-496DEB9DB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690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4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ADCA4-B667-4025-BDBB-633DDEFA5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4289"/>
            <a:ext cx="9144000" cy="2200240"/>
          </a:xfrm>
        </p:spPr>
        <p:txBody>
          <a:bodyPr anchor="b"/>
          <a:lstStyle>
            <a:lvl1pPr algn="ctr"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CF3AB-0154-4924-8CE0-F33D04CB3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9378"/>
            <a:ext cx="9144000" cy="1525831"/>
          </a:xfrm>
        </p:spPr>
        <p:txBody>
          <a:bodyPr/>
          <a:lstStyle>
            <a:lvl1pPr marL="0" indent="0" algn="ctr">
              <a:buNone/>
              <a:defRPr sz="2212"/>
            </a:lvl1pPr>
            <a:lvl2pPr marL="421310" indent="0" algn="ctr">
              <a:buNone/>
              <a:defRPr sz="1843"/>
            </a:lvl2pPr>
            <a:lvl3pPr marL="842620" indent="0" algn="ctr">
              <a:buNone/>
              <a:defRPr sz="1659"/>
            </a:lvl3pPr>
            <a:lvl4pPr marL="1263929" indent="0" algn="ctr">
              <a:buNone/>
              <a:defRPr sz="1474"/>
            </a:lvl4pPr>
            <a:lvl5pPr marL="1685239" indent="0" algn="ctr">
              <a:buNone/>
              <a:defRPr sz="1474"/>
            </a:lvl5pPr>
            <a:lvl6pPr marL="2106549" indent="0" algn="ctr">
              <a:buNone/>
              <a:defRPr sz="1474"/>
            </a:lvl6pPr>
            <a:lvl7pPr marL="2527859" indent="0" algn="ctr">
              <a:buNone/>
              <a:defRPr sz="1474"/>
            </a:lvl7pPr>
            <a:lvl8pPr marL="2949169" indent="0" algn="ctr">
              <a:buNone/>
              <a:defRPr sz="1474"/>
            </a:lvl8pPr>
            <a:lvl9pPr marL="3370478" indent="0" algn="ctr">
              <a:buNone/>
              <a:defRPr sz="147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44B7D-70CA-4A75-A0E4-CB49143E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12C14-2297-4181-A51D-57E71BB9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B4764-313E-4EF0-9D89-647DEF8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08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B4116-D1C2-44DD-8E18-9D3ACE31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442AC-1630-42FC-B027-EC44F8DF4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5E2E2-0605-4FFE-A183-37C5CD03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134223-36F1-497D-AFC1-FCF85FA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7F407-D26E-4DB0-AD87-8603DA40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80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4ADB4-A623-4C1D-879D-19626E8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575571"/>
            <a:ext cx="10515600" cy="2628877"/>
          </a:xfrm>
        </p:spPr>
        <p:txBody>
          <a:bodyPr anchor="b"/>
          <a:lstStyle>
            <a:lvl1pPr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E03299-FD01-4562-87E8-998284FC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29318"/>
            <a:ext cx="10515600" cy="1382464"/>
          </a:xfrm>
        </p:spPr>
        <p:txBody>
          <a:bodyPr/>
          <a:lstStyle>
            <a:lvl1pPr marL="0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1pPr>
            <a:lvl2pPr marL="421310" indent="0">
              <a:buNone/>
              <a:defRPr sz="1843">
                <a:solidFill>
                  <a:schemeClr val="tx1">
                    <a:tint val="75000"/>
                  </a:schemeClr>
                </a:solidFill>
              </a:defRPr>
            </a:lvl2pPr>
            <a:lvl3pPr marL="842620" indent="0">
              <a:buNone/>
              <a:defRPr sz="1659">
                <a:solidFill>
                  <a:schemeClr val="tx1">
                    <a:tint val="75000"/>
                  </a:schemeClr>
                </a:solidFill>
              </a:defRPr>
            </a:lvl3pPr>
            <a:lvl4pPr marL="126392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68523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10654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52785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294916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37047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7FA4C-6AB5-42A5-A80E-8FCD1702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8133F-A9BB-4FAA-B6FB-F92FF5F0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4E2C3-6BBA-4B93-A3D5-6719230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61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6664C-C7A3-47FE-8511-5F7A81AF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53517-5173-4924-B2A5-313D5E666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364"/>
            <a:ext cx="5181600" cy="4009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F2281-01B4-4A91-B0F8-857FD9FE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82364"/>
            <a:ext cx="5181600" cy="4009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C3F99-1C35-4660-B00D-0D86763D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0B6D4-E468-4CCF-A396-4F00D162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53531-FCCE-4975-88EF-423A1EC3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70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F0412-DCEE-4F5E-AD16-93BD73E6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6473"/>
            <a:ext cx="10515600" cy="122154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641EB-B1E0-482F-B1F6-8A72D9D2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549238"/>
            <a:ext cx="5157787" cy="759258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A00CF-0502-4D2B-B8B8-765892DD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308497"/>
            <a:ext cx="5157787" cy="3395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F621DE-3452-454D-8392-960C24096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49238"/>
            <a:ext cx="5183188" cy="759258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F1F05E-F483-4534-B470-8D8D2613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08497"/>
            <a:ext cx="5183188" cy="3395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8D51AC-F313-492D-80A5-E50707E7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AB9AC9-15FF-4722-8C7E-A9828BD3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3907CC-2FE6-4377-9BC4-BE3425B7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3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8C739-47AC-4C0E-BDCF-A55D8974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6A7427-C36C-42A0-8C1B-756F6A2A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C4D531-EDDC-4979-B51E-072041D0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9B3E8F-BEEF-4CEB-A07B-B8A7E9E8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67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1DE50-5264-44DC-8453-185CD652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1B8155-ACB1-467D-B619-6B978BAB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7D630-B5FF-4FB7-AA3C-04FBA9F6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28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6614A-EB43-4F0C-B1F4-930E379A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21322"/>
            <a:ext cx="3932237" cy="1474629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5D194-7E1E-405F-A0D8-0C7455268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9940"/>
            <a:ext cx="6172200" cy="4491181"/>
          </a:xfrm>
        </p:spPr>
        <p:txBody>
          <a:bodyPr/>
          <a:lstStyle>
            <a:lvl1pPr>
              <a:defRPr sz="2949"/>
            </a:lvl1pPr>
            <a:lvl2pPr>
              <a:defRPr sz="2580"/>
            </a:lvl2pPr>
            <a:lvl3pPr>
              <a:defRPr sz="2212"/>
            </a:lvl3pPr>
            <a:lvl4pPr>
              <a:defRPr sz="1843"/>
            </a:lvl4pPr>
            <a:lvl5pPr>
              <a:defRPr sz="1843"/>
            </a:lvl5pPr>
            <a:lvl6pPr>
              <a:defRPr sz="1843"/>
            </a:lvl6pPr>
            <a:lvl7pPr>
              <a:defRPr sz="1843"/>
            </a:lvl7pPr>
            <a:lvl8pPr>
              <a:defRPr sz="1843"/>
            </a:lvl8pPr>
            <a:lvl9pPr>
              <a:defRPr sz="18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8AC27-6194-4AAA-B81C-5A0802FA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895952"/>
            <a:ext cx="3932237" cy="3512484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FE2800-7787-401F-AC4C-B6C9DD65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D16614-5B4C-4B40-9684-2AFE308C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89E4C-6C05-40BA-86AE-1FA17B88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7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74FDA-88FD-489C-995B-63BF53D3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21322"/>
            <a:ext cx="3932237" cy="1474629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32E90C-158D-4B22-A56C-B691F27F0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09940"/>
            <a:ext cx="6172200" cy="4491181"/>
          </a:xfrm>
        </p:spPr>
        <p:txBody>
          <a:bodyPr/>
          <a:lstStyle>
            <a:lvl1pPr marL="0" indent="0">
              <a:buNone/>
              <a:defRPr sz="2949"/>
            </a:lvl1pPr>
            <a:lvl2pPr marL="421310" indent="0">
              <a:buNone/>
              <a:defRPr sz="2580"/>
            </a:lvl2pPr>
            <a:lvl3pPr marL="842620" indent="0">
              <a:buNone/>
              <a:defRPr sz="2212"/>
            </a:lvl3pPr>
            <a:lvl4pPr marL="1263929" indent="0">
              <a:buNone/>
              <a:defRPr sz="1843"/>
            </a:lvl4pPr>
            <a:lvl5pPr marL="1685239" indent="0">
              <a:buNone/>
              <a:defRPr sz="1843"/>
            </a:lvl5pPr>
            <a:lvl6pPr marL="2106549" indent="0">
              <a:buNone/>
              <a:defRPr sz="1843"/>
            </a:lvl6pPr>
            <a:lvl7pPr marL="2527859" indent="0">
              <a:buNone/>
              <a:defRPr sz="1843"/>
            </a:lvl7pPr>
            <a:lvl8pPr marL="2949169" indent="0">
              <a:buNone/>
              <a:defRPr sz="1843"/>
            </a:lvl8pPr>
            <a:lvl9pPr marL="3370478" indent="0">
              <a:buNone/>
              <a:defRPr sz="18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1FA3B0-5FF0-446E-8583-45B4A70AC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895952"/>
            <a:ext cx="3932237" cy="3512484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81377-B62D-442A-8610-CAF5B69F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6A7019-A241-4933-816F-2E97B4C0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B62D6-F9B3-4C83-A5FA-E84DEFD7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8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2F84B-D7E3-4331-8194-A2545767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DF9737-88EF-48BE-8855-68CABE0A2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FF28F-808A-4AF3-8FE1-197282FD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D8819-0740-4BBB-97CF-A734C83A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01E67-D50B-41E5-A6C0-CE5F9A27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8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889B2A-A08A-4A34-B6DD-0D874B17C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36473"/>
            <a:ext cx="2628900" cy="53557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E452A4-BBE8-4485-A09A-3DD3DB3BA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36473"/>
            <a:ext cx="7734300" cy="53557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466D7-E41D-4085-BA0F-F79337CC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92BF6-D279-4066-A2FE-B93B57EA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D7A0A-89BC-4916-9D67-AE94F953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851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7" y="6027253"/>
            <a:ext cx="226619" cy="21244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73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913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3D7AF4C-EF54-441B-94C6-E3AC2F2882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319838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22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1889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2EEFF11A-1A15-4E06-7733-F76F27B1DAAC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8568093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18" imgW="7772400" imgH="10058400" progId="TCLayout.ActiveDocument.1">
                  <p:embed/>
                </p:oleObj>
              </mc:Choice>
              <mc:Fallback>
                <p:oleObj name="thinkcell 幻灯片" r:id="rId1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48DFE1-9427-4A46-AE2A-F2B91C34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473"/>
            <a:ext cx="10515600" cy="122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929CC-E6A8-416B-9485-36BFAC3C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2364"/>
            <a:ext cx="10515600" cy="4009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157BB-B35E-4C45-876F-433D3C5E1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857554"/>
            <a:ext cx="2743200" cy="33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B8C9C-3528-4915-8EB3-BC901E00CE40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22BAD-BA77-4B21-8C0B-A6D0D43E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5857554"/>
            <a:ext cx="4114800" cy="33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C018-1D03-41DD-8069-3BACA6E82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857554"/>
            <a:ext cx="2743200" cy="33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3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842620" rtl="0" eaLnBrk="1" latinLnBrk="0" hangingPunct="1">
        <a:lnSpc>
          <a:spcPct val="90000"/>
        </a:lnSpc>
        <a:spcBef>
          <a:spcPct val="0"/>
        </a:spcBef>
        <a:buNone/>
        <a:defRPr sz="4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0655" indent="-210655" algn="l" defTabSz="842620" rtl="0" eaLnBrk="1" latinLnBrk="0" hangingPunct="1">
        <a:lnSpc>
          <a:spcPct val="90000"/>
        </a:lnSpc>
        <a:spcBef>
          <a:spcPts val="922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1pPr>
      <a:lvl2pPr marL="63196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2pPr>
      <a:lvl3pPr marL="105327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843" kern="1200">
          <a:solidFill>
            <a:schemeClr val="tx1"/>
          </a:solidFill>
          <a:latin typeface="+mn-lt"/>
          <a:ea typeface="+mn-ea"/>
          <a:cs typeface="+mn-cs"/>
        </a:defRPr>
      </a:lvl3pPr>
      <a:lvl4pPr marL="147458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89589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31720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73851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315982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581133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1pPr>
      <a:lvl2pPr marL="42131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2pPr>
      <a:lvl3pPr marL="84262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3pPr>
      <a:lvl4pPr marL="126392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68523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10654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52785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294916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370478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agent.corp.kuaishou.com/ai/data-agent?shareId=9919783b93784a2396abd942be03e4ce" TargetMode="External"/><Relationship Id="rId2" Type="http://schemas.openxmlformats.org/officeDocument/2006/relationships/hyperlink" Target="https://dataagent.corp.kuaishou.com/ai/data-agent?shareId=b1bfc590645643e9a40586c020e7b0a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agent.corp.kuaishou.com/ai/data-agent?shareId=41c3060b07a643afb4fe749d3d013cc5" TargetMode="External"/><Relationship Id="rId4" Type="http://schemas.openxmlformats.org/officeDocument/2006/relationships/hyperlink" Target="https://dataagent.corp.kuaishou.com/ai/data-agent?shareId=9ddcf2a2f50e429cb438e5beb8190f6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cell data - do not delete" hidden="1">
            <a:extLst>
              <a:ext uri="{FF2B5EF4-FFF2-40B4-BE49-F238E27FC236}">
                <a16:creationId xmlns:a16="http://schemas.microsoft.com/office/drawing/2014/main" id="{F70CF3BD-D13E-06F0-01FC-4ECF6F2A4E8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36774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72AE53AD-1E86-2A28-5D8D-9C90A360C937}"/>
              </a:ext>
            </a:extLst>
          </p:cNvPr>
          <p:cNvSpPr/>
          <p:nvPr/>
        </p:nvSpPr>
        <p:spPr>
          <a:xfrm>
            <a:off x="4709240" y="3756065"/>
            <a:ext cx="7307029" cy="2563774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endParaRPr sz="1106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8367" y="0"/>
            <a:ext cx="4205393" cy="631983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3" name="Rectangle 2"/>
          <p:cNvSpPr/>
          <p:nvPr/>
        </p:nvSpPr>
        <p:spPr>
          <a:xfrm>
            <a:off x="4633004" y="0"/>
            <a:ext cx="50559" cy="631983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4" name="Rectangle 3"/>
          <p:cNvSpPr/>
          <p:nvPr/>
        </p:nvSpPr>
        <p:spPr>
          <a:xfrm>
            <a:off x="1068218" y="1685290"/>
            <a:ext cx="3539109" cy="21908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3686" b="1">
                <a:solidFill>
                  <a:srgbClr val="FFFFFF"/>
                </a:solidFill>
                <a:latin typeface="微软雅黑"/>
                <a:ea typeface="微软雅黑"/>
              </a:rPr>
              <a:t>转正述职汇报</a:t>
            </a:r>
          </a:p>
          <a:p>
            <a:pPr algn="l">
              <a:lnSpc>
                <a:spcPct val="115000"/>
              </a:lnSpc>
            </a:pPr>
            <a:r>
              <a:rPr sz="1474">
                <a:solidFill>
                  <a:srgbClr val="DEEAF6"/>
                </a:solidFill>
                <a:latin typeface="微软雅黑"/>
                <a:ea typeface="微软雅黑"/>
              </a:rPr>
              <a:t>2026.10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218" y="4550283"/>
            <a:ext cx="3539109" cy="10954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lang="zh-CN" altLang="en-US" sz="1474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</a:t>
            </a:r>
            <a:r>
              <a:rPr sz="1474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sz="1474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张筱琦</a:t>
            </a:r>
            <a:endParaRPr sz="1474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198" dirty="0" err="1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电商经营策略中心</a:t>
            </a:r>
            <a:r>
              <a:rPr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· </a:t>
            </a:r>
            <a:r>
              <a:rPr sz="1198" dirty="0" err="1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商业分析实习生</a:t>
            </a:r>
            <a:endParaRPr lang="en-US" sz="1198" dirty="0">
              <a:solidFill>
                <a:srgbClr val="DEEAF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实习时长：</a:t>
            </a:r>
            <a:r>
              <a:rPr lang="en-US" altLang="zh-CN"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198" dirty="0">
                <a:solidFill>
                  <a:srgbClr val="DEEAF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0854" y="264358"/>
            <a:ext cx="5392928" cy="96904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r>
              <a:rPr sz="1659" b="1">
                <a:solidFill>
                  <a:srgbClr val="2E75B6"/>
                </a:solidFill>
                <a:latin typeface="微软雅黑"/>
                <a:ea typeface="微软雅黑"/>
              </a:rPr>
              <a:t>01  </a:t>
            </a: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灵顺 · 中小AI运营一期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AB实验效果验证与推广策略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3515" y="1442743"/>
            <a:ext cx="5392928" cy="96904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r>
              <a:rPr sz="1659" b="1">
                <a:solidFill>
                  <a:srgbClr val="2E75B6"/>
                </a:solidFill>
                <a:latin typeface="微软雅黑"/>
                <a:ea typeface="微软雅黑"/>
              </a:rPr>
              <a:t>02  </a:t>
            </a: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AI Agent 分析自动化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6个高频场景Skill化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30854" y="2621129"/>
            <a:ext cx="5392928" cy="969042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661" rtlCol="0" anchor="ctr"/>
          <a:lstStyle/>
          <a:p>
            <a:pPr algn="l">
              <a:lnSpc>
                <a:spcPct val="115000"/>
              </a:lnSpc>
            </a:pPr>
            <a:r>
              <a:rPr sz="1659" b="1">
                <a:solidFill>
                  <a:srgbClr val="2E75B6"/>
                </a:solidFill>
                <a:latin typeface="微软雅黑"/>
                <a:ea typeface="微软雅黑"/>
              </a:rPr>
              <a:t>03  </a:t>
            </a: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目标测算与常态化分析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Q2/Q3过程目标 + WBR/MBR/818</a:t>
            </a:r>
          </a:p>
        </p:txBody>
      </p:sp>
      <p:sp>
        <p:nvSpPr>
          <p:cNvPr id="10" name="矩形: 圆顶角 87">
            <a:extLst>
              <a:ext uri="{FF2B5EF4-FFF2-40B4-BE49-F238E27FC236}">
                <a16:creationId xmlns:a16="http://schemas.microsoft.com/office/drawing/2014/main" id="{2BFEEEE4-F08C-65E2-4C37-F415A9FD08E1}"/>
              </a:ext>
            </a:extLst>
          </p:cNvPr>
          <p:cNvSpPr/>
          <p:nvPr/>
        </p:nvSpPr>
        <p:spPr>
          <a:xfrm>
            <a:off x="7514398" y="3756065"/>
            <a:ext cx="1825839" cy="311346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59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实习经历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C2D1A9D-83F1-D262-82E4-4D7A47068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049" y="4145436"/>
            <a:ext cx="7191861" cy="19051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821" y="379191"/>
            <a:ext cx="75838" cy="505587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3" name="Rectangle 2"/>
          <p:cNvSpPr/>
          <p:nvPr/>
        </p:nvSpPr>
        <p:spPr>
          <a:xfrm>
            <a:off x="1169336" y="353911"/>
            <a:ext cx="8257921" cy="5898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2580" b="1">
                <a:solidFill>
                  <a:srgbClr val="1F4E79"/>
                </a:solidFill>
                <a:latin typeface="微软雅黑"/>
                <a:ea typeface="微软雅黑"/>
              </a:rPr>
              <a:t>主要工作任务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9335" y="1078586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6" name="Rectangle 5"/>
          <p:cNvSpPr/>
          <p:nvPr/>
        </p:nvSpPr>
        <p:spPr>
          <a:xfrm>
            <a:off x="1278879" y="1752702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2185" y="1516761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项目一：灵顺中小AI运营一期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实验设计 · DID因果验证 · 分型推广策略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验证 AI 工具显著正向（DID +26.3%），支撑灰度推全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8879" y="3227330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2185" y="2991390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项目二：AI Agent 分析自动化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高频场景Skill化 · 防错校验机制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单次复盘从 3-4 小时压缩到 25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8879" y="4701959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2185" y="4466019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项目三：目标测算与常态化大盘分析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Q3过程目标测算下发 · WBR/MBR/818复盘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目标下发业务线；拆解定位大盘结构性问题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9335" y="5687854"/>
            <a:ext cx="9858947" cy="4213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106" dirty="0" err="1">
                <a:solidFill>
                  <a:srgbClr val="595959"/>
                </a:solidFill>
                <a:latin typeface="微软雅黑"/>
                <a:ea typeface="微软雅黑"/>
              </a:rPr>
              <a:t>其他支持：数据需求提报SOP</a:t>
            </a:r>
            <a:r>
              <a:rPr sz="1106" dirty="0">
                <a:solidFill>
                  <a:srgbClr val="595959"/>
                </a:solidFill>
                <a:latin typeface="微软雅黑"/>
                <a:ea typeface="微软雅黑"/>
              </a:rPr>
              <a:t> ｜ </a:t>
            </a:r>
            <a:r>
              <a:rPr sz="1106" dirty="0" err="1">
                <a:solidFill>
                  <a:srgbClr val="595959"/>
                </a:solidFill>
                <a:latin typeface="微软雅黑"/>
                <a:ea typeface="微软雅黑"/>
              </a:rPr>
              <a:t>品牌池筛选与校验</a:t>
            </a:r>
            <a:r>
              <a:rPr sz="1106" dirty="0">
                <a:solidFill>
                  <a:srgbClr val="595959"/>
                </a:solidFill>
                <a:latin typeface="微软雅黑"/>
                <a:ea typeface="微软雅黑"/>
              </a:rPr>
              <a:t> ｜ 618激励核算 ｜ </a:t>
            </a:r>
            <a:r>
              <a:rPr sz="1106" dirty="0" err="1">
                <a:solidFill>
                  <a:srgbClr val="595959"/>
                </a:solidFill>
                <a:latin typeface="微软雅黑"/>
                <a:ea typeface="微软雅黑"/>
              </a:rPr>
              <a:t>人设商家大场现状分析</a:t>
            </a:r>
            <a:endParaRPr sz="1106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cell data - do not delete" hidden="1">
            <a:extLst>
              <a:ext uri="{FF2B5EF4-FFF2-40B4-BE49-F238E27FC236}">
                <a16:creationId xmlns:a16="http://schemas.microsoft.com/office/drawing/2014/main" id="{F407B196-47A2-A0A2-785A-F9279F4966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0101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7944FEEE-850B-E689-6A8A-CADFB2A488F6}"/>
              </a:ext>
            </a:extLst>
          </p:cNvPr>
          <p:cNvSpPr/>
          <p:nvPr/>
        </p:nvSpPr>
        <p:spPr>
          <a:xfrm>
            <a:off x="447040" y="1197418"/>
            <a:ext cx="3088963" cy="2121597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4338B3-569F-86F0-8D18-A03A3D879EB5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ea typeface="Alibaba PuHuiTi" pitchFamily="18" charset="-122"/>
                <a:cs typeface="Alibaba PuHuiTi" pitchFamily="18" charset="-122"/>
              </a:rPr>
              <a:t>灵顺项目｜背景及痛点</a:t>
            </a:r>
          </a:p>
        </p:txBody>
      </p:sp>
      <p:cxnSp>
        <p:nvCxnSpPr>
          <p:cNvPr id="4" name="直接连接符 8">
            <a:extLst>
              <a:ext uri="{FF2B5EF4-FFF2-40B4-BE49-F238E27FC236}">
                <a16:creationId xmlns:a16="http://schemas.microsoft.com/office/drawing/2014/main" id="{D65615C0-4B05-7582-2EF4-56D692FACC05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4">
            <a:extLst>
              <a:ext uri="{FF2B5EF4-FFF2-40B4-BE49-F238E27FC236}">
                <a16:creationId xmlns:a16="http://schemas.microsoft.com/office/drawing/2014/main" id="{817F20F4-6638-E82F-87B3-7472B91CE353}"/>
              </a:ext>
            </a:extLst>
          </p:cNvPr>
          <p:cNvSpPr txBox="1"/>
          <p:nvPr/>
        </p:nvSpPr>
        <p:spPr>
          <a:xfrm>
            <a:off x="1420876" y="1517110"/>
            <a:ext cx="204012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2B2B2B"/>
                </a:solidFill>
                <a:latin typeface="微软雅黑"/>
                <a:ea typeface="微软雅黑"/>
              </a:rPr>
              <a:t>长尾商家长期无人运营</a:t>
            </a:r>
            <a:endParaRPr sz="1600" b="0" dirty="0">
              <a:solidFill>
                <a:srgbClr val="2B2B2B"/>
              </a:solidFill>
              <a:latin typeface="微软雅黑"/>
              <a:ea typeface="微软雅黑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5B43AEF1-9F8A-06F9-0F99-4AF3013BEEB9}"/>
              </a:ext>
            </a:extLst>
          </p:cNvPr>
          <p:cNvSpPr txBox="1"/>
          <p:nvPr/>
        </p:nvSpPr>
        <p:spPr>
          <a:xfrm>
            <a:off x="1379728" y="2056607"/>
            <a:ext cx="138988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2B2B2B"/>
                </a:solidFill>
                <a:latin typeface="微软雅黑"/>
                <a:ea typeface="微软雅黑"/>
              </a:rPr>
              <a:t>经营率低</a:t>
            </a:r>
            <a:endParaRPr sz="1600" b="0" dirty="0">
              <a:solidFill>
                <a:srgbClr val="2B2B2B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DDDC0501-9BC4-A30C-B563-A3720A51CEF5}"/>
              </a:ext>
            </a:extLst>
          </p:cNvPr>
          <p:cNvSpPr txBox="1"/>
          <p:nvPr/>
        </p:nvSpPr>
        <p:spPr>
          <a:xfrm>
            <a:off x="1414111" y="2676475"/>
            <a:ext cx="180644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2B2B2B"/>
                </a:solidFill>
                <a:latin typeface="微软雅黑"/>
                <a:ea typeface="微软雅黑"/>
              </a:rPr>
              <a:t>人工小二覆盖有限</a:t>
            </a:r>
            <a:endParaRPr sz="1600" b="0" dirty="0">
              <a:solidFill>
                <a:srgbClr val="2B2B2B"/>
              </a:solidFill>
              <a:latin typeface="微软雅黑"/>
              <a:ea typeface="微软雅黑"/>
            </a:endParaRP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34E8F738-F47E-E5E7-3E4D-B074DF22F426}"/>
              </a:ext>
            </a:extLst>
          </p:cNvPr>
          <p:cNvSpPr/>
          <p:nvPr/>
        </p:nvSpPr>
        <p:spPr>
          <a:xfrm>
            <a:off x="661924" y="1583594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8">
            <a:extLst>
              <a:ext uri="{FF2B5EF4-FFF2-40B4-BE49-F238E27FC236}">
                <a16:creationId xmlns:a16="http://schemas.microsoft.com/office/drawing/2014/main" id="{108DB881-0411-02EF-D5F2-1F00C95BB8B9}"/>
              </a:ext>
            </a:extLst>
          </p:cNvPr>
          <p:cNvSpPr/>
          <p:nvPr/>
        </p:nvSpPr>
        <p:spPr>
          <a:xfrm>
            <a:off x="648208" y="1519586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1C55AB63-7B7E-1155-0BDE-9920C21D264D}"/>
              </a:ext>
            </a:extLst>
          </p:cNvPr>
          <p:cNvSpPr/>
          <p:nvPr/>
        </p:nvSpPr>
        <p:spPr>
          <a:xfrm>
            <a:off x="858520" y="1583594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10">
            <a:extLst>
              <a:ext uri="{FF2B5EF4-FFF2-40B4-BE49-F238E27FC236}">
                <a16:creationId xmlns:a16="http://schemas.microsoft.com/office/drawing/2014/main" id="{1516F29E-8C03-ABE9-8369-DC78780276EE}"/>
              </a:ext>
            </a:extLst>
          </p:cNvPr>
          <p:cNvSpPr/>
          <p:nvPr/>
        </p:nvSpPr>
        <p:spPr>
          <a:xfrm>
            <a:off x="844804" y="1519586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4E3E6BD6-D17F-FCAC-DE22-6867A9A6AF60}"/>
              </a:ext>
            </a:extLst>
          </p:cNvPr>
          <p:cNvSpPr/>
          <p:nvPr/>
        </p:nvSpPr>
        <p:spPr>
          <a:xfrm>
            <a:off x="1055116" y="1583594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12">
            <a:extLst>
              <a:ext uri="{FF2B5EF4-FFF2-40B4-BE49-F238E27FC236}">
                <a16:creationId xmlns:a16="http://schemas.microsoft.com/office/drawing/2014/main" id="{A999C6F7-D682-F232-6BC7-79F2365FF222}"/>
              </a:ext>
            </a:extLst>
          </p:cNvPr>
          <p:cNvSpPr/>
          <p:nvPr/>
        </p:nvSpPr>
        <p:spPr>
          <a:xfrm>
            <a:off x="1041400" y="1519586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13">
            <a:extLst>
              <a:ext uri="{FF2B5EF4-FFF2-40B4-BE49-F238E27FC236}">
                <a16:creationId xmlns:a16="http://schemas.microsoft.com/office/drawing/2014/main" id="{3E88F885-D291-CE54-B71F-92291EF551F1}"/>
              </a:ext>
            </a:extLst>
          </p:cNvPr>
          <p:cNvCxnSpPr>
            <a:cxnSpLocks/>
          </p:cNvCxnSpPr>
          <p:nvPr/>
        </p:nvCxnSpPr>
        <p:spPr>
          <a:xfrm>
            <a:off x="718312" y="2006693"/>
            <a:ext cx="164592" cy="118872"/>
          </a:xfrm>
          <a:prstGeom prst="line">
            <a:avLst/>
          </a:prstGeom>
          <a:ln w="33020">
            <a:solidFill>
              <a:srgbClr val="107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4">
            <a:extLst>
              <a:ext uri="{FF2B5EF4-FFF2-40B4-BE49-F238E27FC236}">
                <a16:creationId xmlns:a16="http://schemas.microsoft.com/office/drawing/2014/main" id="{565A3519-A616-206B-5142-11A2D473002C}"/>
              </a:ext>
            </a:extLst>
          </p:cNvPr>
          <p:cNvCxnSpPr>
            <a:cxnSpLocks/>
          </p:cNvCxnSpPr>
          <p:nvPr/>
        </p:nvCxnSpPr>
        <p:spPr>
          <a:xfrm>
            <a:off x="882904" y="2125565"/>
            <a:ext cx="274320" cy="173736"/>
          </a:xfrm>
          <a:prstGeom prst="line">
            <a:avLst/>
          </a:prstGeom>
          <a:ln w="33020">
            <a:solidFill>
              <a:srgbClr val="1070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15">
            <a:extLst>
              <a:ext uri="{FF2B5EF4-FFF2-40B4-BE49-F238E27FC236}">
                <a16:creationId xmlns:a16="http://schemas.microsoft.com/office/drawing/2014/main" id="{6ED25F01-89EF-9B7B-5338-321FC6CB4B97}"/>
              </a:ext>
            </a:extLst>
          </p:cNvPr>
          <p:cNvSpPr/>
          <p:nvPr/>
        </p:nvSpPr>
        <p:spPr>
          <a:xfrm>
            <a:off x="682591" y="2521027"/>
            <a:ext cx="493776" cy="493776"/>
          </a:xfrm>
          <a:prstGeom prst="ellips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id="{ACB1B2D9-9570-3945-4E26-9FD9ED5825CA}"/>
              </a:ext>
            </a:extLst>
          </p:cNvPr>
          <p:cNvSpPr/>
          <p:nvPr/>
        </p:nvSpPr>
        <p:spPr>
          <a:xfrm>
            <a:off x="865471" y="2612467"/>
            <a:ext cx="128016" cy="128016"/>
          </a:xfrm>
          <a:prstGeom prst="ellips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5B827E17-B5C3-3948-192A-B38C3E003FCD}"/>
              </a:ext>
            </a:extLst>
          </p:cNvPr>
          <p:cNvSpPr/>
          <p:nvPr/>
        </p:nvSpPr>
        <p:spPr>
          <a:xfrm>
            <a:off x="828895" y="2767915"/>
            <a:ext cx="201168" cy="137160"/>
          </a:xfrm>
          <a:prstGeom prst="roundRect">
            <a:avLst>
              <a:gd name="adj" fmla="val 50000"/>
            </a:avLst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F77DF5EB-F322-5481-44E4-E52DAC285BCF}"/>
              </a:ext>
            </a:extLst>
          </p:cNvPr>
          <p:cNvSpPr/>
          <p:nvPr/>
        </p:nvSpPr>
        <p:spPr>
          <a:xfrm>
            <a:off x="4541843" y="1165414"/>
            <a:ext cx="2842074" cy="2153601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5A3B24A4-38D6-D587-83A9-D77BBA3A3438}"/>
              </a:ext>
            </a:extLst>
          </p:cNvPr>
          <p:cNvSpPr/>
          <p:nvPr/>
        </p:nvSpPr>
        <p:spPr>
          <a:xfrm>
            <a:off x="5487392" y="1379445"/>
            <a:ext cx="95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AFA2E59-4FC4-EE95-9E94-CC2C5CA48952}"/>
              </a:ext>
            </a:extLst>
          </p:cNvPr>
          <p:cNvSpPr txBox="1"/>
          <p:nvPr/>
        </p:nvSpPr>
        <p:spPr>
          <a:xfrm>
            <a:off x="5487392" y="1712963"/>
            <a:ext cx="950976" cy="257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F07020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49" name="Trapezoid 10">
            <a:extLst>
              <a:ext uri="{FF2B5EF4-FFF2-40B4-BE49-F238E27FC236}">
                <a16:creationId xmlns:a16="http://schemas.microsoft.com/office/drawing/2014/main" id="{347A95EB-D2D4-FFF7-89F3-C73F38A35547}"/>
              </a:ext>
            </a:extLst>
          </p:cNvPr>
          <p:cNvSpPr/>
          <p:nvPr/>
        </p:nvSpPr>
        <p:spPr>
          <a:xfrm>
            <a:off x="5395952" y="2019524"/>
            <a:ext cx="1133856" cy="118872"/>
          </a:xfrm>
          <a:prstGeom prst="trapezoid">
            <a:avLst>
              <a:gd name="adj" fmla="val 32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38B65E5F-6B5E-F1DD-E661-BFE89875D76C}"/>
              </a:ext>
            </a:extLst>
          </p:cNvPr>
          <p:cNvSpPr txBox="1"/>
          <p:nvPr/>
        </p:nvSpPr>
        <p:spPr>
          <a:xfrm>
            <a:off x="4597723" y="2193232"/>
            <a:ext cx="2743200" cy="1289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微软雅黑"/>
                <a:ea typeface="微软雅黑"/>
              </a:rPr>
              <a:t>技术团队开发AI工具</a:t>
            </a:r>
            <a:endParaRPr lang="en-US" sz="1500" b="1" dirty="0">
              <a:solidFill>
                <a:srgbClr val="2B2B2B"/>
              </a:solidFill>
              <a:latin typeface="微软雅黑"/>
              <a:ea typeface="微软雅黑"/>
            </a:endParaRP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微软雅黑"/>
                <a:ea typeface="微软雅黑"/>
              </a:rPr>
              <a:t>面向无人运营的</a:t>
            </a: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微软雅黑"/>
                <a:ea typeface="微软雅黑"/>
              </a:rPr>
              <a:t>长尾中小商家开展</a:t>
            </a: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微软雅黑"/>
                <a:ea typeface="微软雅黑"/>
              </a:rPr>
              <a:t>运营做功</a:t>
            </a:r>
          </a:p>
          <a:p>
            <a:pPr algn="ctr">
              <a:lnSpc>
                <a:spcPct val="105000"/>
              </a:lnSpc>
            </a:pPr>
            <a:endParaRPr sz="1500" b="1" dirty="0">
              <a:solidFill>
                <a:srgbClr val="2B2B2B"/>
              </a:solidFill>
              <a:latin typeface="微软雅黑"/>
              <a:ea typeface="微软雅黑"/>
            </a:endParaRPr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8DAADADE-77B5-6601-6EA2-1FE75A0AE50A}"/>
              </a:ext>
            </a:extLst>
          </p:cNvPr>
          <p:cNvSpPr/>
          <p:nvPr/>
        </p:nvSpPr>
        <p:spPr>
          <a:xfrm>
            <a:off x="8389757" y="1197419"/>
            <a:ext cx="2834640" cy="2121600"/>
          </a:xfrm>
          <a:prstGeom prst="roundRect">
            <a:avLst>
              <a:gd name="adj" fmla="val 7000"/>
            </a:avLst>
          </a:prstGeom>
          <a:solidFill>
            <a:srgbClr val="FDF3EB"/>
          </a:solidFill>
          <a:ln w="22225">
            <a:solidFill>
              <a:srgbClr val="F070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20">
            <a:extLst>
              <a:ext uri="{FF2B5EF4-FFF2-40B4-BE49-F238E27FC236}">
                <a16:creationId xmlns:a16="http://schemas.microsoft.com/office/drawing/2014/main" id="{2D53B4CB-F909-4796-B488-0F88B728DB69}"/>
              </a:ext>
            </a:extLst>
          </p:cNvPr>
          <p:cNvSpPr/>
          <p:nvPr/>
        </p:nvSpPr>
        <p:spPr>
          <a:xfrm>
            <a:off x="9423029" y="1539844"/>
            <a:ext cx="768096" cy="768096"/>
          </a:xfrm>
          <a:prstGeom prst="ellipse">
            <a:avLst/>
          </a:prstGeom>
          <a:solidFill>
            <a:srgbClr val="F07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7F255C60-CE16-F263-B0D2-EE117992969F}"/>
              </a:ext>
            </a:extLst>
          </p:cNvPr>
          <p:cNvSpPr txBox="1"/>
          <p:nvPr/>
        </p:nvSpPr>
        <p:spPr>
          <a:xfrm>
            <a:off x="9404741" y="1762237"/>
            <a:ext cx="768096" cy="45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dirty="0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D5E3610F-D2CC-7C21-7561-5275A685BB75}"/>
              </a:ext>
            </a:extLst>
          </p:cNvPr>
          <p:cNvSpPr txBox="1"/>
          <p:nvPr/>
        </p:nvSpPr>
        <p:spPr>
          <a:xfrm>
            <a:off x="8417189" y="2633283"/>
            <a:ext cx="2743200" cy="510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微软雅黑"/>
                <a:ea typeface="微软雅黑"/>
              </a:rPr>
              <a:t>能否有效激活商家</a:t>
            </a:r>
            <a:r>
              <a:rPr sz="1500" b="1" dirty="0">
                <a:solidFill>
                  <a:srgbClr val="2B2B2B"/>
                </a:solidFill>
                <a:latin typeface="微软雅黑"/>
                <a:ea typeface="微软雅黑"/>
              </a:rPr>
              <a:t>，</a:t>
            </a:r>
          </a:p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微软雅黑"/>
                <a:ea typeface="微软雅黑"/>
              </a:rPr>
              <a:t>仍需实验验证</a:t>
            </a:r>
            <a:endParaRPr sz="1500" b="1" dirty="0">
              <a:solidFill>
                <a:srgbClr val="2B2B2B"/>
              </a:solidFill>
              <a:latin typeface="微软雅黑"/>
              <a:ea typeface="微软雅黑"/>
            </a:endParaRPr>
          </a:p>
        </p:txBody>
      </p:sp>
      <p:sp>
        <p:nvSpPr>
          <p:cNvPr id="64" name="Right Arrow 38">
            <a:extLst>
              <a:ext uri="{FF2B5EF4-FFF2-40B4-BE49-F238E27FC236}">
                <a16:creationId xmlns:a16="http://schemas.microsoft.com/office/drawing/2014/main" id="{AC30F284-2B89-84C8-64E4-20526F7F387A}"/>
              </a:ext>
            </a:extLst>
          </p:cNvPr>
          <p:cNvSpPr/>
          <p:nvPr/>
        </p:nvSpPr>
        <p:spPr>
          <a:xfrm>
            <a:off x="3724309" y="2317558"/>
            <a:ext cx="733230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ight Arrow 38">
            <a:extLst>
              <a:ext uri="{FF2B5EF4-FFF2-40B4-BE49-F238E27FC236}">
                <a16:creationId xmlns:a16="http://schemas.microsoft.com/office/drawing/2014/main" id="{05810433-8233-C052-8ECF-B971C8315278}"/>
              </a:ext>
            </a:extLst>
          </p:cNvPr>
          <p:cNvSpPr/>
          <p:nvPr/>
        </p:nvSpPr>
        <p:spPr>
          <a:xfrm>
            <a:off x="7427282" y="2319785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ight Arrow 38">
            <a:extLst>
              <a:ext uri="{FF2B5EF4-FFF2-40B4-BE49-F238E27FC236}">
                <a16:creationId xmlns:a16="http://schemas.microsoft.com/office/drawing/2014/main" id="{87849E60-039E-4B0C-410F-46FD6E01138D}"/>
              </a:ext>
            </a:extLst>
          </p:cNvPr>
          <p:cNvSpPr/>
          <p:nvPr/>
        </p:nvSpPr>
        <p:spPr>
          <a:xfrm rot="5400000">
            <a:off x="9386453" y="3613591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26">
            <a:extLst>
              <a:ext uri="{FF2B5EF4-FFF2-40B4-BE49-F238E27FC236}">
                <a16:creationId xmlns:a16="http://schemas.microsoft.com/office/drawing/2014/main" id="{894D4417-5100-3FDD-2F18-291CFA90F6F3}"/>
              </a:ext>
            </a:extLst>
          </p:cNvPr>
          <p:cNvSpPr/>
          <p:nvPr/>
        </p:nvSpPr>
        <p:spPr>
          <a:xfrm>
            <a:off x="8389757" y="4258898"/>
            <a:ext cx="2862072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37">
            <a:extLst>
              <a:ext uri="{FF2B5EF4-FFF2-40B4-BE49-F238E27FC236}">
                <a16:creationId xmlns:a16="http://schemas.microsoft.com/office/drawing/2014/main" id="{358EA4BA-ADC9-1852-631E-A8F65553BB2B}"/>
              </a:ext>
            </a:extLst>
          </p:cNvPr>
          <p:cNvSpPr/>
          <p:nvPr/>
        </p:nvSpPr>
        <p:spPr>
          <a:xfrm>
            <a:off x="9560189" y="4807538"/>
            <a:ext cx="228600" cy="228600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39">
            <a:extLst>
              <a:ext uri="{FF2B5EF4-FFF2-40B4-BE49-F238E27FC236}">
                <a16:creationId xmlns:a16="http://schemas.microsoft.com/office/drawing/2014/main" id="{CB5940D0-D032-13EA-E4F3-8E0E88E4A13F}"/>
              </a:ext>
            </a:extLst>
          </p:cNvPr>
          <p:cNvSpPr/>
          <p:nvPr/>
        </p:nvSpPr>
        <p:spPr>
          <a:xfrm>
            <a:off x="9916805" y="4679522"/>
            <a:ext cx="228600" cy="228600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1" name="Connector 41">
            <a:extLst>
              <a:ext uri="{FF2B5EF4-FFF2-40B4-BE49-F238E27FC236}">
                <a16:creationId xmlns:a16="http://schemas.microsoft.com/office/drawing/2014/main" id="{84E49F9A-4DB3-DBE3-C17C-FDA9B7E63662}"/>
              </a:ext>
            </a:extLst>
          </p:cNvPr>
          <p:cNvCxnSpPr/>
          <p:nvPr/>
        </p:nvCxnSpPr>
        <p:spPr>
          <a:xfrm flipV="1">
            <a:off x="9779645" y="4825826"/>
            <a:ext cx="128016" cy="91440"/>
          </a:xfrm>
          <a:prstGeom prst="line">
            <a:avLst/>
          </a:prstGeom>
          <a:ln w="2286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42">
            <a:extLst>
              <a:ext uri="{FF2B5EF4-FFF2-40B4-BE49-F238E27FC236}">
                <a16:creationId xmlns:a16="http://schemas.microsoft.com/office/drawing/2014/main" id="{4F80557B-9742-C9A0-CCF5-D16BD0A941C9}"/>
              </a:ext>
            </a:extLst>
          </p:cNvPr>
          <p:cNvCxnSpPr/>
          <p:nvPr/>
        </p:nvCxnSpPr>
        <p:spPr>
          <a:xfrm>
            <a:off x="9779645" y="4917266"/>
            <a:ext cx="237744" cy="82296"/>
          </a:xfrm>
          <a:prstGeom prst="line">
            <a:avLst/>
          </a:prstGeom>
          <a:ln w="2286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43">
            <a:extLst>
              <a:ext uri="{FF2B5EF4-FFF2-40B4-BE49-F238E27FC236}">
                <a16:creationId xmlns:a16="http://schemas.microsoft.com/office/drawing/2014/main" id="{32F5B6A3-9218-2932-DECE-621274AEC9FC}"/>
              </a:ext>
            </a:extLst>
          </p:cNvPr>
          <p:cNvSpPr txBox="1"/>
          <p:nvPr/>
        </p:nvSpPr>
        <p:spPr>
          <a:xfrm>
            <a:off x="8462909" y="528302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支持 AB 方案设定</a:t>
            </a:r>
          </a:p>
        </p:txBody>
      </p:sp>
      <p:sp>
        <p:nvSpPr>
          <p:cNvPr id="155" name="Rounded Rectangle 29">
            <a:extLst>
              <a:ext uri="{FF2B5EF4-FFF2-40B4-BE49-F238E27FC236}">
                <a16:creationId xmlns:a16="http://schemas.microsoft.com/office/drawing/2014/main" id="{D656AFA7-4617-9232-EE5C-EFBA9931F8FE}"/>
              </a:ext>
            </a:extLst>
          </p:cNvPr>
          <p:cNvSpPr/>
          <p:nvPr/>
        </p:nvSpPr>
        <p:spPr>
          <a:xfrm>
            <a:off x="4592642" y="4258898"/>
            <a:ext cx="2788920" cy="17322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30">
            <a:extLst>
              <a:ext uri="{FF2B5EF4-FFF2-40B4-BE49-F238E27FC236}">
                <a16:creationId xmlns:a16="http://schemas.microsoft.com/office/drawing/2014/main" id="{518F0030-6AFD-C75A-357D-6525C6861413}"/>
              </a:ext>
            </a:extLst>
          </p:cNvPr>
          <p:cNvSpPr/>
          <p:nvPr/>
        </p:nvSpPr>
        <p:spPr>
          <a:xfrm>
            <a:off x="4720658" y="4290373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44">
            <a:extLst>
              <a:ext uri="{FF2B5EF4-FFF2-40B4-BE49-F238E27FC236}">
                <a16:creationId xmlns:a16="http://schemas.microsoft.com/office/drawing/2014/main" id="{E72EF252-16A9-064B-64C1-567828AF4AC6}"/>
              </a:ext>
            </a:extLst>
          </p:cNvPr>
          <p:cNvSpPr/>
          <p:nvPr/>
        </p:nvSpPr>
        <p:spPr>
          <a:xfrm>
            <a:off x="5817938" y="4582982"/>
            <a:ext cx="384048" cy="38404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45">
            <a:extLst>
              <a:ext uri="{FF2B5EF4-FFF2-40B4-BE49-F238E27FC236}">
                <a16:creationId xmlns:a16="http://schemas.microsoft.com/office/drawing/2014/main" id="{723DB469-A761-9EF2-2C0E-C23CB77D18EC}"/>
              </a:ext>
            </a:extLst>
          </p:cNvPr>
          <p:cNvSpPr/>
          <p:nvPr/>
        </p:nvSpPr>
        <p:spPr>
          <a:xfrm>
            <a:off x="5886518" y="4651562"/>
            <a:ext cx="246888" cy="24688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46">
            <a:extLst>
              <a:ext uri="{FF2B5EF4-FFF2-40B4-BE49-F238E27FC236}">
                <a16:creationId xmlns:a16="http://schemas.microsoft.com/office/drawing/2014/main" id="{1369897A-1021-D60D-9625-A52503F32C10}"/>
              </a:ext>
            </a:extLst>
          </p:cNvPr>
          <p:cNvSpPr/>
          <p:nvPr/>
        </p:nvSpPr>
        <p:spPr>
          <a:xfrm>
            <a:off x="5955098" y="4720142"/>
            <a:ext cx="109728" cy="1097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1" name="Connector 47">
            <a:extLst>
              <a:ext uri="{FF2B5EF4-FFF2-40B4-BE49-F238E27FC236}">
                <a16:creationId xmlns:a16="http://schemas.microsoft.com/office/drawing/2014/main" id="{FC1CC5EF-3725-BED3-19B4-0F1B6DB73BA9}"/>
              </a:ext>
            </a:extLst>
          </p:cNvPr>
          <p:cNvCxnSpPr/>
          <p:nvPr/>
        </p:nvCxnSpPr>
        <p:spPr>
          <a:xfrm flipH="1">
            <a:off x="6055682" y="4537262"/>
            <a:ext cx="173736" cy="192024"/>
          </a:xfrm>
          <a:prstGeom prst="line">
            <a:avLst/>
          </a:prstGeom>
          <a:ln w="2540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48">
            <a:extLst>
              <a:ext uri="{FF2B5EF4-FFF2-40B4-BE49-F238E27FC236}">
                <a16:creationId xmlns:a16="http://schemas.microsoft.com/office/drawing/2014/main" id="{F4494211-BE46-5A55-D3ED-A2BC3A93151B}"/>
              </a:ext>
            </a:extLst>
          </p:cNvPr>
          <p:cNvSpPr txBox="1"/>
          <p:nvPr/>
        </p:nvSpPr>
        <p:spPr>
          <a:xfrm>
            <a:off x="4638362" y="523220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支持目标设定</a:t>
            </a:r>
          </a:p>
        </p:txBody>
      </p:sp>
      <p:sp>
        <p:nvSpPr>
          <p:cNvPr id="163" name="Rounded Rectangle 32">
            <a:extLst>
              <a:ext uri="{FF2B5EF4-FFF2-40B4-BE49-F238E27FC236}">
                <a16:creationId xmlns:a16="http://schemas.microsoft.com/office/drawing/2014/main" id="{8AB201D5-CF16-870F-76B7-B0C8584F78EF}"/>
              </a:ext>
            </a:extLst>
          </p:cNvPr>
          <p:cNvSpPr/>
          <p:nvPr/>
        </p:nvSpPr>
        <p:spPr>
          <a:xfrm>
            <a:off x="624146" y="4182425"/>
            <a:ext cx="283464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6" name="Connector 49">
            <a:extLst>
              <a:ext uri="{FF2B5EF4-FFF2-40B4-BE49-F238E27FC236}">
                <a16:creationId xmlns:a16="http://schemas.microsoft.com/office/drawing/2014/main" id="{6DEEBAAB-7226-5695-418E-1894FB4E4FEC}"/>
              </a:ext>
            </a:extLst>
          </p:cNvPr>
          <p:cNvCxnSpPr/>
          <p:nvPr/>
        </p:nvCxnSpPr>
        <p:spPr>
          <a:xfrm flipV="1">
            <a:off x="1785434" y="4721921"/>
            <a:ext cx="137160" cy="146304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50">
            <a:extLst>
              <a:ext uri="{FF2B5EF4-FFF2-40B4-BE49-F238E27FC236}">
                <a16:creationId xmlns:a16="http://schemas.microsoft.com/office/drawing/2014/main" id="{A8823E44-E290-FAB7-A568-20474F07BF17}"/>
              </a:ext>
            </a:extLst>
          </p:cNvPr>
          <p:cNvCxnSpPr/>
          <p:nvPr/>
        </p:nvCxnSpPr>
        <p:spPr>
          <a:xfrm>
            <a:off x="1922594" y="4721921"/>
            <a:ext cx="100584" cy="73152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51">
            <a:extLst>
              <a:ext uri="{FF2B5EF4-FFF2-40B4-BE49-F238E27FC236}">
                <a16:creationId xmlns:a16="http://schemas.microsoft.com/office/drawing/2014/main" id="{00541C85-0004-C720-CA6D-247FC841E103}"/>
              </a:ext>
            </a:extLst>
          </p:cNvPr>
          <p:cNvSpPr/>
          <p:nvPr/>
        </p:nvSpPr>
        <p:spPr>
          <a:xfrm>
            <a:off x="2041466" y="4603049"/>
            <a:ext cx="292608" cy="292608"/>
          </a:xfrm>
          <a:prstGeom prst="ellipse">
            <a:avLst/>
          </a:prstGeom>
          <a:noFill/>
          <a:ln w="2413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9" name="Connector 52">
            <a:extLst>
              <a:ext uri="{FF2B5EF4-FFF2-40B4-BE49-F238E27FC236}">
                <a16:creationId xmlns:a16="http://schemas.microsoft.com/office/drawing/2014/main" id="{FA572A7A-42CF-6DC6-3D47-3B2ED7F3455F}"/>
              </a:ext>
            </a:extLst>
          </p:cNvPr>
          <p:cNvCxnSpPr/>
          <p:nvPr/>
        </p:nvCxnSpPr>
        <p:spPr>
          <a:xfrm>
            <a:off x="2251778" y="4813361"/>
            <a:ext cx="73152" cy="73152"/>
          </a:xfrm>
          <a:prstGeom prst="line">
            <a:avLst/>
          </a:prstGeom>
          <a:ln w="304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53">
            <a:extLst>
              <a:ext uri="{FF2B5EF4-FFF2-40B4-BE49-F238E27FC236}">
                <a16:creationId xmlns:a16="http://schemas.microsoft.com/office/drawing/2014/main" id="{436DCEDD-F124-4B77-58CA-F67A12D8376F}"/>
              </a:ext>
            </a:extLst>
          </p:cNvPr>
          <p:cNvSpPr txBox="1"/>
          <p:nvPr/>
        </p:nvSpPr>
        <p:spPr>
          <a:xfrm>
            <a:off x="669866" y="5206553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开展实验数据验证</a:t>
            </a:r>
          </a:p>
        </p:txBody>
      </p:sp>
      <p:sp>
        <p:nvSpPr>
          <p:cNvPr id="171" name="Right Arrow 38">
            <a:extLst>
              <a:ext uri="{FF2B5EF4-FFF2-40B4-BE49-F238E27FC236}">
                <a16:creationId xmlns:a16="http://schemas.microsoft.com/office/drawing/2014/main" id="{BAAE0F25-2F09-2A13-B132-43AAFC019FF9}"/>
              </a:ext>
            </a:extLst>
          </p:cNvPr>
          <p:cNvSpPr/>
          <p:nvPr/>
        </p:nvSpPr>
        <p:spPr>
          <a:xfrm rot="10800000">
            <a:off x="7438087" y="4898724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ight Arrow 38">
            <a:extLst>
              <a:ext uri="{FF2B5EF4-FFF2-40B4-BE49-F238E27FC236}">
                <a16:creationId xmlns:a16="http://schemas.microsoft.com/office/drawing/2014/main" id="{66F33401-5851-1220-7301-A28E61601EDC}"/>
              </a:ext>
            </a:extLst>
          </p:cNvPr>
          <p:cNvSpPr/>
          <p:nvPr/>
        </p:nvSpPr>
        <p:spPr>
          <a:xfrm rot="10800000">
            <a:off x="3600518" y="4932877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30">
            <a:extLst>
              <a:ext uri="{FF2B5EF4-FFF2-40B4-BE49-F238E27FC236}">
                <a16:creationId xmlns:a16="http://schemas.microsoft.com/office/drawing/2014/main" id="{6D6DCB2C-94A8-24FE-57F7-788FF298C574}"/>
              </a:ext>
            </a:extLst>
          </p:cNvPr>
          <p:cNvSpPr/>
          <p:nvPr/>
        </p:nvSpPr>
        <p:spPr>
          <a:xfrm>
            <a:off x="4697798" y="5934008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30">
            <a:extLst>
              <a:ext uri="{FF2B5EF4-FFF2-40B4-BE49-F238E27FC236}">
                <a16:creationId xmlns:a16="http://schemas.microsoft.com/office/drawing/2014/main" id="{C6485271-1D21-A89E-5070-33F1C5E093C2}"/>
              </a:ext>
            </a:extLst>
          </p:cNvPr>
          <p:cNvSpPr/>
          <p:nvPr/>
        </p:nvSpPr>
        <p:spPr>
          <a:xfrm>
            <a:off x="8517773" y="5904818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30">
            <a:extLst>
              <a:ext uri="{FF2B5EF4-FFF2-40B4-BE49-F238E27FC236}">
                <a16:creationId xmlns:a16="http://schemas.microsoft.com/office/drawing/2014/main" id="{4F559363-DF40-058A-170E-4999FC2F83B5}"/>
              </a:ext>
            </a:extLst>
          </p:cNvPr>
          <p:cNvSpPr/>
          <p:nvPr/>
        </p:nvSpPr>
        <p:spPr>
          <a:xfrm>
            <a:off x="8554349" y="427894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30">
            <a:extLst>
              <a:ext uri="{FF2B5EF4-FFF2-40B4-BE49-F238E27FC236}">
                <a16:creationId xmlns:a16="http://schemas.microsoft.com/office/drawing/2014/main" id="{F9955A5D-9D6D-8B95-C3D7-9ED5B4EFD76E}"/>
              </a:ext>
            </a:extLst>
          </p:cNvPr>
          <p:cNvSpPr/>
          <p:nvPr/>
        </p:nvSpPr>
        <p:spPr>
          <a:xfrm>
            <a:off x="752162" y="588424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30">
            <a:extLst>
              <a:ext uri="{FF2B5EF4-FFF2-40B4-BE49-F238E27FC236}">
                <a16:creationId xmlns:a16="http://schemas.microsoft.com/office/drawing/2014/main" id="{CC0204BA-5B63-BDA9-E4CE-3F0B06FA1195}"/>
              </a:ext>
            </a:extLst>
          </p:cNvPr>
          <p:cNvSpPr/>
          <p:nvPr/>
        </p:nvSpPr>
        <p:spPr>
          <a:xfrm>
            <a:off x="785368" y="422849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1069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hinkcell data - do not delete" hidden="1">
            <a:extLst>
              <a:ext uri="{FF2B5EF4-FFF2-40B4-BE49-F238E27FC236}">
                <a16:creationId xmlns:a16="http://schemas.microsoft.com/office/drawing/2014/main" id="{AFB308DC-4286-7F49-AF1D-FE08E495B6C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2293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圆角矩形 67">
            <a:extLst>
              <a:ext uri="{FF2B5EF4-FFF2-40B4-BE49-F238E27FC236}">
                <a16:creationId xmlns:a16="http://schemas.microsoft.com/office/drawing/2014/main" id="{AF45D1E7-4D7D-0103-3AC7-44FEE5908506}"/>
              </a:ext>
            </a:extLst>
          </p:cNvPr>
          <p:cNvSpPr/>
          <p:nvPr/>
        </p:nvSpPr>
        <p:spPr>
          <a:xfrm>
            <a:off x="1104178" y="3062055"/>
            <a:ext cx="10039819" cy="304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497105" y="3331804"/>
            <a:ext cx="2443671" cy="96904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cxnSp>
        <p:nvCxnSpPr>
          <p:cNvPr id="4" name="Connector 3"/>
          <p:cNvCxnSpPr/>
          <p:nvPr/>
        </p:nvCxnSpPr>
        <p:spPr>
          <a:xfrm flipV="1">
            <a:off x="1834163" y="3786833"/>
            <a:ext cx="126397" cy="134823"/>
          </a:xfrm>
          <a:prstGeom prst="line">
            <a:avLst/>
          </a:prstGeom>
          <a:ln w="27940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60560" y="3786833"/>
            <a:ext cx="92691" cy="67412"/>
          </a:xfrm>
          <a:prstGeom prst="line">
            <a:avLst/>
          </a:prstGeom>
          <a:ln w="27940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70104" y="3677289"/>
            <a:ext cx="269646" cy="269646"/>
          </a:xfrm>
          <a:prstGeom prst="ellipse">
            <a:avLst/>
          </a:prstGeom>
          <a:noFill/>
          <a:ln w="2413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cxnSp>
        <p:nvCxnSpPr>
          <p:cNvPr id="7" name="Connector 6"/>
          <p:cNvCxnSpPr/>
          <p:nvPr/>
        </p:nvCxnSpPr>
        <p:spPr>
          <a:xfrm>
            <a:off x="2263912" y="3871097"/>
            <a:ext cx="67412" cy="67412"/>
          </a:xfrm>
          <a:prstGeom prst="line">
            <a:avLst/>
          </a:prstGeom>
          <a:ln w="30480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66147" y="3711457"/>
            <a:ext cx="1432497" cy="209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82" b="1">
                <a:solidFill>
                  <a:srgbClr val="2B2B2B"/>
                </a:solidFill>
                <a:latin typeface="微软雅黑"/>
                <a:ea typeface="微软雅黑"/>
              </a:rPr>
              <a:t>分析实验数据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7105" y="4680036"/>
            <a:ext cx="2443671" cy="96904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0" name="Oval 9"/>
          <p:cNvSpPr/>
          <p:nvPr/>
        </p:nvSpPr>
        <p:spPr>
          <a:xfrm>
            <a:off x="1901575" y="4991815"/>
            <a:ext cx="126397" cy="126397"/>
          </a:xfrm>
          <a:prstGeom prst="ellipse">
            <a:avLst/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1" name="Rounded Rectangle 10"/>
          <p:cNvSpPr/>
          <p:nvPr/>
        </p:nvSpPr>
        <p:spPr>
          <a:xfrm>
            <a:off x="1842589" y="5143491"/>
            <a:ext cx="235941" cy="151676"/>
          </a:xfrm>
          <a:prstGeom prst="roundRect">
            <a:avLst>
              <a:gd name="adj" fmla="val 50000"/>
            </a:avLst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2" name="TextBox 11"/>
          <p:cNvSpPr txBox="1"/>
          <p:nvPr/>
        </p:nvSpPr>
        <p:spPr>
          <a:xfrm>
            <a:off x="2086956" y="5049893"/>
            <a:ext cx="235941" cy="237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67" b="1">
                <a:solidFill>
                  <a:srgbClr val="8A8A8A"/>
                </a:solidFill>
                <a:latin typeface="微软雅黑"/>
                <a:ea typeface="微软雅黑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6147" y="5059689"/>
            <a:ext cx="1432497" cy="209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82" b="1">
                <a:solidFill>
                  <a:srgbClr val="2B2B2B"/>
                </a:solidFill>
                <a:latin typeface="微软雅黑"/>
                <a:ea typeface="微软雅黑"/>
              </a:rPr>
              <a:t>探查商家情况</a:t>
            </a:r>
          </a:p>
        </p:txBody>
      </p:sp>
      <p:sp>
        <p:nvSpPr>
          <p:cNvPr id="16" name="Right Arrow 15"/>
          <p:cNvSpPr/>
          <p:nvPr/>
        </p:nvSpPr>
        <p:spPr>
          <a:xfrm rot="1713733">
            <a:off x="4062793" y="3929881"/>
            <a:ext cx="708865" cy="278073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7" name="Rounded Rectangle 16"/>
          <p:cNvSpPr/>
          <p:nvPr/>
        </p:nvSpPr>
        <p:spPr>
          <a:xfrm>
            <a:off x="4884538" y="3837391"/>
            <a:ext cx="2275142" cy="1306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8" name="Oval 17"/>
          <p:cNvSpPr/>
          <p:nvPr/>
        </p:nvSpPr>
        <p:spPr>
          <a:xfrm>
            <a:off x="5196317" y="4292420"/>
            <a:ext cx="387617" cy="387617"/>
          </a:xfrm>
          <a:prstGeom prst="ellipse">
            <a:avLst/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9" name="Isosceles Triangle 18"/>
          <p:cNvSpPr/>
          <p:nvPr/>
        </p:nvSpPr>
        <p:spPr>
          <a:xfrm>
            <a:off x="5343780" y="4338765"/>
            <a:ext cx="92691" cy="160103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343780" y="4473587"/>
            <a:ext cx="92691" cy="160103"/>
          </a:xfrm>
          <a:prstGeom prst="triangle">
            <a:avLst/>
          </a:prstGeom>
          <a:solidFill>
            <a:srgbClr val="FFFFFF"/>
          </a:solidFill>
          <a:ln w="1524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1" name="Oval 20"/>
          <p:cNvSpPr/>
          <p:nvPr/>
        </p:nvSpPr>
        <p:spPr>
          <a:xfrm>
            <a:off x="5360633" y="4456735"/>
            <a:ext cx="58985" cy="58985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2" name="TextBox 21"/>
          <p:cNvSpPr txBox="1"/>
          <p:nvPr/>
        </p:nvSpPr>
        <p:spPr>
          <a:xfrm>
            <a:off x="5727183" y="4392562"/>
            <a:ext cx="1365085" cy="19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90" b="1">
                <a:solidFill>
                  <a:srgbClr val="2B2B2B"/>
                </a:solidFill>
                <a:latin typeface="微软雅黑"/>
                <a:ea typeface="微软雅黑"/>
              </a:rPr>
              <a:t>识别有效做功方向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2530" y="3837391"/>
            <a:ext cx="2190877" cy="1306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 dirty="0"/>
          </a:p>
        </p:txBody>
      </p:sp>
      <p:sp>
        <p:nvSpPr>
          <p:cNvPr id="25" name="Oval 24"/>
          <p:cNvSpPr/>
          <p:nvPr/>
        </p:nvSpPr>
        <p:spPr>
          <a:xfrm>
            <a:off x="8676440" y="4288207"/>
            <a:ext cx="278073" cy="278073"/>
          </a:xfrm>
          <a:prstGeom prst="ellipse">
            <a:avLst/>
          </a:prstGeom>
          <a:noFill/>
          <a:ln w="228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6" name="Rectangle 25"/>
          <p:cNvSpPr/>
          <p:nvPr/>
        </p:nvSpPr>
        <p:spPr>
          <a:xfrm>
            <a:off x="8748065" y="4532574"/>
            <a:ext cx="130610" cy="46345"/>
          </a:xfrm>
          <a:prstGeom prst="rect">
            <a:avLst/>
          </a:prstGeom>
          <a:noFill/>
          <a:ln w="2032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7" name="Rectangle 26"/>
          <p:cNvSpPr/>
          <p:nvPr/>
        </p:nvSpPr>
        <p:spPr>
          <a:xfrm>
            <a:off x="8773345" y="4583132"/>
            <a:ext cx="80051" cy="33706"/>
          </a:xfrm>
          <a:prstGeom prst="rect">
            <a:avLst/>
          </a:prstGeom>
          <a:noFill/>
          <a:ln w="2032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8" name="Gear 6 27"/>
          <p:cNvSpPr/>
          <p:nvPr/>
        </p:nvSpPr>
        <p:spPr>
          <a:xfrm>
            <a:off x="8748065" y="4355618"/>
            <a:ext cx="130610" cy="130610"/>
          </a:xfrm>
          <a:prstGeom prst="gear6">
            <a:avLst/>
          </a:prstGeom>
          <a:noFill/>
          <a:ln w="1524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9" name="TextBox 28"/>
          <p:cNvSpPr txBox="1"/>
          <p:nvPr/>
        </p:nvSpPr>
        <p:spPr>
          <a:xfrm>
            <a:off x="9144108" y="4310666"/>
            <a:ext cx="1280820" cy="4042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90" b="1" dirty="0">
                <a:solidFill>
                  <a:srgbClr val="2B2B2B"/>
                </a:solidFill>
                <a:latin typeface="微软雅黑"/>
                <a:ea typeface="微软雅黑"/>
              </a:rPr>
              <a:t>基于分析结果</a:t>
            </a:r>
            <a:endParaRPr lang="en-US" sz="1290" b="1" dirty="0">
              <a:solidFill>
                <a:srgbClr val="2B2B2B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</a:pPr>
            <a:r>
              <a:rPr sz="1290" b="1" dirty="0" err="1">
                <a:solidFill>
                  <a:srgbClr val="2B2B2B"/>
                </a:solidFill>
                <a:latin typeface="微软雅黑"/>
                <a:ea typeface="微软雅黑"/>
              </a:rPr>
              <a:t>形成策略建议</a:t>
            </a:r>
            <a:endParaRPr sz="1290" b="1" dirty="0">
              <a:solidFill>
                <a:srgbClr val="2B2B2B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8AFFD1E4-9E8C-BDC4-F528-F861BDD25069}"/>
              </a:ext>
            </a:extLst>
          </p:cNvPr>
          <p:cNvSpPr/>
          <p:nvPr/>
        </p:nvSpPr>
        <p:spPr>
          <a:xfrm>
            <a:off x="568960" y="1295676"/>
            <a:ext cx="2185484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">
            <a:extLst>
              <a:ext uri="{FF2B5EF4-FFF2-40B4-BE49-F238E27FC236}">
                <a16:creationId xmlns:a16="http://schemas.microsoft.com/office/drawing/2014/main" id="{1CD04DAD-7302-6BFA-3150-01761F09221B}"/>
              </a:ext>
            </a:extLst>
          </p:cNvPr>
          <p:cNvSpPr/>
          <p:nvPr/>
        </p:nvSpPr>
        <p:spPr>
          <a:xfrm>
            <a:off x="948616" y="1611144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4">
            <a:extLst>
              <a:ext uri="{FF2B5EF4-FFF2-40B4-BE49-F238E27FC236}">
                <a16:creationId xmlns:a16="http://schemas.microsoft.com/office/drawing/2014/main" id="{1774507E-535B-514D-BA8B-7E6246F57654}"/>
              </a:ext>
            </a:extLst>
          </p:cNvPr>
          <p:cNvSpPr/>
          <p:nvPr/>
        </p:nvSpPr>
        <p:spPr>
          <a:xfrm>
            <a:off x="1094920" y="1583711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A4FD1032-65C8-0283-2CB8-6E02C2575D83}"/>
              </a:ext>
            </a:extLst>
          </p:cNvPr>
          <p:cNvSpPr/>
          <p:nvPr/>
        </p:nvSpPr>
        <p:spPr>
          <a:xfrm>
            <a:off x="884607" y="1748304"/>
            <a:ext cx="163293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F2074228-8278-3822-1574-1D1F0F92028F}"/>
              </a:ext>
            </a:extLst>
          </p:cNvPr>
          <p:cNvSpPr/>
          <p:nvPr/>
        </p:nvSpPr>
        <p:spPr>
          <a:xfrm>
            <a:off x="1067487" y="1711728"/>
            <a:ext cx="172365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48EE4BEE-BD6A-D987-7D3C-8F2E603479B6}"/>
              </a:ext>
            </a:extLst>
          </p:cNvPr>
          <p:cNvSpPr txBox="1"/>
          <p:nvPr/>
        </p:nvSpPr>
        <p:spPr>
          <a:xfrm>
            <a:off x="1565836" y="1616332"/>
            <a:ext cx="1161196" cy="2730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技术团队</a:t>
            </a:r>
          </a:p>
        </p:txBody>
      </p:sp>
      <p:sp>
        <p:nvSpPr>
          <p:cNvPr id="39" name="Oval 8">
            <a:extLst>
              <a:ext uri="{FF2B5EF4-FFF2-40B4-BE49-F238E27FC236}">
                <a16:creationId xmlns:a16="http://schemas.microsoft.com/office/drawing/2014/main" id="{D59C608E-4803-EB42-5D6F-AE7661359803}"/>
              </a:ext>
            </a:extLst>
          </p:cNvPr>
          <p:cNvSpPr/>
          <p:nvPr/>
        </p:nvSpPr>
        <p:spPr>
          <a:xfrm>
            <a:off x="3569008" y="1291104"/>
            <a:ext cx="918951" cy="9144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24B90D40-F96F-1F64-DADE-3BC08F69A1AF}"/>
              </a:ext>
            </a:extLst>
          </p:cNvPr>
          <p:cNvSpPr/>
          <p:nvPr/>
        </p:nvSpPr>
        <p:spPr>
          <a:xfrm>
            <a:off x="3975916" y="1606572"/>
            <a:ext cx="101085" cy="100584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10">
            <a:extLst>
              <a:ext uri="{FF2B5EF4-FFF2-40B4-BE49-F238E27FC236}">
                <a16:creationId xmlns:a16="http://schemas.microsoft.com/office/drawing/2014/main" id="{F71565F0-0F52-EF7E-2F9D-440E44600DB1}"/>
              </a:ext>
            </a:extLst>
          </p:cNvPr>
          <p:cNvSpPr/>
          <p:nvPr/>
        </p:nvSpPr>
        <p:spPr>
          <a:xfrm>
            <a:off x="3857044" y="1643147"/>
            <a:ext cx="91895" cy="91440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11">
            <a:extLst>
              <a:ext uri="{FF2B5EF4-FFF2-40B4-BE49-F238E27FC236}">
                <a16:creationId xmlns:a16="http://schemas.microsoft.com/office/drawing/2014/main" id="{1FC515ED-4B83-8AB3-0606-6A7B38E8A76B}"/>
              </a:ext>
            </a:extLst>
          </p:cNvPr>
          <p:cNvSpPr/>
          <p:nvPr/>
        </p:nvSpPr>
        <p:spPr>
          <a:xfrm>
            <a:off x="4103932" y="1643147"/>
            <a:ext cx="91895" cy="91440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2">
            <a:extLst>
              <a:ext uri="{FF2B5EF4-FFF2-40B4-BE49-F238E27FC236}">
                <a16:creationId xmlns:a16="http://schemas.microsoft.com/office/drawing/2014/main" id="{C415ABFB-9BA0-9352-33E7-BED004E12874}"/>
              </a:ext>
            </a:extLst>
          </p:cNvPr>
          <p:cNvSpPr/>
          <p:nvPr/>
        </p:nvSpPr>
        <p:spPr>
          <a:xfrm>
            <a:off x="3948485" y="1720872"/>
            <a:ext cx="15622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13">
            <a:extLst>
              <a:ext uri="{FF2B5EF4-FFF2-40B4-BE49-F238E27FC236}">
                <a16:creationId xmlns:a16="http://schemas.microsoft.com/office/drawing/2014/main" id="{14F6F38A-134B-E90C-8739-E3C6A6363DC2}"/>
              </a:ext>
            </a:extLst>
          </p:cNvPr>
          <p:cNvSpPr/>
          <p:nvPr/>
        </p:nvSpPr>
        <p:spPr>
          <a:xfrm>
            <a:off x="3811324" y="1757448"/>
            <a:ext cx="137843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4">
            <a:extLst>
              <a:ext uri="{FF2B5EF4-FFF2-40B4-BE49-F238E27FC236}">
                <a16:creationId xmlns:a16="http://schemas.microsoft.com/office/drawing/2014/main" id="{9F7DD6A0-3D34-0937-AD3E-597FF7E444C3}"/>
              </a:ext>
            </a:extLst>
          </p:cNvPr>
          <p:cNvSpPr/>
          <p:nvPr/>
        </p:nvSpPr>
        <p:spPr>
          <a:xfrm>
            <a:off x="4108504" y="1757448"/>
            <a:ext cx="137843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5">
            <a:extLst>
              <a:ext uri="{FF2B5EF4-FFF2-40B4-BE49-F238E27FC236}">
                <a16:creationId xmlns:a16="http://schemas.microsoft.com/office/drawing/2014/main" id="{69BBFD37-ED89-5FE6-BBBC-21DFED6A345D}"/>
              </a:ext>
            </a:extLst>
          </p:cNvPr>
          <p:cNvSpPr/>
          <p:nvPr/>
        </p:nvSpPr>
        <p:spPr>
          <a:xfrm>
            <a:off x="5455263" y="1295676"/>
            <a:ext cx="2343324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6A5FFE7A-438A-6584-34C7-60E51275A9AF}"/>
              </a:ext>
            </a:extLst>
          </p:cNvPr>
          <p:cNvSpPr/>
          <p:nvPr/>
        </p:nvSpPr>
        <p:spPr>
          <a:xfrm>
            <a:off x="5830166" y="1588283"/>
            <a:ext cx="248117" cy="329184"/>
          </a:xfrm>
          <a:prstGeom prst="rect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17">
            <a:extLst>
              <a:ext uri="{FF2B5EF4-FFF2-40B4-BE49-F238E27FC236}">
                <a16:creationId xmlns:a16="http://schemas.microsoft.com/office/drawing/2014/main" id="{F84F7866-61AB-CAF7-98EF-5B706303C42F}"/>
              </a:ext>
            </a:extLst>
          </p:cNvPr>
          <p:cNvCxnSpPr>
            <a:cxnSpLocks/>
          </p:cNvCxnSpPr>
          <p:nvPr/>
        </p:nvCxnSpPr>
        <p:spPr>
          <a:xfrm>
            <a:off x="5885031" y="1688868"/>
            <a:ext cx="137843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8">
            <a:extLst>
              <a:ext uri="{FF2B5EF4-FFF2-40B4-BE49-F238E27FC236}">
                <a16:creationId xmlns:a16="http://schemas.microsoft.com/office/drawing/2014/main" id="{67AB2CF0-D356-3246-B22C-78FC3E6DFB49}"/>
              </a:ext>
            </a:extLst>
          </p:cNvPr>
          <p:cNvCxnSpPr>
            <a:cxnSpLocks/>
          </p:cNvCxnSpPr>
          <p:nvPr/>
        </p:nvCxnSpPr>
        <p:spPr>
          <a:xfrm>
            <a:off x="5885031" y="1771164"/>
            <a:ext cx="137843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9">
            <a:extLst>
              <a:ext uri="{FF2B5EF4-FFF2-40B4-BE49-F238E27FC236}">
                <a16:creationId xmlns:a16="http://schemas.microsoft.com/office/drawing/2014/main" id="{4D54BD4A-A0C9-25D3-42AD-1472F64DC331}"/>
              </a:ext>
            </a:extLst>
          </p:cNvPr>
          <p:cNvCxnSpPr>
            <a:cxnSpLocks/>
          </p:cNvCxnSpPr>
          <p:nvPr/>
        </p:nvCxnSpPr>
        <p:spPr>
          <a:xfrm>
            <a:off x="5885031" y="1853459"/>
            <a:ext cx="91895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20">
            <a:extLst>
              <a:ext uri="{FF2B5EF4-FFF2-40B4-BE49-F238E27FC236}">
                <a16:creationId xmlns:a16="http://schemas.microsoft.com/office/drawing/2014/main" id="{2B9602B7-9F3D-4138-9BAC-6110EAFAEB75}"/>
              </a:ext>
            </a:extLst>
          </p:cNvPr>
          <p:cNvSpPr/>
          <p:nvPr/>
        </p:nvSpPr>
        <p:spPr>
          <a:xfrm>
            <a:off x="6095342" y="1789452"/>
            <a:ext cx="202169" cy="20116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21">
            <a:extLst>
              <a:ext uri="{FF2B5EF4-FFF2-40B4-BE49-F238E27FC236}">
                <a16:creationId xmlns:a16="http://schemas.microsoft.com/office/drawing/2014/main" id="{087D5EEE-15A8-D81A-908F-A48564A7C4B0}"/>
              </a:ext>
            </a:extLst>
          </p:cNvPr>
          <p:cNvCxnSpPr>
            <a:cxnSpLocks/>
          </p:cNvCxnSpPr>
          <p:nvPr/>
        </p:nvCxnSpPr>
        <p:spPr>
          <a:xfrm>
            <a:off x="6250791" y="1944900"/>
            <a:ext cx="73152" cy="73152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22">
            <a:extLst>
              <a:ext uri="{FF2B5EF4-FFF2-40B4-BE49-F238E27FC236}">
                <a16:creationId xmlns:a16="http://schemas.microsoft.com/office/drawing/2014/main" id="{0A9B8553-4433-93E8-28AA-55686D1B0C29}"/>
              </a:ext>
            </a:extLst>
          </p:cNvPr>
          <p:cNvSpPr txBox="1"/>
          <p:nvPr/>
        </p:nvSpPr>
        <p:spPr>
          <a:xfrm>
            <a:off x="6570831" y="1616332"/>
            <a:ext cx="1194636" cy="2730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经管</a:t>
            </a:r>
          </a:p>
        </p:txBody>
      </p:sp>
      <p:sp>
        <p:nvSpPr>
          <p:cNvPr id="54" name="Right Arrow 23">
            <a:extLst>
              <a:ext uri="{FF2B5EF4-FFF2-40B4-BE49-F238E27FC236}">
                <a16:creationId xmlns:a16="http://schemas.microsoft.com/office/drawing/2014/main" id="{AA1CB44B-C26B-E916-037E-B39D57637124}"/>
              </a:ext>
            </a:extLst>
          </p:cNvPr>
          <p:cNvSpPr/>
          <p:nvPr/>
        </p:nvSpPr>
        <p:spPr>
          <a:xfrm>
            <a:off x="2882571" y="1560851"/>
            <a:ext cx="655049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ight Arrow 24">
            <a:extLst>
              <a:ext uri="{FF2B5EF4-FFF2-40B4-BE49-F238E27FC236}">
                <a16:creationId xmlns:a16="http://schemas.microsoft.com/office/drawing/2014/main" id="{C1830905-FEF4-1F9E-5E0D-6F2D1AB72C4E}"/>
              </a:ext>
            </a:extLst>
          </p:cNvPr>
          <p:cNvSpPr/>
          <p:nvPr/>
        </p:nvSpPr>
        <p:spPr>
          <a:xfrm>
            <a:off x="4613611" y="1560851"/>
            <a:ext cx="738638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2">
            <a:extLst>
              <a:ext uri="{FF2B5EF4-FFF2-40B4-BE49-F238E27FC236}">
                <a16:creationId xmlns:a16="http://schemas.microsoft.com/office/drawing/2014/main" id="{DB2DEBFE-E36D-B78C-A672-912676B84178}"/>
              </a:ext>
            </a:extLst>
          </p:cNvPr>
          <p:cNvSpPr/>
          <p:nvPr/>
        </p:nvSpPr>
        <p:spPr>
          <a:xfrm>
            <a:off x="8623021" y="1289720"/>
            <a:ext cx="2185484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3">
            <a:extLst>
              <a:ext uri="{FF2B5EF4-FFF2-40B4-BE49-F238E27FC236}">
                <a16:creationId xmlns:a16="http://schemas.microsoft.com/office/drawing/2014/main" id="{D3C4DBB3-CDFD-F17C-2A83-B7702F550C94}"/>
              </a:ext>
            </a:extLst>
          </p:cNvPr>
          <p:cNvSpPr/>
          <p:nvPr/>
        </p:nvSpPr>
        <p:spPr>
          <a:xfrm>
            <a:off x="8983193" y="1586011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4">
            <a:extLst>
              <a:ext uri="{FF2B5EF4-FFF2-40B4-BE49-F238E27FC236}">
                <a16:creationId xmlns:a16="http://schemas.microsoft.com/office/drawing/2014/main" id="{AC04E8C5-D595-A1D4-392D-B33825847517}"/>
              </a:ext>
            </a:extLst>
          </p:cNvPr>
          <p:cNvSpPr/>
          <p:nvPr/>
        </p:nvSpPr>
        <p:spPr>
          <a:xfrm>
            <a:off x="9129497" y="1558578"/>
            <a:ext cx="136078" cy="1371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8A6F1515-8E8D-AB0F-55DA-87FA363B603B}"/>
              </a:ext>
            </a:extLst>
          </p:cNvPr>
          <p:cNvSpPr/>
          <p:nvPr/>
        </p:nvSpPr>
        <p:spPr>
          <a:xfrm>
            <a:off x="8919184" y="1723171"/>
            <a:ext cx="163293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">
            <a:extLst>
              <a:ext uri="{FF2B5EF4-FFF2-40B4-BE49-F238E27FC236}">
                <a16:creationId xmlns:a16="http://schemas.microsoft.com/office/drawing/2014/main" id="{2D61D720-BBC5-242B-3E34-78A82495B268}"/>
              </a:ext>
            </a:extLst>
          </p:cNvPr>
          <p:cNvSpPr/>
          <p:nvPr/>
        </p:nvSpPr>
        <p:spPr>
          <a:xfrm>
            <a:off x="9102064" y="1686595"/>
            <a:ext cx="172365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7">
            <a:extLst>
              <a:ext uri="{FF2B5EF4-FFF2-40B4-BE49-F238E27FC236}">
                <a16:creationId xmlns:a16="http://schemas.microsoft.com/office/drawing/2014/main" id="{3C4EF83F-B31B-E363-818B-2FE44AE5CD9E}"/>
              </a:ext>
            </a:extLst>
          </p:cNvPr>
          <p:cNvSpPr txBox="1"/>
          <p:nvPr/>
        </p:nvSpPr>
        <p:spPr>
          <a:xfrm>
            <a:off x="9600413" y="1591199"/>
            <a:ext cx="1161196" cy="2730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B2B2B"/>
                </a:solidFill>
                <a:latin typeface="微软雅黑"/>
                <a:ea typeface="微软雅黑"/>
              </a:rPr>
              <a:t>技术团队</a:t>
            </a:r>
          </a:p>
        </p:txBody>
      </p:sp>
      <p:sp>
        <p:nvSpPr>
          <p:cNvPr id="66" name="Right Arrow 24">
            <a:extLst>
              <a:ext uri="{FF2B5EF4-FFF2-40B4-BE49-F238E27FC236}">
                <a16:creationId xmlns:a16="http://schemas.microsoft.com/office/drawing/2014/main" id="{376222AB-28D2-C7BC-26C6-C6C07F6D212B}"/>
              </a:ext>
            </a:extLst>
          </p:cNvPr>
          <p:cNvSpPr/>
          <p:nvPr/>
        </p:nvSpPr>
        <p:spPr>
          <a:xfrm rot="16200000">
            <a:off x="8990328" y="2780438"/>
            <a:ext cx="1450871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ight Arrow 15">
            <a:extLst>
              <a:ext uri="{FF2B5EF4-FFF2-40B4-BE49-F238E27FC236}">
                <a16:creationId xmlns:a16="http://schemas.microsoft.com/office/drawing/2014/main" id="{34C935C9-EDD5-BE86-AC0B-36C40BD94292}"/>
              </a:ext>
            </a:extLst>
          </p:cNvPr>
          <p:cNvSpPr/>
          <p:nvPr/>
        </p:nvSpPr>
        <p:spPr>
          <a:xfrm rot="19711959">
            <a:off x="4011969" y="4826781"/>
            <a:ext cx="708865" cy="278073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71" name="Right Arrow 22">
            <a:extLst>
              <a:ext uri="{FF2B5EF4-FFF2-40B4-BE49-F238E27FC236}">
                <a16:creationId xmlns:a16="http://schemas.microsoft.com/office/drawing/2014/main" id="{330625DA-87CE-0379-2788-D1626F59D696}"/>
              </a:ext>
            </a:extLst>
          </p:cNvPr>
          <p:cNvSpPr/>
          <p:nvPr/>
        </p:nvSpPr>
        <p:spPr>
          <a:xfrm rot="5400000">
            <a:off x="6064884" y="2392044"/>
            <a:ext cx="726537" cy="463455"/>
          </a:xfrm>
          <a:prstGeom prst="rightArrow">
            <a:avLst>
              <a:gd name="adj1" fmla="val 55000"/>
              <a:gd name="adj2" fmla="val 5799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72" name="Right Arrow 24">
            <a:extLst>
              <a:ext uri="{FF2B5EF4-FFF2-40B4-BE49-F238E27FC236}">
                <a16:creationId xmlns:a16="http://schemas.microsoft.com/office/drawing/2014/main" id="{7C4DCD76-2628-96B9-A310-69AD44A465A5}"/>
              </a:ext>
            </a:extLst>
          </p:cNvPr>
          <p:cNvSpPr/>
          <p:nvPr/>
        </p:nvSpPr>
        <p:spPr>
          <a:xfrm>
            <a:off x="7343076" y="4310666"/>
            <a:ext cx="738638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8A3D07-DB5C-B7DF-7E38-BD4A3BBE32CE}"/>
              </a:ext>
            </a:extLst>
          </p:cNvPr>
          <p:cNvSpPr txBox="1"/>
          <p:nvPr/>
        </p:nvSpPr>
        <p:spPr>
          <a:xfrm>
            <a:off x="782148" y="358137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ea typeface="Alibaba PuHuiTi" pitchFamily="18" charset="-122"/>
                <a:cs typeface="Alibaba PuHuiTi" pitchFamily="18" charset="-122"/>
              </a:rPr>
              <a:t>灵顺项目｜从验证到商家做功建议</a:t>
            </a:r>
          </a:p>
        </p:txBody>
      </p:sp>
      <p:cxnSp>
        <p:nvCxnSpPr>
          <p:cNvPr id="74" name="直接连接符 8">
            <a:extLst>
              <a:ext uri="{FF2B5EF4-FFF2-40B4-BE49-F238E27FC236}">
                <a16:creationId xmlns:a16="http://schemas.microsoft.com/office/drawing/2014/main" id="{8624B280-1A4C-0608-A6E9-1A486CCE63B7}"/>
              </a:ext>
            </a:extLst>
          </p:cNvPr>
          <p:cNvCxnSpPr>
            <a:cxnSpLocks/>
          </p:cNvCxnSpPr>
          <p:nvPr/>
        </p:nvCxnSpPr>
        <p:spPr>
          <a:xfrm>
            <a:off x="869916" y="790972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E1EDA86-FC95-4A5F-91B1-9773B0311FB9}"/>
              </a:ext>
            </a:extLst>
          </p:cNvPr>
          <p:cNvSpPr txBox="1"/>
          <p:nvPr/>
        </p:nvSpPr>
        <p:spPr>
          <a:xfrm>
            <a:off x="811126" y="277948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灵顺项目｜灵顺中我们做了什么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7DE0D4-B359-4B93-ABAC-E540A830D843}"/>
              </a:ext>
            </a:extLst>
          </p:cNvPr>
          <p:cNvSpPr txBox="1"/>
          <p:nvPr/>
        </p:nvSpPr>
        <p:spPr>
          <a:xfrm>
            <a:off x="8655528" y="340843"/>
            <a:ext cx="2640287" cy="3476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spcAft>
                <a:spcPts val="461"/>
              </a:spcAft>
              <a:defRPr/>
            </a:pPr>
            <a:r>
              <a:rPr lang="en-US" altLang="zh-CN" sz="1659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SHANYU PPT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99B5CB-1F38-4EE3-90D5-590BC65E5F33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00CD46F5-0DA2-483E-B427-BAF017613D3D}"/>
              </a:ext>
            </a:extLst>
          </p:cNvPr>
          <p:cNvSpPr/>
          <p:nvPr/>
        </p:nvSpPr>
        <p:spPr>
          <a:xfrm>
            <a:off x="404038" y="1579149"/>
            <a:ext cx="3699290" cy="1759474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F8C5CBA-1FCA-4AA1-B23B-9A4C0750287C}"/>
              </a:ext>
            </a:extLst>
          </p:cNvPr>
          <p:cNvSpPr/>
          <p:nvPr/>
        </p:nvSpPr>
        <p:spPr>
          <a:xfrm>
            <a:off x="4382329" y="1438264"/>
            <a:ext cx="3463655" cy="194070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2ECBAAF-F624-43E6-9321-81805CDDFFB7}"/>
              </a:ext>
            </a:extLst>
          </p:cNvPr>
          <p:cNvSpPr/>
          <p:nvPr/>
        </p:nvSpPr>
        <p:spPr>
          <a:xfrm>
            <a:off x="8166515" y="1513991"/>
            <a:ext cx="3463655" cy="1864974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23D46E1-43E1-453F-B709-83AE402EE4E8}"/>
              </a:ext>
            </a:extLst>
          </p:cNvPr>
          <p:cNvSpPr/>
          <p:nvPr/>
        </p:nvSpPr>
        <p:spPr>
          <a:xfrm>
            <a:off x="592176" y="1655015"/>
            <a:ext cx="3324028" cy="141848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13BEDDE-38EC-4EE5-87C4-6C93CF9934F8}"/>
              </a:ext>
            </a:extLst>
          </p:cNvPr>
          <p:cNvSpPr/>
          <p:nvPr/>
        </p:nvSpPr>
        <p:spPr>
          <a:xfrm>
            <a:off x="4534099" y="1588437"/>
            <a:ext cx="3032883" cy="148506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B3B32E3-BD9A-4555-BAE7-B74D5C7357FD}"/>
              </a:ext>
            </a:extLst>
          </p:cNvPr>
          <p:cNvSpPr/>
          <p:nvPr/>
        </p:nvSpPr>
        <p:spPr>
          <a:xfrm>
            <a:off x="8283418" y="1623528"/>
            <a:ext cx="3032883" cy="144996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242A44B2-245B-4024-875D-A20E7000CCCB}"/>
              </a:ext>
            </a:extLst>
          </p:cNvPr>
          <p:cNvSpPr/>
          <p:nvPr/>
        </p:nvSpPr>
        <p:spPr>
          <a:xfrm rot="10800000">
            <a:off x="414416" y="1070350"/>
            <a:ext cx="3647380" cy="738909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79E7047E-B073-46D8-A514-7CA3311272D7}"/>
              </a:ext>
            </a:extLst>
          </p:cNvPr>
          <p:cNvSpPr/>
          <p:nvPr/>
        </p:nvSpPr>
        <p:spPr>
          <a:xfrm rot="10800000">
            <a:off x="4382331" y="1070350"/>
            <a:ext cx="3463652" cy="738909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212E7935-72A9-4EFE-8A6A-3A4A7EB5CCE5}"/>
              </a:ext>
            </a:extLst>
          </p:cNvPr>
          <p:cNvSpPr/>
          <p:nvPr/>
        </p:nvSpPr>
        <p:spPr>
          <a:xfrm rot="10800000">
            <a:off x="8166516" y="1066559"/>
            <a:ext cx="3463652" cy="761923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00AED5-A25E-31A5-666C-6613B8C64D3F}"/>
              </a:ext>
            </a:extLst>
          </p:cNvPr>
          <p:cNvSpPr txBox="1"/>
          <p:nvPr/>
        </p:nvSpPr>
        <p:spPr>
          <a:xfrm>
            <a:off x="511638" y="1132241"/>
            <a:ext cx="3404566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426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01.</a:t>
            </a:r>
            <a:r>
              <a:rPr lang="zh-CN" altLang="en-US" sz="129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对研发圈选的</a:t>
            </a:r>
            <a:r>
              <a:rPr lang="en-US" altLang="zh-CN" sz="129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14.7</a:t>
            </a:r>
            <a:r>
              <a:rPr lang="en" altLang="zh-CN" sz="129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</a:t>
            </a:r>
            <a:r>
              <a:rPr lang="zh-CN" altLang="en-US" sz="129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商家进行分析</a:t>
            </a:r>
            <a:endParaRPr lang="zh-CN" altLang="zh-CN" sz="129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7014C5-2099-2DD9-95DF-4F3824833906}"/>
              </a:ext>
            </a:extLst>
          </p:cNvPr>
          <p:cNvSpPr txBox="1"/>
          <p:nvPr/>
        </p:nvSpPr>
        <p:spPr>
          <a:xfrm>
            <a:off x="4460034" y="1167685"/>
            <a:ext cx="3243104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ea typeface="Alibaba PuHuiTi" pitchFamily="18" charset="-122"/>
              </a:rPr>
              <a:t>02.</a:t>
            </a:r>
            <a:r>
              <a:rPr lang="zh-CN" altLang="zh-CN" sz="1290" b="1" dirty="0">
                <a:solidFill>
                  <a:schemeClr val="bg1"/>
                </a:solidFill>
                <a:ea typeface="Alibaba PuHuiTi" pitchFamily="18" charset="-122"/>
              </a:rPr>
              <a:t>实验方案设计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2BD947-F214-11B9-808F-36AFC4C5893A}"/>
              </a:ext>
            </a:extLst>
          </p:cNvPr>
          <p:cNvSpPr txBox="1"/>
          <p:nvPr/>
        </p:nvSpPr>
        <p:spPr>
          <a:xfrm>
            <a:off x="8189711" y="1139346"/>
            <a:ext cx="3243105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03.</a:t>
            </a:r>
            <a:r>
              <a:rPr lang="zh-CN" altLang="zh-CN" sz="1290" b="1" dirty="0">
                <a:solidFill>
                  <a:schemeClr val="bg1"/>
                </a:solidFill>
                <a:ea typeface="Alibaba PuHuiTi" pitchFamily="18" charset="-122"/>
              </a:rPr>
              <a:t>确定监控指标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2ED316-B8F0-EEE6-B531-0CBCB4093ABA}"/>
              </a:ext>
            </a:extLst>
          </p:cNvPr>
          <p:cNvSpPr txBox="1"/>
          <p:nvPr/>
        </p:nvSpPr>
        <p:spPr>
          <a:xfrm>
            <a:off x="761615" y="1855674"/>
            <a:ext cx="2803649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得到总体商家和分型商家画像。</a:t>
            </a:r>
            <a:endParaRPr lang="en-US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各分型共性特征。</a:t>
            </a:r>
            <a:endParaRPr lang="en-US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分型稳定性情况</a:t>
            </a:r>
            <a:endParaRPr lang="en-US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291882-C003-809D-206F-3EAE56C9032F}"/>
              </a:ext>
            </a:extLst>
          </p:cNvPr>
          <p:cNvSpPr txBox="1"/>
          <p:nvPr/>
        </p:nvSpPr>
        <p:spPr>
          <a:xfrm>
            <a:off x="4661705" y="1840374"/>
            <a:ext cx="2670688" cy="100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实验目标： 短期侧重核心过程指标提升（供给勤奋度），长期侧重结果指标提升（支付</a:t>
            </a:r>
            <a:r>
              <a:rPr lang="en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GMV</a:t>
            </a:r>
            <a:r>
              <a:rPr lang="zh-CN" altLang="e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内循环消耗）。</a:t>
            </a:r>
          </a:p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实验节奏：设定</a:t>
            </a:r>
            <a:r>
              <a:rPr lang="en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组和</a:t>
            </a:r>
            <a:r>
              <a:rPr lang="en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AA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组两套实验组。</a:t>
            </a:r>
            <a:endParaRPr lang="zh-CN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987E58-C70E-CE5E-A788-31CC945FC9AF}"/>
              </a:ext>
            </a:extLst>
          </p:cNvPr>
          <p:cNvSpPr txBox="1"/>
          <p:nvPr/>
        </p:nvSpPr>
        <p:spPr>
          <a:xfrm>
            <a:off x="8373375" y="1809264"/>
            <a:ext cx="2670687" cy="1131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一阶段关注分型差异化勤奋度指标（直播型看开播时长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场次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场均上品、短视频型看挂车短视频数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人日均发布数、泛货架型看在架商品数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动销商品数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en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CTR/CVR</a:t>
            </a:r>
            <a:r>
              <a:rPr lang="zh-CN" altLang="e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），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二阶段关注支付</a:t>
            </a:r>
            <a:r>
              <a:rPr lang="en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GMV</a:t>
            </a:r>
            <a:endParaRPr lang="zh-CN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2BD425-6E11-30A2-210D-E9145A5C8E99}"/>
              </a:ext>
            </a:extLst>
          </p:cNvPr>
          <p:cNvSpPr/>
          <p:nvPr/>
        </p:nvSpPr>
        <p:spPr>
          <a:xfrm>
            <a:off x="366118" y="3746879"/>
            <a:ext cx="5549515" cy="20920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4FDCAD-2DA4-51B0-DFFB-E3F2CB37908A}"/>
              </a:ext>
            </a:extLst>
          </p:cNvPr>
          <p:cNvSpPr/>
          <p:nvPr/>
        </p:nvSpPr>
        <p:spPr>
          <a:xfrm>
            <a:off x="6018204" y="3760547"/>
            <a:ext cx="5506610" cy="2078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9B1713-AE8B-DA38-8D59-EB99680C5596}"/>
              </a:ext>
            </a:extLst>
          </p:cNvPr>
          <p:cNvSpPr txBox="1"/>
          <p:nvPr/>
        </p:nvSpPr>
        <p:spPr>
          <a:xfrm>
            <a:off x="761615" y="3847422"/>
            <a:ext cx="4769536" cy="468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过程中遇到的困难：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0A0325-A053-DBD3-52D0-DBE6ABE63A54}"/>
              </a:ext>
            </a:extLst>
          </p:cNvPr>
          <p:cNvSpPr txBox="1"/>
          <p:nvPr/>
        </p:nvSpPr>
        <p:spPr>
          <a:xfrm>
            <a:off x="754941" y="4319902"/>
            <a:ext cx="4860235" cy="11439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实验期间大盘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下行，两组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都在跌，直接对比会把大盘趋势算进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AI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效果</a:t>
            </a:r>
            <a:endParaRPr lang="en-US" altLang="zh-CN" sz="1200" b="1" dirty="0">
              <a:solidFill>
                <a:schemeClr val="accent2"/>
              </a:solidFill>
              <a:ea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2.</a:t>
            </a:r>
            <a:r>
              <a:rPr lang="zh-CN" altLang="zh-CN" sz="1200" b="1" dirty="0">
                <a:solidFill>
                  <a:schemeClr val="accent2"/>
                </a:solidFill>
                <a:ea typeface="Alibaba PuHuiTi" pitchFamily="18" charset="-122"/>
              </a:rPr>
              <a:t>GMV右偏：头部商家易带偏估计</a:t>
            </a:r>
            <a:endParaRPr lang="en-US" altLang="zh-CN" sz="1200" b="1" dirty="0">
              <a:solidFill>
                <a:schemeClr val="accent2"/>
              </a:solidFill>
              <a:ea typeface="Alibaba PuHuiTi" pitchFamily="18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3.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发现实验期间实验组有异常突起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4495A9-7545-2C04-40DC-43AAA6DCE5F9}"/>
              </a:ext>
            </a:extLst>
          </p:cNvPr>
          <p:cNvSpPr txBox="1"/>
          <p:nvPr/>
        </p:nvSpPr>
        <p:spPr>
          <a:xfrm>
            <a:off x="6096000" y="3849957"/>
            <a:ext cx="4764638" cy="468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4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解决方案：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B1DD73-ED2A-6F7F-10F2-0D456FF24CE4}"/>
              </a:ext>
            </a:extLst>
          </p:cNvPr>
          <p:cNvSpPr txBox="1"/>
          <p:nvPr/>
        </p:nvSpPr>
        <p:spPr>
          <a:xfrm>
            <a:off x="6081586" y="4255254"/>
            <a:ext cx="5277276" cy="199900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ea typeface="Alibaba PuHuiTi" pitchFamily="18" charset="-122"/>
              </a:rPr>
              <a:t>1.</a:t>
            </a:r>
            <a:r>
              <a:rPr lang="zh-CN" altLang="en-US" sz="1200" b="1" dirty="0">
                <a:solidFill>
                  <a:schemeClr val="accent4"/>
                </a:solidFill>
                <a:ea typeface="Alibaba PuHuiTi" pitchFamily="18" charset="-122"/>
              </a:rPr>
              <a:t>用</a:t>
            </a:r>
            <a:r>
              <a:rPr lang="en-US" altLang="zh-CN" sz="1200" b="1" dirty="0">
                <a:solidFill>
                  <a:schemeClr val="accent4"/>
                </a:solidFill>
                <a:ea typeface="Alibaba PuHuiTi" pitchFamily="18" charset="-122"/>
              </a:rPr>
              <a:t>DID</a:t>
            </a:r>
            <a:r>
              <a:rPr lang="zh-CN" altLang="en-US" sz="1200" b="1" dirty="0">
                <a:solidFill>
                  <a:schemeClr val="accent4"/>
                </a:solidFill>
                <a:ea typeface="Alibaba PuHuiTi" pitchFamily="18" charset="-122"/>
              </a:rPr>
              <a:t>去计算实验组实验前后的差值减去对照组实验前后的差值，并使用平行趋势检验通过后才推进</a:t>
            </a:r>
            <a:endParaRPr lang="en-US" altLang="zh-CN" sz="1200" b="1" dirty="0">
              <a:solidFill>
                <a:schemeClr val="accent4"/>
              </a:solidFill>
              <a:ea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ea typeface="Alibaba PuHuiTi" pitchFamily="18" charset="-122"/>
              </a:rPr>
              <a:t>2.</a:t>
            </a:r>
            <a:r>
              <a:rPr lang="zh-CN" altLang="en-US" sz="1200" b="1" dirty="0">
                <a:solidFill>
                  <a:schemeClr val="accent4"/>
                </a:solidFill>
                <a:ea typeface="Alibaba PuHuiTi" pitchFamily="18" charset="-122"/>
              </a:rPr>
              <a:t>通过数据处理的方法剔除极端值并压缩右偏分布，</a:t>
            </a:r>
            <a:r>
              <a:rPr lang="zh-CN" altLang="zh-CN" sz="1200" b="1" dirty="0">
                <a:solidFill>
                  <a:schemeClr val="accent4"/>
                </a:solidFill>
                <a:ea typeface="Alibaba PuHuiTi" pitchFamily="18" charset="-122"/>
              </a:rPr>
              <a:t>用P99截尾叠加Log变换保证稳健； </a:t>
            </a:r>
            <a:endParaRPr lang="en-US" altLang="zh-CN" sz="1200" b="1" dirty="0">
              <a:solidFill>
                <a:schemeClr val="accent4"/>
              </a:solidFill>
              <a:ea typeface="Alibaba PuHuiTi" pitchFamily="18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ea typeface="Alibaba PuHuiTi" pitchFamily="18" charset="-122"/>
              </a:rPr>
              <a:t>3.</a:t>
            </a:r>
            <a:r>
              <a:rPr lang="zh-CN" altLang="en-US" sz="1200" b="1" dirty="0">
                <a:solidFill>
                  <a:schemeClr val="accent4"/>
                </a:solidFill>
                <a:ea typeface="Alibaba PuHuiTi" pitchFamily="18" charset="-122"/>
              </a:rPr>
              <a:t>针对异常突起判断可能是实验期叠了大促激励计划，通过剥离受政策影响商家名单后得到纯净实验结果数据，并判断政策影响占比； </a:t>
            </a:r>
          </a:p>
          <a:p>
            <a:pPr algn="just">
              <a:spcAft>
                <a:spcPts val="500"/>
              </a:spcAft>
            </a:pPr>
            <a:endParaRPr lang="zh-CN" altLang="zh-CN" sz="1000" b="1" dirty="0">
              <a:solidFill>
                <a:schemeClr val="accent4"/>
              </a:solidFill>
              <a:ea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500"/>
              </a:spcAft>
            </a:pPr>
            <a:endParaRPr lang="zh-CN" altLang="en-US" sz="10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862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50E8-82D7-E5E5-8CE0-70D07960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BBC44D84-7529-06C4-8DF2-FFD97FD919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38642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CF5AA1E-0F34-16EE-518B-29845BAC37E4}"/>
              </a:ext>
            </a:extLst>
          </p:cNvPr>
          <p:cNvSpPr/>
          <p:nvPr/>
        </p:nvSpPr>
        <p:spPr>
          <a:xfrm>
            <a:off x="-2338785" y="-598235"/>
            <a:ext cx="16723360" cy="91541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44DA28-DCB3-609E-499C-EC1774CBBB8B}"/>
              </a:ext>
            </a:extLst>
          </p:cNvPr>
          <p:cNvSpPr txBox="1"/>
          <p:nvPr/>
        </p:nvSpPr>
        <p:spPr>
          <a:xfrm>
            <a:off x="811126" y="277948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灵顺项目｜实验结论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9D2FE5-D293-DBA5-D420-5D41CB64DE24}"/>
              </a:ext>
            </a:extLst>
          </p:cNvPr>
          <p:cNvSpPr txBox="1"/>
          <p:nvPr/>
        </p:nvSpPr>
        <p:spPr>
          <a:xfrm>
            <a:off x="8655528" y="340843"/>
            <a:ext cx="2640287" cy="3476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spcAft>
                <a:spcPts val="461"/>
              </a:spcAft>
              <a:defRPr/>
            </a:pPr>
            <a:r>
              <a:rPr lang="en-US" altLang="zh-CN" sz="1659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SHANYU PPT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8D649F-D271-467D-DE73-1380E0D055A5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041E5BCA-B0E6-3F2C-9283-971B0CE1B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94" y="1649773"/>
            <a:ext cx="11418162" cy="64117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9136952-0D4D-3B80-AE17-0A1C12DA9545}"/>
              </a:ext>
            </a:extLst>
          </p:cNvPr>
          <p:cNvSpPr txBox="1"/>
          <p:nvPr/>
        </p:nvSpPr>
        <p:spPr>
          <a:xfrm>
            <a:off x="983954" y="870414"/>
            <a:ext cx="10311861" cy="9583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有用：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A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组日均支付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对比基期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+37.96%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、比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B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组高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15.4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pp</a:t>
            </a:r>
            <a:r>
              <a:rPr lang="zh-CN" altLang="en" sz="1200" b="1" dirty="0">
                <a:solidFill>
                  <a:schemeClr val="accent2"/>
                </a:solidFill>
                <a:ea typeface="Alibaba PuHuiTi" pitchFamily="18" charset="-122"/>
              </a:rPr>
              <a:t>（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DID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显著）；勤奋度全面跑赢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B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组（开播主播数</a:t>
            </a:r>
            <a:r>
              <a:rPr lang="zh-CN" altLang="en" sz="1200" b="1" dirty="0">
                <a:solidFill>
                  <a:schemeClr val="accent2"/>
                </a:solidFill>
                <a:ea typeface="Alibaba PuHuiTi" pitchFamily="18" charset="-122"/>
              </a:rPr>
              <a:t>、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挂车短视频</a:t>
            </a:r>
            <a:r>
              <a:rPr lang="zh-CN" altLang="en" sz="1200" b="1" dirty="0">
                <a:solidFill>
                  <a:schemeClr val="accent2"/>
                </a:solidFill>
                <a:ea typeface="Alibaba PuHuiTi" pitchFamily="18" charset="-122"/>
              </a:rPr>
              <a:t>、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动销商品</a:t>
            </a:r>
            <a:r>
              <a:rPr lang="zh-CN" altLang="en" sz="1200" b="1" dirty="0">
                <a:solidFill>
                  <a:schemeClr val="accent2"/>
                </a:solidFill>
                <a:ea typeface="Alibaba PuHuiTi" pitchFamily="18" charset="-122"/>
              </a:rPr>
              <a:t>）；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分型看直播型和泛货架型显著，短视频型不显著</a:t>
            </a:r>
          </a:p>
          <a:p>
            <a:pPr lvl="0"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抗跌：大盘下行背景下小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A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组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AI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渗透商家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仅下滑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4.7%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，比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L0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大盘（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-7.78%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）浅</a:t>
            </a:r>
            <a:r>
              <a:rPr lang="en-US" altLang="zh-CN" sz="1200" b="1" dirty="0">
                <a:solidFill>
                  <a:schemeClr val="accent2"/>
                </a:solidFill>
                <a:ea typeface="Alibaba PuHuiTi" pitchFamily="18" charset="-122"/>
              </a:rPr>
              <a:t>3.1</a:t>
            </a:r>
            <a:r>
              <a:rPr lang="en" altLang="zh-CN" sz="1200" b="1" dirty="0">
                <a:solidFill>
                  <a:schemeClr val="accent2"/>
                </a:solidFill>
                <a:ea typeface="Alibaba PuHuiTi" pitchFamily="18" charset="-122"/>
              </a:rPr>
              <a:t>pp</a:t>
            </a:r>
            <a:r>
              <a:rPr lang="zh-CN" altLang="en-US" sz="1200" b="1" dirty="0">
                <a:solidFill>
                  <a:schemeClr val="accent2"/>
                </a:solidFill>
                <a:ea typeface="Alibaba PuHuiTi" pitchFamily="18" charset="-122"/>
              </a:rPr>
              <a:t>。</a:t>
            </a:r>
            <a:endParaRPr lang="en-US" altLang="zh-CN" sz="1200" b="1" dirty="0">
              <a:solidFill>
                <a:schemeClr val="accent2"/>
              </a:solidFill>
              <a:ea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32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BB3D-2B32-5C12-9D2D-C44A908C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形状 20">
            <a:extLst>
              <a:ext uri="{FF2B5EF4-FFF2-40B4-BE49-F238E27FC236}">
                <a16:creationId xmlns:a16="http://schemas.microsoft.com/office/drawing/2014/main" id="{F3CFB46B-3C39-FFDF-69C8-31F2A67D4991}"/>
              </a:ext>
            </a:extLst>
          </p:cNvPr>
          <p:cNvSpPr/>
          <p:nvPr/>
        </p:nvSpPr>
        <p:spPr>
          <a:xfrm>
            <a:off x="975778" y="3925308"/>
            <a:ext cx="10240442" cy="351103"/>
          </a:xfrm>
          <a:custGeom>
            <a:avLst/>
            <a:gdLst>
              <a:gd name="connsiteX0" fmla="*/ 10794768 w 11112462"/>
              <a:gd name="connsiteY0" fmla="*/ 0 h 381001"/>
              <a:gd name="connsiteX1" fmla="*/ 11112462 w 11112462"/>
              <a:gd name="connsiteY1" fmla="*/ 190501 h 381001"/>
              <a:gd name="connsiteX2" fmla="*/ 10794768 w 11112462"/>
              <a:gd name="connsiteY2" fmla="*/ 381001 h 381001"/>
              <a:gd name="connsiteX3" fmla="*/ 10794768 w 11112462"/>
              <a:gd name="connsiteY3" fmla="*/ 238670 h 381001"/>
              <a:gd name="connsiteX4" fmla="*/ 0 w 11112462"/>
              <a:gd name="connsiteY4" fmla="*/ 238670 h 381001"/>
              <a:gd name="connsiteX5" fmla="*/ 0 w 11112462"/>
              <a:gd name="connsiteY5" fmla="*/ 126399 h 381001"/>
              <a:gd name="connsiteX6" fmla="*/ 10794768 w 11112462"/>
              <a:gd name="connsiteY6" fmla="*/ 126399 h 38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12462" h="381001">
                <a:moveTo>
                  <a:pt x="10794768" y="0"/>
                </a:moveTo>
                <a:lnTo>
                  <a:pt x="11112462" y="190501"/>
                </a:lnTo>
                <a:lnTo>
                  <a:pt x="10794768" y="381001"/>
                </a:lnTo>
                <a:lnTo>
                  <a:pt x="10794768" y="238670"/>
                </a:lnTo>
                <a:lnTo>
                  <a:pt x="0" y="238670"/>
                </a:lnTo>
                <a:lnTo>
                  <a:pt x="0" y="126399"/>
                </a:lnTo>
                <a:lnTo>
                  <a:pt x="10794768" y="12639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3F38DA81-3366-D833-505B-0F2A92D07EBF}"/>
              </a:ext>
            </a:extLst>
          </p:cNvPr>
          <p:cNvCxnSpPr>
            <a:cxnSpLocks/>
          </p:cNvCxnSpPr>
          <p:nvPr/>
        </p:nvCxnSpPr>
        <p:spPr>
          <a:xfrm flipV="1">
            <a:off x="1182982" y="4214522"/>
            <a:ext cx="0" cy="1292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82F20B5-700F-69A7-E42B-D6CB6227AAA5}"/>
              </a:ext>
            </a:extLst>
          </p:cNvPr>
          <p:cNvCxnSpPr>
            <a:cxnSpLocks/>
          </p:cNvCxnSpPr>
          <p:nvPr/>
        </p:nvCxnSpPr>
        <p:spPr>
          <a:xfrm flipV="1">
            <a:off x="4673991" y="4214524"/>
            <a:ext cx="0" cy="1292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A81D5D83-3801-0F34-F916-80370E0391CD}"/>
              </a:ext>
            </a:extLst>
          </p:cNvPr>
          <p:cNvSpPr/>
          <p:nvPr/>
        </p:nvSpPr>
        <p:spPr>
          <a:xfrm>
            <a:off x="996486" y="5507013"/>
            <a:ext cx="378476" cy="37847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29F2DF2-F28F-1743-B51A-A34F887F5630}"/>
              </a:ext>
            </a:extLst>
          </p:cNvPr>
          <p:cNvSpPr/>
          <p:nvPr/>
        </p:nvSpPr>
        <p:spPr>
          <a:xfrm>
            <a:off x="4490832" y="5507013"/>
            <a:ext cx="378476" cy="378476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D598205-E3CD-BEC4-A900-A1A184563841}"/>
              </a:ext>
            </a:extLst>
          </p:cNvPr>
          <p:cNvSpPr/>
          <p:nvPr/>
        </p:nvSpPr>
        <p:spPr>
          <a:xfrm>
            <a:off x="975778" y="954894"/>
            <a:ext cx="2616089" cy="11470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4E25C6-913E-EE29-A7CE-D36C6F66E8B7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思考｜做得好的商家长什么样子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4F82D4-B458-C5EE-495C-6F7D00FA97E8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807DB9A6-E705-5951-1304-D1DDA92B1C83}"/>
              </a:ext>
            </a:extLst>
          </p:cNvPr>
          <p:cNvSpPr/>
          <p:nvPr/>
        </p:nvSpPr>
        <p:spPr>
          <a:xfrm>
            <a:off x="3608111" y="954358"/>
            <a:ext cx="7624352" cy="11470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02CCA323-10ED-40F8-D795-A7DBFB3FFE7E}"/>
              </a:ext>
            </a:extLst>
          </p:cNvPr>
          <p:cNvSpPr/>
          <p:nvPr/>
        </p:nvSpPr>
        <p:spPr>
          <a:xfrm>
            <a:off x="7574526" y="1100325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1B7E2467-C8CA-8603-52B1-F10A9B71894D}"/>
              </a:ext>
            </a:extLst>
          </p:cNvPr>
          <p:cNvSpPr/>
          <p:nvPr/>
        </p:nvSpPr>
        <p:spPr>
          <a:xfrm>
            <a:off x="9371853" y="1106763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6D54982-A17C-9C10-9AF0-CAA6B32EFA16}"/>
              </a:ext>
            </a:extLst>
          </p:cNvPr>
          <p:cNvSpPr/>
          <p:nvPr/>
        </p:nvSpPr>
        <p:spPr>
          <a:xfrm>
            <a:off x="3745439" y="1089473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1AD7DEEF-178B-6E65-ABDD-846A9DF5BA70}"/>
              </a:ext>
            </a:extLst>
          </p:cNvPr>
          <p:cNvSpPr/>
          <p:nvPr/>
        </p:nvSpPr>
        <p:spPr>
          <a:xfrm>
            <a:off x="5533234" y="1106764"/>
            <a:ext cx="1887053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EC1876FA-23A3-AA29-948F-E75145809B33}"/>
              </a:ext>
            </a:extLst>
          </p:cNvPr>
          <p:cNvCxnSpPr>
            <a:cxnSpLocks/>
          </p:cNvCxnSpPr>
          <p:nvPr/>
        </p:nvCxnSpPr>
        <p:spPr>
          <a:xfrm flipV="1">
            <a:off x="2933140" y="2660258"/>
            <a:ext cx="0" cy="1292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F22E3EF8-CCF1-CB8C-967C-0A5C934F9D10}"/>
              </a:ext>
            </a:extLst>
          </p:cNvPr>
          <p:cNvCxnSpPr>
            <a:cxnSpLocks/>
          </p:cNvCxnSpPr>
          <p:nvPr/>
        </p:nvCxnSpPr>
        <p:spPr>
          <a:xfrm flipV="1">
            <a:off x="6429134" y="2660258"/>
            <a:ext cx="0" cy="1292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6D1A4449-FE45-0EAB-68AF-28D6569574DE}"/>
              </a:ext>
            </a:extLst>
          </p:cNvPr>
          <p:cNvSpPr/>
          <p:nvPr/>
        </p:nvSpPr>
        <p:spPr>
          <a:xfrm>
            <a:off x="2746044" y="2281825"/>
            <a:ext cx="378476" cy="378476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ED9AE01-3FF8-8342-A3E9-6F1C14BD8553}"/>
              </a:ext>
            </a:extLst>
          </p:cNvPr>
          <p:cNvSpPr/>
          <p:nvPr/>
        </p:nvSpPr>
        <p:spPr>
          <a:xfrm>
            <a:off x="6245697" y="2281824"/>
            <a:ext cx="378476" cy="378476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4A5136D0-2BF3-8646-DB23-7BFBAA1C521D}"/>
              </a:ext>
            </a:extLst>
          </p:cNvPr>
          <p:cNvCxnSpPr>
            <a:cxnSpLocks/>
          </p:cNvCxnSpPr>
          <p:nvPr/>
        </p:nvCxnSpPr>
        <p:spPr>
          <a:xfrm flipV="1">
            <a:off x="8179278" y="4214481"/>
            <a:ext cx="0" cy="1292532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AB264DB-EEFF-429A-14CF-AE0DD2C0028A}"/>
              </a:ext>
            </a:extLst>
          </p:cNvPr>
          <p:cNvSpPr/>
          <p:nvPr/>
        </p:nvSpPr>
        <p:spPr>
          <a:xfrm>
            <a:off x="7996119" y="5506970"/>
            <a:ext cx="378476" cy="37847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CD8C23-8811-77C2-5A6F-3ED931CBDD2E}"/>
              </a:ext>
            </a:extLst>
          </p:cNvPr>
          <p:cNvSpPr txBox="1"/>
          <p:nvPr/>
        </p:nvSpPr>
        <p:spPr>
          <a:xfrm>
            <a:off x="1217548" y="1284500"/>
            <a:ext cx="2022408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12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四个方面分析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2D40A8-CBBF-0003-1F78-185C35EFADB9}"/>
              </a:ext>
            </a:extLst>
          </p:cNvPr>
          <p:cNvSpPr txBox="1"/>
          <p:nvPr/>
        </p:nvSpPr>
        <p:spPr>
          <a:xfrm>
            <a:off x="1444103" y="5526033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01.</a:t>
            </a:r>
            <a:r>
              <a:rPr lang="zh-CN" altLang="en-US" sz="1659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泛货架型普适性最强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F3E5A8-76A7-8A9C-D38F-257CDBC5E343}"/>
              </a:ext>
            </a:extLst>
          </p:cNvPr>
          <p:cNvSpPr txBox="1"/>
          <p:nvPr/>
        </p:nvSpPr>
        <p:spPr>
          <a:xfrm>
            <a:off x="1320587" y="4436538"/>
            <a:ext cx="3170245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22"/>
              </a:spcBef>
            </a:pP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基期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57%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商家无发短行为、日动销≤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个，</a:t>
            </a:r>
            <a:r>
              <a:rPr lang="en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帮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1.3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万商家从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到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建立挂车行为（日发短≥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条占比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11.4%→84.3%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），勤奋度提升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94.2%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GMV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正增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46%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E1BC515-ABB8-8B88-6D0E-9227EABF6497}"/>
              </a:ext>
            </a:extLst>
          </p:cNvPr>
          <p:cNvSpPr txBox="1"/>
          <p:nvPr/>
        </p:nvSpPr>
        <p:spPr>
          <a:xfrm>
            <a:off x="4849175" y="5522377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02.</a:t>
            </a:r>
            <a:r>
              <a:rPr lang="zh-CN" altLang="en-US" sz="1659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直播型适配有基础的商家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6258258-B026-7251-CE1F-6F086C84A286}"/>
              </a:ext>
            </a:extLst>
          </p:cNvPr>
          <p:cNvSpPr txBox="1"/>
          <p:nvPr/>
        </p:nvSpPr>
        <p:spPr>
          <a:xfrm>
            <a:off x="4966016" y="4502008"/>
            <a:ext cx="2725350" cy="518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922"/>
              </a:spcBef>
            </a:pPr>
            <a:r>
              <a:rPr lang="zh-CN" altLang="zh-CN" sz="922" b="1" dirty="0">
                <a:solidFill>
                  <a:schemeClr val="accent4"/>
                </a:solidFill>
                <a:ea typeface="Alibaba PuHuiTi" pitchFamily="18" charset="-122"/>
              </a:rPr>
              <a:t>渗透商家80%基期日开播超2小时、双工具混合使用87%，勤奋度提升80.6%但GMV正增46%，GMV要靠后链路曝光突破</a:t>
            </a:r>
            <a:endParaRPr lang="zh-CN" altLang="en-US" sz="922" b="1" dirty="0">
              <a:solidFill>
                <a:schemeClr val="accent4"/>
              </a:solidFill>
              <a:ea typeface="Alibaba PuHuiTi" pitchFamily="18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22B36B-10AF-3BA7-7F79-075B047A69F1}"/>
              </a:ext>
            </a:extLst>
          </p:cNvPr>
          <p:cNvSpPr txBox="1"/>
          <p:nvPr/>
        </p:nvSpPr>
        <p:spPr>
          <a:xfrm>
            <a:off x="8434240" y="5526033"/>
            <a:ext cx="2807128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03.</a:t>
            </a:r>
            <a:r>
              <a:rPr lang="zh-CN" altLang="en-US" sz="1659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短视频型部分适配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C4329D-8D59-E955-645A-351DE6F805CF}"/>
              </a:ext>
            </a:extLst>
          </p:cNvPr>
          <p:cNvSpPr txBox="1"/>
          <p:nvPr/>
        </p:nvSpPr>
        <p:spPr>
          <a:xfrm>
            <a:off x="8311697" y="4436538"/>
            <a:ext cx="2562120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22"/>
              </a:spcBef>
            </a:pPr>
            <a:r>
              <a:rPr lang="zh-CN" altLang="en-US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渗透商家基期发短基础本来就好（日发短</a:t>
            </a:r>
            <a:r>
              <a:rPr lang="en-US" altLang="zh-CN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&gt;3</a:t>
            </a:r>
            <a:r>
              <a:rPr lang="zh-CN" altLang="en-US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条占</a:t>
            </a:r>
            <a:r>
              <a:rPr lang="en-US" altLang="zh-CN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49.5% </a:t>
            </a:r>
            <a:r>
              <a:rPr lang="en" altLang="zh-CN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 </a:t>
            </a:r>
            <a:r>
              <a:rPr lang="zh-CN" altLang="en-US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未渗透</a:t>
            </a:r>
            <a:r>
              <a:rPr lang="en-US" altLang="zh-CN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26%</a:t>
            </a:r>
            <a:r>
              <a:rPr lang="zh-CN" altLang="en-US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），</a:t>
            </a:r>
            <a:r>
              <a:rPr lang="en" altLang="zh-CN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是在原经营上做补充，瓶颈在工具渗透率和</a:t>
            </a:r>
            <a:r>
              <a:rPr lang="en-US" altLang="zh-CN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模板质量。</a:t>
            </a:r>
            <a:endParaRPr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40CB31-D8E6-0182-3128-926FEECDBAA0}"/>
              </a:ext>
            </a:extLst>
          </p:cNvPr>
          <p:cNvSpPr txBox="1"/>
          <p:nvPr/>
        </p:nvSpPr>
        <p:spPr>
          <a:xfrm>
            <a:off x="3106621" y="2293749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59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共性发现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7030CC-9CF5-13B1-4A5F-1E57AB0832BC}"/>
              </a:ext>
            </a:extLst>
          </p:cNvPr>
          <p:cNvSpPr txBox="1"/>
          <p:nvPr/>
        </p:nvSpPr>
        <p:spPr>
          <a:xfrm>
            <a:off x="3106621" y="2766858"/>
            <a:ext cx="2829390" cy="65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922"/>
              </a:spcBef>
            </a:pP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做得好的商家基期就有经营动作和意愿，</a:t>
            </a:r>
            <a:r>
              <a:rPr lang="en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放大的是已有的经营惯性，而不是凭空造出好商家；真正的从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到</a:t>
            </a:r>
            <a:r>
              <a:rPr lang="en-US" altLang="zh-CN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只发生在泛货架型这种供给薄但门槛低的场景</a:t>
            </a:r>
            <a:endParaRPr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C1F7A34-C507-0541-9596-6FE4A292D304}"/>
              </a:ext>
            </a:extLst>
          </p:cNvPr>
          <p:cNvSpPr txBox="1"/>
          <p:nvPr/>
        </p:nvSpPr>
        <p:spPr>
          <a:xfrm>
            <a:off x="6599113" y="2312599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59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最终策略建议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DFD19B6-50CD-27FC-5EDD-947398275BA0}"/>
              </a:ext>
            </a:extLst>
          </p:cNvPr>
          <p:cNvSpPr txBox="1"/>
          <p:nvPr/>
        </p:nvSpPr>
        <p:spPr>
          <a:xfrm>
            <a:off x="6697733" y="2784622"/>
            <a:ext cx="3919462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>
              <a:lnSpc>
                <a:spcPct val="150000"/>
              </a:lnSpc>
              <a:spcBef>
                <a:spcPts val="922"/>
              </a:spcBef>
              <a:buFont typeface="+mj-ea"/>
              <a:buAutoNum type="circleNumDbPlain"/>
            </a:pP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泛货架型优先规模化推全；直播型优先渗透有开播基础的存商；短视频型配合内容质量优化做渗透，整体从</a:t>
            </a:r>
            <a:r>
              <a:rPr lang="en-US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多发</a:t>
            </a:r>
            <a:r>
              <a:rPr lang="en-US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升级为</a:t>
            </a:r>
            <a:r>
              <a:rPr lang="en-US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发好</a:t>
            </a:r>
            <a:r>
              <a:rPr lang="en-US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922" b="1" dirty="0">
              <a:solidFill>
                <a:schemeClr val="accent4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10655" indent="-210655" algn="just">
              <a:lnSpc>
                <a:spcPct val="150000"/>
              </a:lnSpc>
              <a:spcBef>
                <a:spcPts val="922"/>
              </a:spcBef>
              <a:buFont typeface="+mj-ea"/>
              <a:buAutoNum type="circleNumDbPlain"/>
            </a:pP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推动的进展：分型结论直接输入</a:t>
            </a:r>
            <a:r>
              <a:rPr lang="en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H2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推全方案，推全按分型分层推进（泛货架优先），</a:t>
            </a:r>
            <a:r>
              <a:rPr lang="en-US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提转化</a:t>
            </a:r>
            <a:r>
              <a:rPr lang="en-US" altLang="zh-CN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被列为下一阶段核心策略，监控指标按分型差异化设定。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22C3951-A360-1E2E-DD2F-24A1638F9524}"/>
              </a:ext>
            </a:extLst>
          </p:cNvPr>
          <p:cNvSpPr txBox="1"/>
          <p:nvPr/>
        </p:nvSpPr>
        <p:spPr>
          <a:xfrm>
            <a:off x="3899674" y="1160176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基础画像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3897B3B-5D68-27D5-F4F1-5BE83B9558A9}"/>
              </a:ext>
            </a:extLst>
          </p:cNvPr>
          <p:cNvSpPr txBox="1"/>
          <p:nvPr/>
        </p:nvSpPr>
        <p:spPr>
          <a:xfrm>
            <a:off x="5533245" y="1177466"/>
            <a:ext cx="1887055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经营行为变化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F099C0-7DD8-D6EA-8AB6-22C1EDE0C5DA}"/>
              </a:ext>
            </a:extLst>
          </p:cNvPr>
          <p:cNvSpPr txBox="1"/>
          <p:nvPr/>
        </p:nvSpPr>
        <p:spPr>
          <a:xfrm>
            <a:off x="7728761" y="1177466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工具使用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997BC0A-506D-4C43-0AF2-7D39D5AC85AB}"/>
              </a:ext>
            </a:extLst>
          </p:cNvPr>
          <p:cNvSpPr txBox="1"/>
          <p:nvPr/>
        </p:nvSpPr>
        <p:spPr>
          <a:xfrm>
            <a:off x="9526092" y="1177466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结果传导</a:t>
            </a:r>
          </a:p>
        </p:txBody>
      </p:sp>
      <p:sp>
        <p:nvSpPr>
          <p:cNvPr id="55" name="同侧圆角矩形 54">
            <a:extLst>
              <a:ext uri="{FF2B5EF4-FFF2-40B4-BE49-F238E27FC236}">
                <a16:creationId xmlns:a16="http://schemas.microsoft.com/office/drawing/2014/main" id="{CB2BFBDB-43AA-05E7-9A85-3306C77E5F0F}"/>
              </a:ext>
            </a:extLst>
          </p:cNvPr>
          <p:cNvSpPr/>
          <p:nvPr/>
        </p:nvSpPr>
        <p:spPr>
          <a:xfrm rot="10800000">
            <a:off x="3745441" y="1631181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6" name="同侧圆角矩形 55">
            <a:extLst>
              <a:ext uri="{FF2B5EF4-FFF2-40B4-BE49-F238E27FC236}">
                <a16:creationId xmlns:a16="http://schemas.microsoft.com/office/drawing/2014/main" id="{DCE0A28B-3F28-42D0-DECC-8520DA5B13D3}"/>
              </a:ext>
            </a:extLst>
          </p:cNvPr>
          <p:cNvSpPr/>
          <p:nvPr/>
        </p:nvSpPr>
        <p:spPr>
          <a:xfrm rot="10800000">
            <a:off x="5533221" y="1651599"/>
            <a:ext cx="1887066" cy="29745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7" name="同侧圆角矩形 56">
            <a:extLst>
              <a:ext uri="{FF2B5EF4-FFF2-40B4-BE49-F238E27FC236}">
                <a16:creationId xmlns:a16="http://schemas.microsoft.com/office/drawing/2014/main" id="{555E425A-2201-BBB7-D735-7256E2BDDB90}"/>
              </a:ext>
            </a:extLst>
          </p:cNvPr>
          <p:cNvSpPr/>
          <p:nvPr/>
        </p:nvSpPr>
        <p:spPr>
          <a:xfrm rot="10800000">
            <a:off x="7574527" y="1654728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651AEE9E-C516-7F95-FF5F-ED81811B2888}"/>
              </a:ext>
            </a:extLst>
          </p:cNvPr>
          <p:cNvSpPr/>
          <p:nvPr/>
        </p:nvSpPr>
        <p:spPr>
          <a:xfrm rot="10800000">
            <a:off x="9371853" y="1657857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1124322-FD04-9931-C357-2CC7076623B6}"/>
              </a:ext>
            </a:extLst>
          </p:cNvPr>
          <p:cNvSpPr txBox="1"/>
          <p:nvPr/>
        </p:nvSpPr>
        <p:spPr>
          <a:xfrm>
            <a:off x="3723346" y="1656204"/>
            <a:ext cx="1672254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行业</a:t>
            </a:r>
            <a:r>
              <a:rPr kumimoji="1" lang="en-US" altLang="zh-CN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粉丝</a:t>
            </a:r>
            <a:r>
              <a:rPr kumimoji="1" lang="en-US" altLang="zh-CN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经营时长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BD26B56-C5E9-D9BB-9D18-EDDFB3A5E90C}"/>
              </a:ext>
            </a:extLst>
          </p:cNvPr>
          <p:cNvSpPr txBox="1"/>
          <p:nvPr/>
        </p:nvSpPr>
        <p:spPr>
          <a:xfrm>
            <a:off x="5889912" y="1673494"/>
            <a:ext cx="117371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实验期</a:t>
            </a:r>
            <a:r>
              <a:rPr kumimoji="1" lang="en-US" altLang="zh-CN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</a:t>
            </a:r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基期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5D3951A-0A9C-0D08-DB11-96D514F1DF19}"/>
              </a:ext>
            </a:extLst>
          </p:cNvPr>
          <p:cNvSpPr txBox="1"/>
          <p:nvPr/>
        </p:nvSpPr>
        <p:spPr>
          <a:xfrm>
            <a:off x="7801696" y="1673494"/>
            <a:ext cx="117371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单工具</a:t>
            </a:r>
            <a:r>
              <a:rPr kumimoji="1" lang="en-US" altLang="zh-CN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</a:t>
            </a:r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混合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E995F2A-8FB9-32FE-46A1-E2CAE923ACDD}"/>
              </a:ext>
            </a:extLst>
          </p:cNvPr>
          <p:cNvSpPr txBox="1"/>
          <p:nvPr/>
        </p:nvSpPr>
        <p:spPr>
          <a:xfrm>
            <a:off x="9375410" y="1673494"/>
            <a:ext cx="1620957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勤奋度提升</a:t>
            </a:r>
            <a:r>
              <a:rPr kumimoji="1" lang="en-US" altLang="zh-CN" sz="129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 GMV</a:t>
            </a:r>
            <a:endParaRPr kumimoji="1" lang="zh-CN" altLang="en-US" sz="129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Фигура">
            <a:extLst>
              <a:ext uri="{FF2B5EF4-FFF2-40B4-BE49-F238E27FC236}">
                <a16:creationId xmlns:a16="http://schemas.microsoft.com/office/drawing/2014/main" id="{48A8ECE9-EE3B-78B5-D5AB-5B67E96815AF}"/>
              </a:ext>
            </a:extLst>
          </p:cNvPr>
          <p:cNvSpPr/>
          <p:nvPr/>
        </p:nvSpPr>
        <p:spPr>
          <a:xfrm>
            <a:off x="1071674" y="5582184"/>
            <a:ext cx="228098" cy="22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77" h="20595" extrusionOk="0">
                <a:moveTo>
                  <a:pt x="10189" y="0"/>
                </a:moveTo>
                <a:cubicBezTo>
                  <a:pt x="7581" y="0"/>
                  <a:pt x="4974" y="1006"/>
                  <a:pt x="2984" y="3016"/>
                </a:cubicBezTo>
                <a:cubicBezTo>
                  <a:pt x="251" y="5779"/>
                  <a:pt x="-605" y="9719"/>
                  <a:pt x="417" y="13220"/>
                </a:cubicBezTo>
                <a:cubicBezTo>
                  <a:pt x="485" y="13493"/>
                  <a:pt x="742" y="13675"/>
                  <a:pt x="1019" y="13644"/>
                </a:cubicBezTo>
                <a:cubicBezTo>
                  <a:pt x="1434" y="13599"/>
                  <a:pt x="1678" y="13150"/>
                  <a:pt x="1492" y="12772"/>
                </a:cubicBezTo>
                <a:cubicBezTo>
                  <a:pt x="639" y="9697"/>
                  <a:pt x="1407" y="6260"/>
                  <a:pt x="3801" y="3841"/>
                </a:cubicBezTo>
                <a:cubicBezTo>
                  <a:pt x="5565" y="2058"/>
                  <a:pt x="7877" y="1167"/>
                  <a:pt x="10189" y="1167"/>
                </a:cubicBezTo>
                <a:cubicBezTo>
                  <a:pt x="12501" y="1167"/>
                  <a:pt x="14813" y="2058"/>
                  <a:pt x="16577" y="3841"/>
                </a:cubicBezTo>
                <a:cubicBezTo>
                  <a:pt x="16895" y="4162"/>
                  <a:pt x="17180" y="4503"/>
                  <a:pt x="17440" y="4856"/>
                </a:cubicBezTo>
                <a:lnTo>
                  <a:pt x="16186" y="4856"/>
                </a:lnTo>
                <a:cubicBezTo>
                  <a:pt x="15862" y="4856"/>
                  <a:pt x="15599" y="5122"/>
                  <a:pt x="15599" y="5449"/>
                </a:cubicBezTo>
                <a:cubicBezTo>
                  <a:pt x="15599" y="5777"/>
                  <a:pt x="15862" y="6041"/>
                  <a:pt x="16186" y="6041"/>
                </a:cubicBezTo>
                <a:lnTo>
                  <a:pt x="18598" y="6041"/>
                </a:lnTo>
                <a:cubicBezTo>
                  <a:pt x="18921" y="6041"/>
                  <a:pt x="19185" y="5777"/>
                  <a:pt x="19185" y="5449"/>
                </a:cubicBezTo>
                <a:cubicBezTo>
                  <a:pt x="19185" y="5446"/>
                  <a:pt x="19183" y="5444"/>
                  <a:pt x="19183" y="5441"/>
                </a:cubicBezTo>
                <a:cubicBezTo>
                  <a:pt x="19183" y="5438"/>
                  <a:pt x="19185" y="5435"/>
                  <a:pt x="19185" y="5432"/>
                </a:cubicBezTo>
                <a:lnTo>
                  <a:pt x="19185" y="2995"/>
                </a:lnTo>
                <a:cubicBezTo>
                  <a:pt x="19185" y="2668"/>
                  <a:pt x="18921" y="2402"/>
                  <a:pt x="18598" y="2402"/>
                </a:cubicBezTo>
                <a:cubicBezTo>
                  <a:pt x="18274" y="2402"/>
                  <a:pt x="18012" y="2668"/>
                  <a:pt x="18012" y="2995"/>
                </a:cubicBezTo>
                <a:lnTo>
                  <a:pt x="18012" y="3708"/>
                </a:lnTo>
                <a:cubicBezTo>
                  <a:pt x="17817" y="3471"/>
                  <a:pt x="17614" y="3238"/>
                  <a:pt x="17394" y="3016"/>
                </a:cubicBezTo>
                <a:cubicBezTo>
                  <a:pt x="15404" y="1006"/>
                  <a:pt x="12797" y="0"/>
                  <a:pt x="10189" y="0"/>
                </a:cubicBezTo>
                <a:close/>
                <a:moveTo>
                  <a:pt x="9590" y="3669"/>
                </a:moveTo>
                <a:cubicBezTo>
                  <a:pt x="8295" y="3787"/>
                  <a:pt x="7031" y="4294"/>
                  <a:pt x="5975" y="5184"/>
                </a:cubicBezTo>
                <a:lnTo>
                  <a:pt x="7228" y="6449"/>
                </a:lnTo>
                <a:cubicBezTo>
                  <a:pt x="7228" y="6449"/>
                  <a:pt x="7228" y="6450"/>
                  <a:pt x="7230" y="6452"/>
                </a:cubicBezTo>
                <a:cubicBezTo>
                  <a:pt x="7462" y="6688"/>
                  <a:pt x="7462" y="7068"/>
                  <a:pt x="7230" y="7303"/>
                </a:cubicBezTo>
                <a:cubicBezTo>
                  <a:pt x="7228" y="7306"/>
                  <a:pt x="7228" y="7306"/>
                  <a:pt x="7228" y="7306"/>
                </a:cubicBezTo>
                <a:cubicBezTo>
                  <a:pt x="7228" y="7306"/>
                  <a:pt x="7226" y="7308"/>
                  <a:pt x="7224" y="7310"/>
                </a:cubicBezTo>
                <a:cubicBezTo>
                  <a:pt x="6991" y="7544"/>
                  <a:pt x="6615" y="7544"/>
                  <a:pt x="6382" y="7310"/>
                </a:cubicBezTo>
                <a:cubicBezTo>
                  <a:pt x="6379" y="7308"/>
                  <a:pt x="6379" y="7306"/>
                  <a:pt x="6379" y="7306"/>
                </a:cubicBezTo>
                <a:lnTo>
                  <a:pt x="5127" y="6040"/>
                </a:lnTo>
                <a:cubicBezTo>
                  <a:pt x="4240" y="7114"/>
                  <a:pt x="3741" y="8403"/>
                  <a:pt x="3629" y="9720"/>
                </a:cubicBezTo>
                <a:lnTo>
                  <a:pt x="5403" y="9720"/>
                </a:lnTo>
                <a:cubicBezTo>
                  <a:pt x="5403" y="9720"/>
                  <a:pt x="5404" y="9720"/>
                  <a:pt x="5407" y="9720"/>
                </a:cubicBezTo>
                <a:cubicBezTo>
                  <a:pt x="5736" y="9721"/>
                  <a:pt x="6002" y="9990"/>
                  <a:pt x="6003" y="10322"/>
                </a:cubicBezTo>
                <a:cubicBezTo>
                  <a:pt x="6003" y="10325"/>
                  <a:pt x="6003" y="10326"/>
                  <a:pt x="6003" y="10326"/>
                </a:cubicBezTo>
                <a:cubicBezTo>
                  <a:pt x="6003" y="10326"/>
                  <a:pt x="6003" y="10327"/>
                  <a:pt x="6003" y="10330"/>
                </a:cubicBezTo>
                <a:cubicBezTo>
                  <a:pt x="6002" y="10662"/>
                  <a:pt x="5736" y="10931"/>
                  <a:pt x="5407" y="10932"/>
                </a:cubicBezTo>
                <a:cubicBezTo>
                  <a:pt x="5404" y="10932"/>
                  <a:pt x="5403" y="10932"/>
                  <a:pt x="5403" y="10932"/>
                </a:cubicBezTo>
                <a:lnTo>
                  <a:pt x="3631" y="10932"/>
                </a:lnTo>
                <a:cubicBezTo>
                  <a:pt x="3754" y="12236"/>
                  <a:pt x="4259" y="13508"/>
                  <a:pt x="5140" y="14570"/>
                </a:cubicBezTo>
                <a:lnTo>
                  <a:pt x="6379" y="13318"/>
                </a:lnTo>
                <a:cubicBezTo>
                  <a:pt x="6379" y="13318"/>
                  <a:pt x="6379" y="13318"/>
                  <a:pt x="6382" y="13316"/>
                </a:cubicBezTo>
                <a:cubicBezTo>
                  <a:pt x="6498" y="13199"/>
                  <a:pt x="6650" y="13141"/>
                  <a:pt x="6803" y="13141"/>
                </a:cubicBezTo>
                <a:cubicBezTo>
                  <a:pt x="6955" y="13141"/>
                  <a:pt x="7107" y="13199"/>
                  <a:pt x="7224" y="13316"/>
                </a:cubicBezTo>
                <a:cubicBezTo>
                  <a:pt x="7226" y="13318"/>
                  <a:pt x="7228" y="13318"/>
                  <a:pt x="7228" y="13318"/>
                </a:cubicBezTo>
                <a:cubicBezTo>
                  <a:pt x="7228" y="13318"/>
                  <a:pt x="7228" y="13319"/>
                  <a:pt x="7230" y="13321"/>
                </a:cubicBezTo>
                <a:cubicBezTo>
                  <a:pt x="7462" y="13556"/>
                  <a:pt x="7462" y="13938"/>
                  <a:pt x="7230" y="14173"/>
                </a:cubicBezTo>
                <a:cubicBezTo>
                  <a:pt x="7228" y="14176"/>
                  <a:pt x="7228" y="14176"/>
                  <a:pt x="7228" y="14176"/>
                </a:cubicBezTo>
                <a:lnTo>
                  <a:pt x="5992" y="15425"/>
                </a:lnTo>
                <a:cubicBezTo>
                  <a:pt x="7044" y="16307"/>
                  <a:pt x="8302" y="16807"/>
                  <a:pt x="9590" y="16925"/>
                </a:cubicBezTo>
                <a:lnTo>
                  <a:pt x="9590" y="15152"/>
                </a:lnTo>
                <a:cubicBezTo>
                  <a:pt x="9590" y="15152"/>
                  <a:pt x="9589" y="15151"/>
                  <a:pt x="9590" y="15148"/>
                </a:cubicBezTo>
                <a:cubicBezTo>
                  <a:pt x="9591" y="14816"/>
                  <a:pt x="9856" y="14547"/>
                  <a:pt x="10185" y="14546"/>
                </a:cubicBezTo>
                <a:cubicBezTo>
                  <a:pt x="10188" y="14546"/>
                  <a:pt x="10189" y="14546"/>
                  <a:pt x="10189" y="14546"/>
                </a:cubicBezTo>
                <a:cubicBezTo>
                  <a:pt x="10189" y="14546"/>
                  <a:pt x="10190" y="14546"/>
                  <a:pt x="10193" y="14546"/>
                </a:cubicBezTo>
                <a:cubicBezTo>
                  <a:pt x="10521" y="14547"/>
                  <a:pt x="10787" y="14816"/>
                  <a:pt x="10788" y="15148"/>
                </a:cubicBezTo>
                <a:cubicBezTo>
                  <a:pt x="10789" y="15151"/>
                  <a:pt x="10788" y="15152"/>
                  <a:pt x="10788" y="15152"/>
                </a:cubicBezTo>
                <a:lnTo>
                  <a:pt x="10788" y="16925"/>
                </a:lnTo>
                <a:cubicBezTo>
                  <a:pt x="12076" y="16807"/>
                  <a:pt x="13334" y="16307"/>
                  <a:pt x="14386" y="15425"/>
                </a:cubicBezTo>
                <a:lnTo>
                  <a:pt x="13124" y="14149"/>
                </a:lnTo>
                <a:cubicBezTo>
                  <a:pt x="13124" y="14149"/>
                  <a:pt x="13123" y="14148"/>
                  <a:pt x="13121" y="14146"/>
                </a:cubicBezTo>
                <a:cubicBezTo>
                  <a:pt x="12890" y="13910"/>
                  <a:pt x="12890" y="13530"/>
                  <a:pt x="13121" y="13294"/>
                </a:cubicBezTo>
                <a:cubicBezTo>
                  <a:pt x="13123" y="13292"/>
                  <a:pt x="13124" y="13292"/>
                  <a:pt x="13124" y="13292"/>
                </a:cubicBezTo>
                <a:cubicBezTo>
                  <a:pt x="13124" y="13292"/>
                  <a:pt x="13124" y="13291"/>
                  <a:pt x="13126" y="13289"/>
                </a:cubicBezTo>
                <a:cubicBezTo>
                  <a:pt x="13243" y="13172"/>
                  <a:pt x="13395" y="13113"/>
                  <a:pt x="13548" y="13113"/>
                </a:cubicBezTo>
                <a:cubicBezTo>
                  <a:pt x="13700" y="13113"/>
                  <a:pt x="13852" y="13172"/>
                  <a:pt x="13969" y="13289"/>
                </a:cubicBezTo>
                <a:cubicBezTo>
                  <a:pt x="13971" y="13291"/>
                  <a:pt x="13973" y="13292"/>
                  <a:pt x="13973" y="13292"/>
                </a:cubicBezTo>
                <a:lnTo>
                  <a:pt x="15238" y="14570"/>
                </a:lnTo>
                <a:cubicBezTo>
                  <a:pt x="16119" y="13508"/>
                  <a:pt x="16624" y="12236"/>
                  <a:pt x="16747" y="10932"/>
                </a:cubicBezTo>
                <a:lnTo>
                  <a:pt x="14956" y="10932"/>
                </a:lnTo>
                <a:cubicBezTo>
                  <a:pt x="14956" y="10932"/>
                  <a:pt x="14954" y="10932"/>
                  <a:pt x="14951" y="10932"/>
                </a:cubicBezTo>
                <a:cubicBezTo>
                  <a:pt x="14622" y="10931"/>
                  <a:pt x="14356" y="10662"/>
                  <a:pt x="14355" y="10330"/>
                </a:cubicBezTo>
                <a:cubicBezTo>
                  <a:pt x="14355" y="10327"/>
                  <a:pt x="14355" y="10326"/>
                  <a:pt x="14355" y="10326"/>
                </a:cubicBezTo>
                <a:cubicBezTo>
                  <a:pt x="14355" y="10326"/>
                  <a:pt x="14355" y="10325"/>
                  <a:pt x="14355" y="10322"/>
                </a:cubicBezTo>
                <a:cubicBezTo>
                  <a:pt x="14356" y="9990"/>
                  <a:pt x="14622" y="9721"/>
                  <a:pt x="14951" y="9720"/>
                </a:cubicBezTo>
                <a:cubicBezTo>
                  <a:pt x="14954" y="9720"/>
                  <a:pt x="14956" y="9720"/>
                  <a:pt x="14956" y="9720"/>
                </a:cubicBezTo>
                <a:lnTo>
                  <a:pt x="16749" y="9720"/>
                </a:lnTo>
                <a:cubicBezTo>
                  <a:pt x="16637" y="8409"/>
                  <a:pt x="16142" y="7126"/>
                  <a:pt x="15264" y="6055"/>
                </a:cubicBezTo>
                <a:lnTo>
                  <a:pt x="13999" y="7334"/>
                </a:lnTo>
                <a:cubicBezTo>
                  <a:pt x="13999" y="7334"/>
                  <a:pt x="13999" y="7334"/>
                  <a:pt x="13996" y="7336"/>
                </a:cubicBezTo>
                <a:cubicBezTo>
                  <a:pt x="13763" y="7570"/>
                  <a:pt x="13386" y="7570"/>
                  <a:pt x="13153" y="7336"/>
                </a:cubicBezTo>
                <a:cubicBezTo>
                  <a:pt x="13150" y="7334"/>
                  <a:pt x="13150" y="7334"/>
                  <a:pt x="13150" y="7334"/>
                </a:cubicBezTo>
                <a:cubicBezTo>
                  <a:pt x="13150" y="7334"/>
                  <a:pt x="13150" y="7333"/>
                  <a:pt x="13148" y="7331"/>
                </a:cubicBezTo>
                <a:cubicBezTo>
                  <a:pt x="12916" y="7095"/>
                  <a:pt x="12916" y="6714"/>
                  <a:pt x="13148" y="6478"/>
                </a:cubicBezTo>
                <a:cubicBezTo>
                  <a:pt x="13150" y="6476"/>
                  <a:pt x="13150" y="6476"/>
                  <a:pt x="13150" y="6476"/>
                </a:cubicBezTo>
                <a:lnTo>
                  <a:pt x="14416" y="5196"/>
                </a:lnTo>
                <a:cubicBezTo>
                  <a:pt x="13358" y="4299"/>
                  <a:pt x="12089" y="3788"/>
                  <a:pt x="10788" y="3669"/>
                </a:cubicBezTo>
                <a:lnTo>
                  <a:pt x="10788" y="5500"/>
                </a:lnTo>
                <a:cubicBezTo>
                  <a:pt x="10788" y="5500"/>
                  <a:pt x="10789" y="5501"/>
                  <a:pt x="10788" y="5504"/>
                </a:cubicBezTo>
                <a:cubicBezTo>
                  <a:pt x="10787" y="5836"/>
                  <a:pt x="10521" y="6105"/>
                  <a:pt x="10193" y="6106"/>
                </a:cubicBezTo>
                <a:cubicBezTo>
                  <a:pt x="10190" y="6106"/>
                  <a:pt x="10189" y="6106"/>
                  <a:pt x="10189" y="6106"/>
                </a:cubicBezTo>
                <a:cubicBezTo>
                  <a:pt x="10189" y="6106"/>
                  <a:pt x="10188" y="6106"/>
                  <a:pt x="10185" y="6106"/>
                </a:cubicBezTo>
                <a:cubicBezTo>
                  <a:pt x="9856" y="6105"/>
                  <a:pt x="9591" y="5836"/>
                  <a:pt x="9590" y="5504"/>
                </a:cubicBezTo>
                <a:cubicBezTo>
                  <a:pt x="9589" y="5501"/>
                  <a:pt x="9590" y="5500"/>
                  <a:pt x="9590" y="5500"/>
                </a:cubicBezTo>
                <a:lnTo>
                  <a:pt x="9590" y="3669"/>
                </a:lnTo>
                <a:close/>
                <a:moveTo>
                  <a:pt x="19323" y="6842"/>
                </a:moveTo>
                <a:cubicBezTo>
                  <a:pt x="19233" y="6848"/>
                  <a:pt x="19141" y="6875"/>
                  <a:pt x="19056" y="6927"/>
                </a:cubicBezTo>
                <a:cubicBezTo>
                  <a:pt x="18806" y="7078"/>
                  <a:pt x="18713" y="7398"/>
                  <a:pt x="18841" y="7662"/>
                </a:cubicBezTo>
                <a:cubicBezTo>
                  <a:pt x="19767" y="10777"/>
                  <a:pt x="19012" y="14293"/>
                  <a:pt x="16577" y="16754"/>
                </a:cubicBezTo>
                <a:cubicBezTo>
                  <a:pt x="13049" y="20320"/>
                  <a:pt x="7329" y="20320"/>
                  <a:pt x="3801" y="16754"/>
                </a:cubicBezTo>
                <a:cubicBezTo>
                  <a:pt x="3473" y="16423"/>
                  <a:pt x="3179" y="16070"/>
                  <a:pt x="2913" y="15704"/>
                </a:cubicBezTo>
                <a:lnTo>
                  <a:pt x="4187" y="15704"/>
                </a:lnTo>
                <a:cubicBezTo>
                  <a:pt x="4511" y="15704"/>
                  <a:pt x="4774" y="15438"/>
                  <a:pt x="4774" y="15110"/>
                </a:cubicBezTo>
                <a:cubicBezTo>
                  <a:pt x="4774" y="14783"/>
                  <a:pt x="4511" y="14518"/>
                  <a:pt x="4187" y="14518"/>
                </a:cubicBezTo>
                <a:lnTo>
                  <a:pt x="1775" y="14518"/>
                </a:lnTo>
                <a:cubicBezTo>
                  <a:pt x="1451" y="14518"/>
                  <a:pt x="1188" y="14783"/>
                  <a:pt x="1188" y="15110"/>
                </a:cubicBezTo>
                <a:cubicBezTo>
                  <a:pt x="1188" y="15113"/>
                  <a:pt x="1190" y="15116"/>
                  <a:pt x="1190" y="15119"/>
                </a:cubicBezTo>
                <a:cubicBezTo>
                  <a:pt x="1190" y="15122"/>
                  <a:pt x="1188" y="15125"/>
                  <a:pt x="1188" y="15128"/>
                </a:cubicBezTo>
                <a:lnTo>
                  <a:pt x="1188" y="17565"/>
                </a:lnTo>
                <a:cubicBezTo>
                  <a:pt x="1188" y="17892"/>
                  <a:pt x="1451" y="18158"/>
                  <a:pt x="1775" y="18158"/>
                </a:cubicBezTo>
                <a:cubicBezTo>
                  <a:pt x="2099" y="18158"/>
                  <a:pt x="2361" y="17892"/>
                  <a:pt x="2361" y="17565"/>
                </a:cubicBezTo>
                <a:lnTo>
                  <a:pt x="2361" y="16886"/>
                </a:lnTo>
                <a:cubicBezTo>
                  <a:pt x="2557" y="17124"/>
                  <a:pt x="2764" y="17356"/>
                  <a:pt x="2984" y="17579"/>
                </a:cubicBezTo>
                <a:cubicBezTo>
                  <a:pt x="6964" y="21600"/>
                  <a:pt x="13414" y="21600"/>
                  <a:pt x="17394" y="17579"/>
                </a:cubicBezTo>
                <a:cubicBezTo>
                  <a:pt x="20150" y="14794"/>
                  <a:pt x="20995" y="10811"/>
                  <a:pt x="19934" y="7289"/>
                </a:cubicBezTo>
                <a:cubicBezTo>
                  <a:pt x="19859" y="7000"/>
                  <a:pt x="19594" y="6825"/>
                  <a:pt x="19323" y="6842"/>
                </a:cubicBezTo>
                <a:close/>
                <a:moveTo>
                  <a:pt x="10178" y="7266"/>
                </a:moveTo>
                <a:cubicBezTo>
                  <a:pt x="10181" y="7265"/>
                  <a:pt x="10181" y="7266"/>
                  <a:pt x="10181" y="7266"/>
                </a:cubicBezTo>
                <a:cubicBezTo>
                  <a:pt x="10181" y="7266"/>
                  <a:pt x="10184" y="7265"/>
                  <a:pt x="10186" y="7266"/>
                </a:cubicBezTo>
                <a:cubicBezTo>
                  <a:pt x="10515" y="7267"/>
                  <a:pt x="10781" y="7537"/>
                  <a:pt x="10782" y="7869"/>
                </a:cubicBezTo>
                <a:cubicBezTo>
                  <a:pt x="10782" y="7872"/>
                  <a:pt x="10782" y="7873"/>
                  <a:pt x="10782" y="7873"/>
                </a:cubicBezTo>
                <a:lnTo>
                  <a:pt x="10782" y="9720"/>
                </a:lnTo>
                <a:lnTo>
                  <a:pt x="11414" y="9720"/>
                </a:lnTo>
                <a:cubicBezTo>
                  <a:pt x="11414" y="9720"/>
                  <a:pt x="11415" y="9720"/>
                  <a:pt x="11418" y="9720"/>
                </a:cubicBezTo>
                <a:cubicBezTo>
                  <a:pt x="11747" y="9721"/>
                  <a:pt x="12013" y="9990"/>
                  <a:pt x="12014" y="10322"/>
                </a:cubicBezTo>
                <a:cubicBezTo>
                  <a:pt x="12014" y="10325"/>
                  <a:pt x="12014" y="10326"/>
                  <a:pt x="12014" y="10326"/>
                </a:cubicBezTo>
                <a:cubicBezTo>
                  <a:pt x="12014" y="10326"/>
                  <a:pt x="12014" y="10327"/>
                  <a:pt x="12014" y="10330"/>
                </a:cubicBezTo>
                <a:cubicBezTo>
                  <a:pt x="12013" y="10662"/>
                  <a:pt x="11747" y="10931"/>
                  <a:pt x="11418" y="10932"/>
                </a:cubicBezTo>
                <a:cubicBezTo>
                  <a:pt x="11415" y="10932"/>
                  <a:pt x="11414" y="10932"/>
                  <a:pt x="11414" y="10932"/>
                </a:cubicBezTo>
                <a:lnTo>
                  <a:pt x="10250" y="10932"/>
                </a:lnTo>
                <a:cubicBezTo>
                  <a:pt x="10250" y="10932"/>
                  <a:pt x="10248" y="10932"/>
                  <a:pt x="10245" y="10932"/>
                </a:cubicBezTo>
                <a:cubicBezTo>
                  <a:pt x="10186" y="10931"/>
                  <a:pt x="10130" y="10919"/>
                  <a:pt x="10076" y="10903"/>
                </a:cubicBezTo>
                <a:cubicBezTo>
                  <a:pt x="9796" y="10853"/>
                  <a:pt x="9583" y="10609"/>
                  <a:pt x="9582" y="10312"/>
                </a:cubicBezTo>
                <a:cubicBezTo>
                  <a:pt x="9582" y="10309"/>
                  <a:pt x="9582" y="10308"/>
                  <a:pt x="9582" y="10308"/>
                </a:cubicBezTo>
                <a:lnTo>
                  <a:pt x="9582" y="7873"/>
                </a:lnTo>
                <a:cubicBezTo>
                  <a:pt x="9582" y="7873"/>
                  <a:pt x="9582" y="7872"/>
                  <a:pt x="9582" y="7869"/>
                </a:cubicBezTo>
                <a:cubicBezTo>
                  <a:pt x="9583" y="7537"/>
                  <a:pt x="9849" y="7267"/>
                  <a:pt x="10178" y="7266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Фигура">
            <a:extLst>
              <a:ext uri="{FF2B5EF4-FFF2-40B4-BE49-F238E27FC236}">
                <a16:creationId xmlns:a16="http://schemas.microsoft.com/office/drawing/2014/main" id="{1C408E38-82D7-8314-402B-5CB25B05A096}"/>
              </a:ext>
            </a:extLst>
          </p:cNvPr>
          <p:cNvSpPr/>
          <p:nvPr/>
        </p:nvSpPr>
        <p:spPr>
          <a:xfrm>
            <a:off x="2817765" y="2361616"/>
            <a:ext cx="235035" cy="218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0" extrusionOk="0">
                <a:moveTo>
                  <a:pt x="10835" y="0"/>
                </a:moveTo>
                <a:cubicBezTo>
                  <a:pt x="10498" y="0"/>
                  <a:pt x="10225" y="292"/>
                  <a:pt x="10225" y="653"/>
                </a:cubicBezTo>
                <a:lnTo>
                  <a:pt x="10225" y="2711"/>
                </a:lnTo>
                <a:cubicBezTo>
                  <a:pt x="10225" y="3072"/>
                  <a:pt x="10498" y="3365"/>
                  <a:pt x="10835" y="3365"/>
                </a:cubicBezTo>
                <a:cubicBezTo>
                  <a:pt x="11171" y="3365"/>
                  <a:pt x="11444" y="3072"/>
                  <a:pt x="11444" y="2711"/>
                </a:cubicBezTo>
                <a:lnTo>
                  <a:pt x="11444" y="653"/>
                </a:lnTo>
                <a:cubicBezTo>
                  <a:pt x="11444" y="292"/>
                  <a:pt x="11171" y="0"/>
                  <a:pt x="10835" y="0"/>
                </a:cubicBezTo>
                <a:close/>
                <a:moveTo>
                  <a:pt x="15869" y="2711"/>
                </a:moveTo>
                <a:cubicBezTo>
                  <a:pt x="15713" y="2711"/>
                  <a:pt x="15557" y="2775"/>
                  <a:pt x="15438" y="2902"/>
                </a:cubicBezTo>
                <a:lnTo>
                  <a:pt x="14157" y="4276"/>
                </a:lnTo>
                <a:cubicBezTo>
                  <a:pt x="13919" y="4531"/>
                  <a:pt x="13919" y="4945"/>
                  <a:pt x="14157" y="5200"/>
                </a:cubicBezTo>
                <a:cubicBezTo>
                  <a:pt x="14395" y="5455"/>
                  <a:pt x="14781" y="5455"/>
                  <a:pt x="15019" y="5200"/>
                </a:cubicBezTo>
                <a:lnTo>
                  <a:pt x="16300" y="3826"/>
                </a:lnTo>
                <a:cubicBezTo>
                  <a:pt x="16538" y="3570"/>
                  <a:pt x="16538" y="3158"/>
                  <a:pt x="16300" y="2902"/>
                </a:cubicBezTo>
                <a:cubicBezTo>
                  <a:pt x="16181" y="2775"/>
                  <a:pt x="16024" y="2711"/>
                  <a:pt x="15869" y="2711"/>
                </a:cubicBezTo>
                <a:close/>
                <a:moveTo>
                  <a:pt x="5750" y="2778"/>
                </a:moveTo>
                <a:cubicBezTo>
                  <a:pt x="5594" y="2778"/>
                  <a:pt x="5438" y="2842"/>
                  <a:pt x="5319" y="2970"/>
                </a:cubicBezTo>
                <a:cubicBezTo>
                  <a:pt x="5081" y="3225"/>
                  <a:pt x="5081" y="3638"/>
                  <a:pt x="5319" y="3893"/>
                </a:cubicBezTo>
                <a:lnTo>
                  <a:pt x="6600" y="5267"/>
                </a:lnTo>
                <a:cubicBezTo>
                  <a:pt x="6838" y="5523"/>
                  <a:pt x="7223" y="5523"/>
                  <a:pt x="7461" y="5267"/>
                </a:cubicBezTo>
                <a:cubicBezTo>
                  <a:pt x="7699" y="5012"/>
                  <a:pt x="7699" y="4598"/>
                  <a:pt x="7461" y="4343"/>
                </a:cubicBezTo>
                <a:lnTo>
                  <a:pt x="6180" y="2970"/>
                </a:lnTo>
                <a:cubicBezTo>
                  <a:pt x="6061" y="2842"/>
                  <a:pt x="5906" y="2778"/>
                  <a:pt x="5750" y="2778"/>
                </a:cubicBezTo>
                <a:close/>
                <a:moveTo>
                  <a:pt x="7845" y="6794"/>
                </a:moveTo>
                <a:cubicBezTo>
                  <a:pt x="7471" y="6799"/>
                  <a:pt x="7107" y="6917"/>
                  <a:pt x="6793" y="7134"/>
                </a:cubicBezTo>
                <a:cubicBezTo>
                  <a:pt x="6520" y="7322"/>
                  <a:pt x="6295" y="7579"/>
                  <a:pt x="6136" y="7883"/>
                </a:cubicBezTo>
                <a:lnTo>
                  <a:pt x="5520" y="9164"/>
                </a:lnTo>
                <a:cubicBezTo>
                  <a:pt x="5451" y="9272"/>
                  <a:pt x="5360" y="9362"/>
                  <a:pt x="5255" y="9427"/>
                </a:cubicBezTo>
                <a:cubicBezTo>
                  <a:pt x="5133" y="9503"/>
                  <a:pt x="4996" y="9544"/>
                  <a:pt x="4855" y="9546"/>
                </a:cubicBezTo>
                <a:lnTo>
                  <a:pt x="3844" y="9546"/>
                </a:lnTo>
                <a:lnTo>
                  <a:pt x="3814" y="19022"/>
                </a:lnTo>
                <a:lnTo>
                  <a:pt x="6722" y="19022"/>
                </a:lnTo>
                <a:lnTo>
                  <a:pt x="8565" y="21055"/>
                </a:lnTo>
                <a:cubicBezTo>
                  <a:pt x="8769" y="21249"/>
                  <a:pt x="9010" y="21395"/>
                  <a:pt x="9270" y="21481"/>
                </a:cubicBezTo>
                <a:cubicBezTo>
                  <a:pt x="9629" y="21598"/>
                  <a:pt x="10011" y="21600"/>
                  <a:pt x="10371" y="21486"/>
                </a:cubicBezTo>
                <a:lnTo>
                  <a:pt x="16077" y="19530"/>
                </a:lnTo>
                <a:cubicBezTo>
                  <a:pt x="16210" y="19487"/>
                  <a:pt x="16333" y="19417"/>
                  <a:pt x="16442" y="19326"/>
                </a:cubicBezTo>
                <a:cubicBezTo>
                  <a:pt x="16527" y="19255"/>
                  <a:pt x="16601" y="19172"/>
                  <a:pt x="16664" y="19079"/>
                </a:cubicBezTo>
                <a:lnTo>
                  <a:pt x="12170" y="14325"/>
                </a:lnTo>
                <a:lnTo>
                  <a:pt x="11730" y="14325"/>
                </a:lnTo>
                <a:cubicBezTo>
                  <a:pt x="11355" y="15204"/>
                  <a:pt x="10698" y="15909"/>
                  <a:pt x="9878" y="16312"/>
                </a:cubicBezTo>
                <a:cubicBezTo>
                  <a:pt x="8999" y="16745"/>
                  <a:pt x="7998" y="16800"/>
                  <a:pt x="7082" y="16465"/>
                </a:cubicBezTo>
                <a:lnTo>
                  <a:pt x="6167" y="16096"/>
                </a:lnTo>
                <a:cubicBezTo>
                  <a:pt x="5956" y="15989"/>
                  <a:pt x="5808" y="15778"/>
                  <a:pt x="5770" y="15531"/>
                </a:cubicBezTo>
                <a:cubicBezTo>
                  <a:pt x="5743" y="15349"/>
                  <a:pt x="5780" y="15162"/>
                  <a:pt x="5872" y="15007"/>
                </a:cubicBezTo>
                <a:lnTo>
                  <a:pt x="8176" y="10163"/>
                </a:lnTo>
                <a:cubicBezTo>
                  <a:pt x="8397" y="9732"/>
                  <a:pt x="8734" y="9381"/>
                  <a:pt x="9142" y="9156"/>
                </a:cubicBezTo>
                <a:cubicBezTo>
                  <a:pt x="9437" y="8994"/>
                  <a:pt x="9761" y="8903"/>
                  <a:pt x="10092" y="8888"/>
                </a:cubicBezTo>
                <a:lnTo>
                  <a:pt x="13081" y="8888"/>
                </a:lnTo>
                <a:cubicBezTo>
                  <a:pt x="13322" y="8472"/>
                  <a:pt x="13661" y="7410"/>
                  <a:pt x="13026" y="6962"/>
                </a:cubicBezTo>
                <a:cubicBezTo>
                  <a:pt x="12869" y="6852"/>
                  <a:pt x="12685" y="6793"/>
                  <a:pt x="12498" y="6794"/>
                </a:cubicBezTo>
                <a:lnTo>
                  <a:pt x="7845" y="6794"/>
                </a:lnTo>
                <a:close/>
                <a:moveTo>
                  <a:pt x="1008" y="9498"/>
                </a:moveTo>
                <a:cubicBezTo>
                  <a:pt x="718" y="9498"/>
                  <a:pt x="572" y="9499"/>
                  <a:pt x="417" y="9551"/>
                </a:cubicBezTo>
                <a:cubicBezTo>
                  <a:pt x="246" y="9618"/>
                  <a:pt x="112" y="9762"/>
                  <a:pt x="50" y="9945"/>
                </a:cubicBezTo>
                <a:cubicBezTo>
                  <a:pt x="1" y="10112"/>
                  <a:pt x="0" y="10269"/>
                  <a:pt x="0" y="10579"/>
                </a:cubicBezTo>
                <a:lnTo>
                  <a:pt x="0" y="17922"/>
                </a:lnTo>
                <a:cubicBezTo>
                  <a:pt x="0" y="18237"/>
                  <a:pt x="1" y="18394"/>
                  <a:pt x="50" y="18561"/>
                </a:cubicBezTo>
                <a:cubicBezTo>
                  <a:pt x="112" y="18744"/>
                  <a:pt x="246" y="18888"/>
                  <a:pt x="417" y="18955"/>
                </a:cubicBezTo>
                <a:cubicBezTo>
                  <a:pt x="573" y="19008"/>
                  <a:pt x="719" y="19007"/>
                  <a:pt x="1008" y="19007"/>
                </a:cubicBezTo>
                <a:lnTo>
                  <a:pt x="2519" y="19007"/>
                </a:lnTo>
                <a:lnTo>
                  <a:pt x="2519" y="9498"/>
                </a:lnTo>
                <a:lnTo>
                  <a:pt x="1012" y="9498"/>
                </a:lnTo>
                <a:lnTo>
                  <a:pt x="1008" y="9498"/>
                </a:lnTo>
                <a:close/>
                <a:moveTo>
                  <a:pt x="19026" y="9521"/>
                </a:moveTo>
                <a:lnTo>
                  <a:pt x="19026" y="19029"/>
                </a:lnTo>
                <a:lnTo>
                  <a:pt x="20589" y="19029"/>
                </a:lnTo>
                <a:cubicBezTo>
                  <a:pt x="20882" y="19029"/>
                  <a:pt x="21028" y="19030"/>
                  <a:pt x="21184" y="18977"/>
                </a:cubicBezTo>
                <a:cubicBezTo>
                  <a:pt x="21354" y="18910"/>
                  <a:pt x="21489" y="18766"/>
                  <a:pt x="21551" y="18583"/>
                </a:cubicBezTo>
                <a:cubicBezTo>
                  <a:pt x="21600" y="18416"/>
                  <a:pt x="21600" y="18259"/>
                  <a:pt x="21600" y="17949"/>
                </a:cubicBezTo>
                <a:lnTo>
                  <a:pt x="21600" y="10605"/>
                </a:lnTo>
                <a:cubicBezTo>
                  <a:pt x="21600" y="10291"/>
                  <a:pt x="21600" y="10134"/>
                  <a:pt x="21551" y="9967"/>
                </a:cubicBezTo>
                <a:cubicBezTo>
                  <a:pt x="21489" y="9784"/>
                  <a:pt x="21354" y="9640"/>
                  <a:pt x="21184" y="9574"/>
                </a:cubicBezTo>
                <a:cubicBezTo>
                  <a:pt x="21028" y="9521"/>
                  <a:pt x="20881" y="9521"/>
                  <a:pt x="20592" y="9521"/>
                </a:cubicBezTo>
                <a:lnTo>
                  <a:pt x="19026" y="9521"/>
                </a:lnTo>
                <a:close/>
                <a:moveTo>
                  <a:pt x="10221" y="10214"/>
                </a:moveTo>
                <a:cubicBezTo>
                  <a:pt x="10027" y="10227"/>
                  <a:pt x="9839" y="10291"/>
                  <a:pt x="9673" y="10398"/>
                </a:cubicBezTo>
                <a:cubicBezTo>
                  <a:pt x="9482" y="10521"/>
                  <a:pt x="9327" y="10699"/>
                  <a:pt x="9224" y="10911"/>
                </a:cubicBezTo>
                <a:lnTo>
                  <a:pt x="7288" y="15038"/>
                </a:lnTo>
                <a:cubicBezTo>
                  <a:pt x="7791" y="15310"/>
                  <a:pt x="8368" y="15380"/>
                  <a:pt x="8914" y="15234"/>
                </a:cubicBezTo>
                <a:cubicBezTo>
                  <a:pt x="9494" y="15080"/>
                  <a:pt x="9998" y="14695"/>
                  <a:pt x="10323" y="14157"/>
                </a:cubicBezTo>
                <a:lnTo>
                  <a:pt x="10972" y="12900"/>
                </a:lnTo>
                <a:lnTo>
                  <a:pt x="12168" y="12894"/>
                </a:lnTo>
                <a:cubicBezTo>
                  <a:pt x="12346" y="12901"/>
                  <a:pt x="12521" y="12942"/>
                  <a:pt x="12684" y="13015"/>
                </a:cubicBezTo>
                <a:cubicBezTo>
                  <a:pt x="12838" y="13085"/>
                  <a:pt x="12980" y="13182"/>
                  <a:pt x="13104" y="13302"/>
                </a:cubicBezTo>
                <a:lnTo>
                  <a:pt x="17781" y="18390"/>
                </a:lnTo>
                <a:lnTo>
                  <a:pt x="17787" y="10214"/>
                </a:lnTo>
                <a:lnTo>
                  <a:pt x="10221" y="10214"/>
                </a:lnTo>
                <a:close/>
              </a:path>
            </a:pathLst>
          </a:custGeom>
          <a:solidFill>
            <a:schemeClr val="accent2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Фигура">
            <a:extLst>
              <a:ext uri="{FF2B5EF4-FFF2-40B4-BE49-F238E27FC236}">
                <a16:creationId xmlns:a16="http://schemas.microsoft.com/office/drawing/2014/main" id="{20A8A460-BD17-6FCB-A135-CE7C92E4EDBD}"/>
              </a:ext>
            </a:extLst>
          </p:cNvPr>
          <p:cNvSpPr/>
          <p:nvPr/>
        </p:nvSpPr>
        <p:spPr>
          <a:xfrm>
            <a:off x="4595871" y="5590688"/>
            <a:ext cx="211613" cy="211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89" extrusionOk="0">
                <a:moveTo>
                  <a:pt x="1908" y="1"/>
                </a:moveTo>
                <a:cubicBezTo>
                  <a:pt x="1711" y="-11"/>
                  <a:pt x="1520" y="73"/>
                  <a:pt x="1396" y="226"/>
                </a:cubicBezTo>
                <a:cubicBezTo>
                  <a:pt x="1300" y="345"/>
                  <a:pt x="1252" y="495"/>
                  <a:pt x="1262" y="648"/>
                </a:cubicBezTo>
                <a:lnTo>
                  <a:pt x="1262" y="17761"/>
                </a:lnTo>
                <a:lnTo>
                  <a:pt x="12704" y="17761"/>
                </a:lnTo>
                <a:lnTo>
                  <a:pt x="12704" y="19687"/>
                </a:lnTo>
                <a:cubicBezTo>
                  <a:pt x="12714" y="20743"/>
                  <a:pt x="13581" y="21589"/>
                  <a:pt x="14634" y="21570"/>
                </a:cubicBezTo>
                <a:cubicBezTo>
                  <a:pt x="15660" y="21552"/>
                  <a:pt x="16484" y="20716"/>
                  <a:pt x="16490" y="19687"/>
                </a:cubicBezTo>
                <a:lnTo>
                  <a:pt x="16490" y="14694"/>
                </a:lnTo>
                <a:lnTo>
                  <a:pt x="15011" y="16131"/>
                </a:lnTo>
                <a:lnTo>
                  <a:pt x="11648" y="17439"/>
                </a:lnTo>
                <a:cubicBezTo>
                  <a:pt x="10897" y="17690"/>
                  <a:pt x="10069" y="17448"/>
                  <a:pt x="9571" y="16830"/>
                </a:cubicBezTo>
                <a:cubicBezTo>
                  <a:pt x="9173" y="16336"/>
                  <a:pt x="9051" y="15673"/>
                  <a:pt x="9251" y="15070"/>
                </a:cubicBezTo>
                <a:lnTo>
                  <a:pt x="10536" y="11699"/>
                </a:lnTo>
                <a:lnTo>
                  <a:pt x="16486" y="5712"/>
                </a:lnTo>
                <a:lnTo>
                  <a:pt x="16486" y="5121"/>
                </a:lnTo>
                <a:lnTo>
                  <a:pt x="12042" y="5121"/>
                </a:lnTo>
                <a:cubicBezTo>
                  <a:pt x="11858" y="5120"/>
                  <a:pt x="11684" y="5036"/>
                  <a:pt x="11570" y="4892"/>
                </a:cubicBezTo>
                <a:cubicBezTo>
                  <a:pt x="11483" y="4781"/>
                  <a:pt x="11438" y="4643"/>
                  <a:pt x="11443" y="4502"/>
                </a:cubicBezTo>
                <a:lnTo>
                  <a:pt x="11443" y="1"/>
                </a:lnTo>
                <a:lnTo>
                  <a:pt x="1908" y="1"/>
                </a:lnTo>
                <a:close/>
                <a:moveTo>
                  <a:pt x="12713" y="388"/>
                </a:moveTo>
                <a:lnTo>
                  <a:pt x="12713" y="3843"/>
                </a:lnTo>
                <a:lnTo>
                  <a:pt x="16136" y="3843"/>
                </a:lnTo>
                <a:lnTo>
                  <a:pt x="12713" y="388"/>
                </a:lnTo>
                <a:close/>
                <a:moveTo>
                  <a:pt x="8245" y="5090"/>
                </a:moveTo>
                <a:cubicBezTo>
                  <a:pt x="8412" y="5090"/>
                  <a:pt x="8580" y="5154"/>
                  <a:pt x="8708" y="5282"/>
                </a:cubicBezTo>
                <a:cubicBezTo>
                  <a:pt x="8963" y="5539"/>
                  <a:pt x="8963" y="5954"/>
                  <a:pt x="8708" y="6210"/>
                </a:cubicBezTo>
                <a:lnTo>
                  <a:pt x="6213" y="8711"/>
                </a:lnTo>
                <a:cubicBezTo>
                  <a:pt x="6082" y="8842"/>
                  <a:pt x="5909" y="8904"/>
                  <a:pt x="5737" y="8901"/>
                </a:cubicBezTo>
                <a:cubicBezTo>
                  <a:pt x="5565" y="8904"/>
                  <a:pt x="5392" y="8842"/>
                  <a:pt x="5261" y="8711"/>
                </a:cubicBezTo>
                <a:lnTo>
                  <a:pt x="4024" y="7471"/>
                </a:lnTo>
                <a:cubicBezTo>
                  <a:pt x="3768" y="7215"/>
                  <a:pt x="3768" y="6799"/>
                  <a:pt x="4024" y="6543"/>
                </a:cubicBezTo>
                <a:cubicBezTo>
                  <a:pt x="4280" y="6287"/>
                  <a:pt x="4694" y="6287"/>
                  <a:pt x="4950" y="6543"/>
                </a:cubicBezTo>
                <a:lnTo>
                  <a:pt x="5737" y="7332"/>
                </a:lnTo>
                <a:lnTo>
                  <a:pt x="7782" y="5282"/>
                </a:lnTo>
                <a:cubicBezTo>
                  <a:pt x="7910" y="5154"/>
                  <a:pt x="8077" y="5090"/>
                  <a:pt x="8245" y="5090"/>
                </a:cubicBezTo>
                <a:close/>
                <a:moveTo>
                  <a:pt x="19290" y="5117"/>
                </a:moveTo>
                <a:cubicBezTo>
                  <a:pt x="19029" y="5137"/>
                  <a:pt x="18781" y="5240"/>
                  <a:pt x="18583" y="5411"/>
                </a:cubicBezTo>
                <a:lnTo>
                  <a:pt x="17437" y="6550"/>
                </a:lnTo>
                <a:lnTo>
                  <a:pt x="20093" y="9230"/>
                </a:lnTo>
                <a:lnTo>
                  <a:pt x="21325" y="8014"/>
                </a:lnTo>
                <a:cubicBezTo>
                  <a:pt x="21505" y="7802"/>
                  <a:pt x="21600" y="7530"/>
                  <a:pt x="21593" y="7252"/>
                </a:cubicBezTo>
                <a:cubicBezTo>
                  <a:pt x="21585" y="6954"/>
                  <a:pt x="21460" y="6671"/>
                  <a:pt x="21246" y="6464"/>
                </a:cubicBezTo>
                <a:lnTo>
                  <a:pt x="20173" y="5399"/>
                </a:lnTo>
                <a:cubicBezTo>
                  <a:pt x="19926" y="5194"/>
                  <a:pt x="19610" y="5093"/>
                  <a:pt x="19290" y="5117"/>
                </a:cubicBezTo>
                <a:close/>
                <a:moveTo>
                  <a:pt x="16539" y="7458"/>
                </a:moveTo>
                <a:lnTo>
                  <a:pt x="12084" y="11910"/>
                </a:lnTo>
                <a:lnTo>
                  <a:pt x="14765" y="14589"/>
                </a:lnTo>
                <a:lnTo>
                  <a:pt x="19196" y="10136"/>
                </a:lnTo>
                <a:lnTo>
                  <a:pt x="16539" y="7458"/>
                </a:lnTo>
                <a:close/>
                <a:moveTo>
                  <a:pt x="8261" y="8905"/>
                </a:moveTo>
                <a:cubicBezTo>
                  <a:pt x="8429" y="8905"/>
                  <a:pt x="8596" y="8970"/>
                  <a:pt x="8724" y="9098"/>
                </a:cubicBezTo>
                <a:cubicBezTo>
                  <a:pt x="8980" y="9354"/>
                  <a:pt x="8980" y="9770"/>
                  <a:pt x="8724" y="10026"/>
                </a:cubicBezTo>
                <a:lnTo>
                  <a:pt x="6229" y="12526"/>
                </a:lnTo>
                <a:cubicBezTo>
                  <a:pt x="6098" y="12658"/>
                  <a:pt x="5925" y="12720"/>
                  <a:pt x="5753" y="12716"/>
                </a:cubicBezTo>
                <a:cubicBezTo>
                  <a:pt x="5582" y="12720"/>
                  <a:pt x="5409" y="12658"/>
                  <a:pt x="5277" y="12526"/>
                </a:cubicBezTo>
                <a:lnTo>
                  <a:pt x="4041" y="11287"/>
                </a:lnTo>
                <a:cubicBezTo>
                  <a:pt x="3785" y="11030"/>
                  <a:pt x="3785" y="10615"/>
                  <a:pt x="4041" y="10359"/>
                </a:cubicBezTo>
                <a:cubicBezTo>
                  <a:pt x="4296" y="10103"/>
                  <a:pt x="4711" y="10103"/>
                  <a:pt x="4966" y="10359"/>
                </a:cubicBezTo>
                <a:lnTo>
                  <a:pt x="5753" y="11147"/>
                </a:lnTo>
                <a:lnTo>
                  <a:pt x="7798" y="9098"/>
                </a:lnTo>
                <a:cubicBezTo>
                  <a:pt x="7926" y="8970"/>
                  <a:pt x="8094" y="8905"/>
                  <a:pt x="8261" y="8905"/>
                </a:cubicBezTo>
                <a:close/>
                <a:moveTo>
                  <a:pt x="8261" y="12722"/>
                </a:moveTo>
                <a:cubicBezTo>
                  <a:pt x="8429" y="12722"/>
                  <a:pt x="8596" y="12786"/>
                  <a:pt x="8724" y="12915"/>
                </a:cubicBezTo>
                <a:cubicBezTo>
                  <a:pt x="8980" y="13171"/>
                  <a:pt x="8980" y="13586"/>
                  <a:pt x="8724" y="13842"/>
                </a:cubicBezTo>
                <a:lnTo>
                  <a:pt x="6229" y="16343"/>
                </a:lnTo>
                <a:cubicBezTo>
                  <a:pt x="6098" y="16474"/>
                  <a:pt x="5925" y="16536"/>
                  <a:pt x="5753" y="16533"/>
                </a:cubicBezTo>
                <a:cubicBezTo>
                  <a:pt x="5582" y="16536"/>
                  <a:pt x="5409" y="16474"/>
                  <a:pt x="5277" y="16343"/>
                </a:cubicBezTo>
                <a:lnTo>
                  <a:pt x="4041" y="15103"/>
                </a:lnTo>
                <a:cubicBezTo>
                  <a:pt x="3785" y="14847"/>
                  <a:pt x="3785" y="14431"/>
                  <a:pt x="4041" y="14175"/>
                </a:cubicBezTo>
                <a:cubicBezTo>
                  <a:pt x="4296" y="13919"/>
                  <a:pt x="4711" y="13919"/>
                  <a:pt x="4966" y="14175"/>
                </a:cubicBezTo>
                <a:lnTo>
                  <a:pt x="5753" y="14964"/>
                </a:lnTo>
                <a:lnTo>
                  <a:pt x="7798" y="12915"/>
                </a:lnTo>
                <a:cubicBezTo>
                  <a:pt x="7926" y="12786"/>
                  <a:pt x="8094" y="12722"/>
                  <a:pt x="8261" y="12722"/>
                </a:cubicBezTo>
                <a:close/>
                <a:moveTo>
                  <a:pt x="11387" y="13025"/>
                </a:moveTo>
                <a:lnTo>
                  <a:pt x="10456" y="15438"/>
                </a:lnTo>
                <a:cubicBezTo>
                  <a:pt x="10384" y="15635"/>
                  <a:pt x="10417" y="15855"/>
                  <a:pt x="10544" y="16022"/>
                </a:cubicBezTo>
                <a:cubicBezTo>
                  <a:pt x="10691" y="16214"/>
                  <a:pt x="10937" y="16303"/>
                  <a:pt x="11173" y="16249"/>
                </a:cubicBezTo>
                <a:lnTo>
                  <a:pt x="13655" y="15306"/>
                </a:lnTo>
                <a:lnTo>
                  <a:pt x="11387" y="13025"/>
                </a:lnTo>
                <a:close/>
                <a:moveTo>
                  <a:pt x="628" y="19050"/>
                </a:moveTo>
                <a:cubicBezTo>
                  <a:pt x="460" y="19044"/>
                  <a:pt x="297" y="19107"/>
                  <a:pt x="178" y="19226"/>
                </a:cubicBezTo>
                <a:cubicBezTo>
                  <a:pt x="67" y="19336"/>
                  <a:pt x="3" y="19485"/>
                  <a:pt x="0" y="19642"/>
                </a:cubicBezTo>
                <a:lnTo>
                  <a:pt x="0" y="20398"/>
                </a:lnTo>
                <a:cubicBezTo>
                  <a:pt x="10" y="20653"/>
                  <a:pt x="97" y="20898"/>
                  <a:pt x="252" y="21100"/>
                </a:cubicBezTo>
                <a:cubicBezTo>
                  <a:pt x="473" y="21390"/>
                  <a:pt x="810" y="21568"/>
                  <a:pt x="1173" y="21589"/>
                </a:cubicBezTo>
                <a:lnTo>
                  <a:pt x="12090" y="21587"/>
                </a:lnTo>
                <a:cubicBezTo>
                  <a:pt x="11857" y="21319"/>
                  <a:pt x="11679" y="21009"/>
                  <a:pt x="11564" y="20673"/>
                </a:cubicBezTo>
                <a:cubicBezTo>
                  <a:pt x="11466" y="20382"/>
                  <a:pt x="11417" y="20077"/>
                  <a:pt x="11420" y="19770"/>
                </a:cubicBezTo>
                <a:lnTo>
                  <a:pt x="11420" y="19050"/>
                </a:lnTo>
                <a:lnTo>
                  <a:pt x="628" y="19050"/>
                </a:lnTo>
                <a:close/>
              </a:path>
            </a:pathLst>
          </a:custGeom>
          <a:solidFill>
            <a:schemeClr val="accent3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Фигура">
            <a:extLst>
              <a:ext uri="{FF2B5EF4-FFF2-40B4-BE49-F238E27FC236}">
                <a16:creationId xmlns:a16="http://schemas.microsoft.com/office/drawing/2014/main" id="{8BED1CAF-8606-2A66-BCDF-85823373FFDD}"/>
              </a:ext>
            </a:extLst>
          </p:cNvPr>
          <p:cNvSpPr/>
          <p:nvPr/>
        </p:nvSpPr>
        <p:spPr>
          <a:xfrm>
            <a:off x="6328691" y="2364924"/>
            <a:ext cx="212486" cy="212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17" extrusionOk="0">
                <a:moveTo>
                  <a:pt x="10824" y="0"/>
                </a:moveTo>
                <a:cubicBezTo>
                  <a:pt x="10481" y="0"/>
                  <a:pt x="10203" y="277"/>
                  <a:pt x="10203" y="619"/>
                </a:cubicBezTo>
                <a:lnTo>
                  <a:pt x="10203" y="1214"/>
                </a:lnTo>
                <a:lnTo>
                  <a:pt x="621" y="1214"/>
                </a:lnTo>
                <a:cubicBezTo>
                  <a:pt x="278" y="1214"/>
                  <a:pt x="0" y="1490"/>
                  <a:pt x="0" y="1832"/>
                </a:cubicBezTo>
                <a:cubicBezTo>
                  <a:pt x="0" y="2173"/>
                  <a:pt x="278" y="2451"/>
                  <a:pt x="621" y="2451"/>
                </a:cubicBezTo>
                <a:lnTo>
                  <a:pt x="1256" y="2451"/>
                </a:lnTo>
                <a:lnTo>
                  <a:pt x="1256" y="13927"/>
                </a:lnTo>
                <a:lnTo>
                  <a:pt x="621" y="13927"/>
                </a:lnTo>
                <a:cubicBezTo>
                  <a:pt x="278" y="13927"/>
                  <a:pt x="0" y="14204"/>
                  <a:pt x="0" y="14546"/>
                </a:cubicBezTo>
                <a:cubicBezTo>
                  <a:pt x="0" y="14887"/>
                  <a:pt x="278" y="15165"/>
                  <a:pt x="621" y="15165"/>
                </a:cubicBezTo>
                <a:lnTo>
                  <a:pt x="8686" y="15165"/>
                </a:lnTo>
                <a:lnTo>
                  <a:pt x="6425" y="20665"/>
                </a:lnTo>
                <a:cubicBezTo>
                  <a:pt x="6295" y="20981"/>
                  <a:pt x="6447" y="21341"/>
                  <a:pt x="6764" y="21470"/>
                </a:cubicBezTo>
                <a:cubicBezTo>
                  <a:pt x="7081" y="21600"/>
                  <a:pt x="7443" y="21449"/>
                  <a:pt x="7573" y="21133"/>
                </a:cubicBezTo>
                <a:lnTo>
                  <a:pt x="8994" y="17675"/>
                </a:lnTo>
                <a:lnTo>
                  <a:pt x="10215" y="17675"/>
                </a:lnTo>
                <a:lnTo>
                  <a:pt x="10215" y="19676"/>
                </a:lnTo>
                <a:cubicBezTo>
                  <a:pt x="10215" y="20018"/>
                  <a:pt x="10492" y="20294"/>
                  <a:pt x="10835" y="20294"/>
                </a:cubicBezTo>
                <a:cubicBezTo>
                  <a:pt x="11177" y="20294"/>
                  <a:pt x="11456" y="20018"/>
                  <a:pt x="11456" y="19676"/>
                </a:cubicBezTo>
                <a:lnTo>
                  <a:pt x="11456" y="17675"/>
                </a:lnTo>
                <a:lnTo>
                  <a:pt x="12650" y="17675"/>
                </a:lnTo>
                <a:lnTo>
                  <a:pt x="14037" y="21129"/>
                </a:lnTo>
                <a:cubicBezTo>
                  <a:pt x="14164" y="21446"/>
                  <a:pt x="14525" y="21600"/>
                  <a:pt x="14843" y="21473"/>
                </a:cubicBezTo>
                <a:cubicBezTo>
                  <a:pt x="15161" y="21346"/>
                  <a:pt x="15315" y="20986"/>
                  <a:pt x="15188" y="20669"/>
                </a:cubicBezTo>
                <a:lnTo>
                  <a:pt x="12979" y="15165"/>
                </a:lnTo>
                <a:lnTo>
                  <a:pt x="20979" y="15165"/>
                </a:lnTo>
                <a:cubicBezTo>
                  <a:pt x="21322" y="15165"/>
                  <a:pt x="21600" y="14887"/>
                  <a:pt x="21600" y="14546"/>
                </a:cubicBezTo>
                <a:cubicBezTo>
                  <a:pt x="21600" y="14204"/>
                  <a:pt x="21322" y="13927"/>
                  <a:pt x="20979" y="13927"/>
                </a:cubicBezTo>
                <a:lnTo>
                  <a:pt x="20344" y="13927"/>
                </a:lnTo>
                <a:lnTo>
                  <a:pt x="20344" y="2451"/>
                </a:lnTo>
                <a:lnTo>
                  <a:pt x="20979" y="2451"/>
                </a:lnTo>
                <a:cubicBezTo>
                  <a:pt x="21322" y="2451"/>
                  <a:pt x="21600" y="2173"/>
                  <a:pt x="21600" y="1832"/>
                </a:cubicBezTo>
                <a:cubicBezTo>
                  <a:pt x="21600" y="1490"/>
                  <a:pt x="21322" y="1214"/>
                  <a:pt x="20979" y="1214"/>
                </a:cubicBezTo>
                <a:lnTo>
                  <a:pt x="11443" y="1214"/>
                </a:lnTo>
                <a:lnTo>
                  <a:pt x="11443" y="619"/>
                </a:lnTo>
                <a:cubicBezTo>
                  <a:pt x="11443" y="277"/>
                  <a:pt x="11166" y="0"/>
                  <a:pt x="10824" y="0"/>
                </a:cubicBezTo>
                <a:close/>
                <a:moveTo>
                  <a:pt x="14966" y="3830"/>
                </a:moveTo>
                <a:lnTo>
                  <a:pt x="14971" y="3830"/>
                </a:lnTo>
                <a:lnTo>
                  <a:pt x="16799" y="3830"/>
                </a:lnTo>
                <a:cubicBezTo>
                  <a:pt x="17083" y="3830"/>
                  <a:pt x="17227" y="3830"/>
                  <a:pt x="17380" y="3878"/>
                </a:cubicBezTo>
                <a:cubicBezTo>
                  <a:pt x="17548" y="3939"/>
                  <a:pt x="17680" y="4069"/>
                  <a:pt x="17741" y="4236"/>
                </a:cubicBezTo>
                <a:cubicBezTo>
                  <a:pt x="17789" y="4389"/>
                  <a:pt x="17789" y="4533"/>
                  <a:pt x="17789" y="4820"/>
                </a:cubicBezTo>
                <a:lnTo>
                  <a:pt x="17789" y="11689"/>
                </a:lnTo>
                <a:cubicBezTo>
                  <a:pt x="17789" y="11972"/>
                  <a:pt x="17789" y="12116"/>
                  <a:pt x="17741" y="12269"/>
                </a:cubicBezTo>
                <a:cubicBezTo>
                  <a:pt x="17680" y="12436"/>
                  <a:pt x="17548" y="12567"/>
                  <a:pt x="17380" y="12628"/>
                </a:cubicBezTo>
                <a:cubicBezTo>
                  <a:pt x="17227" y="12676"/>
                  <a:pt x="17083" y="12676"/>
                  <a:pt x="16795" y="12676"/>
                </a:cubicBezTo>
                <a:lnTo>
                  <a:pt x="14966" y="12676"/>
                </a:lnTo>
                <a:cubicBezTo>
                  <a:pt x="14683" y="12676"/>
                  <a:pt x="14538" y="12676"/>
                  <a:pt x="14385" y="12628"/>
                </a:cubicBezTo>
                <a:cubicBezTo>
                  <a:pt x="14218" y="12567"/>
                  <a:pt x="14086" y="12436"/>
                  <a:pt x="14025" y="12269"/>
                </a:cubicBezTo>
                <a:cubicBezTo>
                  <a:pt x="13976" y="12116"/>
                  <a:pt x="13976" y="11972"/>
                  <a:pt x="13976" y="11685"/>
                </a:cubicBezTo>
                <a:lnTo>
                  <a:pt x="13976" y="4816"/>
                </a:lnTo>
                <a:cubicBezTo>
                  <a:pt x="13976" y="4533"/>
                  <a:pt x="13976" y="4389"/>
                  <a:pt x="14025" y="4236"/>
                </a:cubicBezTo>
                <a:cubicBezTo>
                  <a:pt x="14086" y="4069"/>
                  <a:pt x="14218" y="3939"/>
                  <a:pt x="14385" y="3878"/>
                </a:cubicBezTo>
                <a:cubicBezTo>
                  <a:pt x="14537" y="3830"/>
                  <a:pt x="14682" y="3830"/>
                  <a:pt x="14966" y="3830"/>
                </a:cubicBezTo>
                <a:close/>
                <a:moveTo>
                  <a:pt x="15246" y="5107"/>
                </a:moveTo>
                <a:lnTo>
                  <a:pt x="15246" y="11399"/>
                </a:lnTo>
                <a:lnTo>
                  <a:pt x="16518" y="11399"/>
                </a:lnTo>
                <a:lnTo>
                  <a:pt x="16518" y="5107"/>
                </a:lnTo>
                <a:lnTo>
                  <a:pt x="15246" y="5107"/>
                </a:lnTo>
                <a:close/>
                <a:moveTo>
                  <a:pt x="9885" y="6356"/>
                </a:moveTo>
                <a:lnTo>
                  <a:pt x="9890" y="6356"/>
                </a:lnTo>
                <a:lnTo>
                  <a:pt x="11718" y="6356"/>
                </a:lnTo>
                <a:cubicBezTo>
                  <a:pt x="12002" y="6356"/>
                  <a:pt x="12146" y="6356"/>
                  <a:pt x="12299" y="6405"/>
                </a:cubicBezTo>
                <a:cubicBezTo>
                  <a:pt x="12467" y="6466"/>
                  <a:pt x="12599" y="6597"/>
                  <a:pt x="12660" y="6764"/>
                </a:cubicBezTo>
                <a:cubicBezTo>
                  <a:pt x="12708" y="6917"/>
                  <a:pt x="12708" y="7061"/>
                  <a:pt x="12708" y="7348"/>
                </a:cubicBezTo>
                <a:lnTo>
                  <a:pt x="12708" y="11689"/>
                </a:lnTo>
                <a:cubicBezTo>
                  <a:pt x="12708" y="11972"/>
                  <a:pt x="12708" y="12116"/>
                  <a:pt x="12660" y="12269"/>
                </a:cubicBezTo>
                <a:cubicBezTo>
                  <a:pt x="12599" y="12436"/>
                  <a:pt x="12467" y="12567"/>
                  <a:pt x="12299" y="12628"/>
                </a:cubicBezTo>
                <a:cubicBezTo>
                  <a:pt x="12146" y="12676"/>
                  <a:pt x="12002" y="12676"/>
                  <a:pt x="11714" y="12676"/>
                </a:cubicBezTo>
                <a:lnTo>
                  <a:pt x="9885" y="12676"/>
                </a:lnTo>
                <a:cubicBezTo>
                  <a:pt x="9601" y="12676"/>
                  <a:pt x="9457" y="12676"/>
                  <a:pt x="9304" y="12628"/>
                </a:cubicBezTo>
                <a:cubicBezTo>
                  <a:pt x="9137" y="12567"/>
                  <a:pt x="9005" y="12436"/>
                  <a:pt x="8944" y="12269"/>
                </a:cubicBezTo>
                <a:cubicBezTo>
                  <a:pt x="8895" y="12116"/>
                  <a:pt x="8895" y="11972"/>
                  <a:pt x="8895" y="11685"/>
                </a:cubicBezTo>
                <a:lnTo>
                  <a:pt x="8895" y="7344"/>
                </a:lnTo>
                <a:cubicBezTo>
                  <a:pt x="8895" y="7061"/>
                  <a:pt x="8895" y="6917"/>
                  <a:pt x="8944" y="6764"/>
                </a:cubicBezTo>
                <a:cubicBezTo>
                  <a:pt x="9005" y="6597"/>
                  <a:pt x="9137" y="6466"/>
                  <a:pt x="9304" y="6405"/>
                </a:cubicBezTo>
                <a:cubicBezTo>
                  <a:pt x="9456" y="6357"/>
                  <a:pt x="9601" y="6356"/>
                  <a:pt x="9885" y="6356"/>
                </a:cubicBezTo>
                <a:close/>
                <a:moveTo>
                  <a:pt x="10165" y="7619"/>
                </a:moveTo>
                <a:lnTo>
                  <a:pt x="10165" y="11399"/>
                </a:lnTo>
                <a:lnTo>
                  <a:pt x="11437" y="11399"/>
                </a:lnTo>
                <a:lnTo>
                  <a:pt x="11437" y="7619"/>
                </a:lnTo>
                <a:lnTo>
                  <a:pt x="10165" y="7619"/>
                </a:lnTo>
                <a:close/>
                <a:moveTo>
                  <a:pt x="4822" y="8872"/>
                </a:moveTo>
                <a:lnTo>
                  <a:pt x="4826" y="8872"/>
                </a:lnTo>
                <a:lnTo>
                  <a:pt x="6655" y="8872"/>
                </a:lnTo>
                <a:cubicBezTo>
                  <a:pt x="6938" y="8872"/>
                  <a:pt x="7083" y="8872"/>
                  <a:pt x="7236" y="8920"/>
                </a:cubicBezTo>
                <a:cubicBezTo>
                  <a:pt x="7403" y="8981"/>
                  <a:pt x="7534" y="9113"/>
                  <a:pt x="7595" y="9280"/>
                </a:cubicBezTo>
                <a:cubicBezTo>
                  <a:pt x="7644" y="9433"/>
                  <a:pt x="7645" y="9576"/>
                  <a:pt x="7645" y="9864"/>
                </a:cubicBezTo>
                <a:lnTo>
                  <a:pt x="7645" y="11689"/>
                </a:lnTo>
                <a:cubicBezTo>
                  <a:pt x="7645" y="11972"/>
                  <a:pt x="7644" y="12116"/>
                  <a:pt x="7595" y="12269"/>
                </a:cubicBezTo>
                <a:cubicBezTo>
                  <a:pt x="7534" y="12436"/>
                  <a:pt x="7403" y="12567"/>
                  <a:pt x="7236" y="12628"/>
                </a:cubicBezTo>
                <a:cubicBezTo>
                  <a:pt x="7083" y="12676"/>
                  <a:pt x="6938" y="12676"/>
                  <a:pt x="6650" y="12676"/>
                </a:cubicBezTo>
                <a:lnTo>
                  <a:pt x="4822" y="12676"/>
                </a:lnTo>
                <a:cubicBezTo>
                  <a:pt x="4538" y="12676"/>
                  <a:pt x="4394" y="12676"/>
                  <a:pt x="4241" y="12628"/>
                </a:cubicBezTo>
                <a:cubicBezTo>
                  <a:pt x="4073" y="12567"/>
                  <a:pt x="3941" y="12436"/>
                  <a:pt x="3880" y="12269"/>
                </a:cubicBezTo>
                <a:cubicBezTo>
                  <a:pt x="3832" y="12116"/>
                  <a:pt x="3832" y="11972"/>
                  <a:pt x="3832" y="11685"/>
                </a:cubicBezTo>
                <a:lnTo>
                  <a:pt x="3832" y="9859"/>
                </a:lnTo>
                <a:cubicBezTo>
                  <a:pt x="3832" y="9576"/>
                  <a:pt x="3832" y="9433"/>
                  <a:pt x="3880" y="9280"/>
                </a:cubicBezTo>
                <a:cubicBezTo>
                  <a:pt x="3941" y="9113"/>
                  <a:pt x="4073" y="8981"/>
                  <a:pt x="4241" y="8920"/>
                </a:cubicBezTo>
                <a:cubicBezTo>
                  <a:pt x="4393" y="8872"/>
                  <a:pt x="4537" y="8872"/>
                  <a:pt x="4822" y="8872"/>
                </a:cubicBezTo>
                <a:close/>
                <a:moveTo>
                  <a:pt x="5084" y="10161"/>
                </a:moveTo>
                <a:lnTo>
                  <a:pt x="5084" y="11399"/>
                </a:lnTo>
                <a:lnTo>
                  <a:pt x="6356" y="11399"/>
                </a:lnTo>
                <a:lnTo>
                  <a:pt x="6356" y="10161"/>
                </a:lnTo>
                <a:lnTo>
                  <a:pt x="5084" y="10161"/>
                </a:lnTo>
                <a:close/>
                <a:moveTo>
                  <a:pt x="10025" y="15165"/>
                </a:moveTo>
                <a:lnTo>
                  <a:pt x="10215" y="15165"/>
                </a:lnTo>
                <a:lnTo>
                  <a:pt x="10215" y="16438"/>
                </a:lnTo>
                <a:lnTo>
                  <a:pt x="9503" y="16438"/>
                </a:lnTo>
                <a:lnTo>
                  <a:pt x="10025" y="15165"/>
                </a:lnTo>
                <a:close/>
                <a:moveTo>
                  <a:pt x="11456" y="15165"/>
                </a:moveTo>
                <a:lnTo>
                  <a:pt x="11642" y="15165"/>
                </a:lnTo>
                <a:lnTo>
                  <a:pt x="12154" y="16438"/>
                </a:lnTo>
                <a:lnTo>
                  <a:pt x="11456" y="16438"/>
                </a:lnTo>
                <a:lnTo>
                  <a:pt x="11456" y="15165"/>
                </a:lnTo>
                <a:close/>
              </a:path>
            </a:pathLst>
          </a:custGeom>
          <a:solidFill>
            <a:schemeClr val="accent4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Фигура">
            <a:extLst>
              <a:ext uri="{FF2B5EF4-FFF2-40B4-BE49-F238E27FC236}">
                <a16:creationId xmlns:a16="http://schemas.microsoft.com/office/drawing/2014/main" id="{9B13F63A-A19F-3C50-7282-A72F12DB1E0B}"/>
              </a:ext>
            </a:extLst>
          </p:cNvPr>
          <p:cNvSpPr/>
          <p:nvPr/>
        </p:nvSpPr>
        <p:spPr>
          <a:xfrm>
            <a:off x="8081871" y="5593088"/>
            <a:ext cx="206970" cy="206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583" extrusionOk="0">
                <a:moveTo>
                  <a:pt x="10789" y="0"/>
                </a:moveTo>
                <a:cubicBezTo>
                  <a:pt x="10150" y="0"/>
                  <a:pt x="9511" y="244"/>
                  <a:pt x="9023" y="734"/>
                </a:cubicBezTo>
                <a:cubicBezTo>
                  <a:pt x="8047" y="1712"/>
                  <a:pt x="8047" y="3301"/>
                  <a:pt x="9023" y="4279"/>
                </a:cubicBezTo>
                <a:cubicBezTo>
                  <a:pt x="9999" y="5258"/>
                  <a:pt x="11581" y="5258"/>
                  <a:pt x="12557" y="4279"/>
                </a:cubicBezTo>
                <a:cubicBezTo>
                  <a:pt x="13533" y="3301"/>
                  <a:pt x="13533" y="1712"/>
                  <a:pt x="12557" y="734"/>
                </a:cubicBezTo>
                <a:cubicBezTo>
                  <a:pt x="12069" y="244"/>
                  <a:pt x="11429" y="0"/>
                  <a:pt x="10789" y="0"/>
                </a:cubicBezTo>
                <a:close/>
                <a:moveTo>
                  <a:pt x="7803" y="4886"/>
                </a:moveTo>
                <a:cubicBezTo>
                  <a:pt x="7363" y="5315"/>
                  <a:pt x="7009" y="5823"/>
                  <a:pt x="6758" y="6385"/>
                </a:cubicBezTo>
                <a:cubicBezTo>
                  <a:pt x="6491" y="6983"/>
                  <a:pt x="6347" y="7630"/>
                  <a:pt x="6335" y="8285"/>
                </a:cubicBezTo>
                <a:lnTo>
                  <a:pt x="6335" y="9595"/>
                </a:lnTo>
                <a:cubicBezTo>
                  <a:pt x="6335" y="9719"/>
                  <a:pt x="6374" y="9838"/>
                  <a:pt x="6446" y="9938"/>
                </a:cubicBezTo>
                <a:cubicBezTo>
                  <a:pt x="6556" y="10090"/>
                  <a:pt x="6730" y="10182"/>
                  <a:pt x="6918" y="10185"/>
                </a:cubicBezTo>
                <a:lnTo>
                  <a:pt x="14591" y="10185"/>
                </a:lnTo>
                <a:cubicBezTo>
                  <a:pt x="14794" y="10204"/>
                  <a:pt x="14992" y="10119"/>
                  <a:pt x="15117" y="9958"/>
                </a:cubicBezTo>
                <a:cubicBezTo>
                  <a:pt x="15203" y="9847"/>
                  <a:pt x="15246" y="9709"/>
                  <a:pt x="15239" y="9569"/>
                </a:cubicBezTo>
                <a:lnTo>
                  <a:pt x="15239" y="8392"/>
                </a:lnTo>
                <a:cubicBezTo>
                  <a:pt x="15239" y="7679"/>
                  <a:pt x="15081" y="6975"/>
                  <a:pt x="14778" y="6330"/>
                </a:cubicBezTo>
                <a:cubicBezTo>
                  <a:pt x="14524" y="5788"/>
                  <a:pt x="14171" y="5299"/>
                  <a:pt x="13739" y="4886"/>
                </a:cubicBezTo>
                <a:cubicBezTo>
                  <a:pt x="13007" y="5851"/>
                  <a:pt x="11856" y="6400"/>
                  <a:pt x="10648" y="6361"/>
                </a:cubicBezTo>
                <a:cubicBezTo>
                  <a:pt x="9527" y="6325"/>
                  <a:pt x="8481" y="5783"/>
                  <a:pt x="7803" y="4886"/>
                </a:cubicBezTo>
                <a:close/>
                <a:moveTo>
                  <a:pt x="4455" y="11396"/>
                </a:moveTo>
                <a:cubicBezTo>
                  <a:pt x="3815" y="11396"/>
                  <a:pt x="3176" y="11640"/>
                  <a:pt x="2688" y="12129"/>
                </a:cubicBezTo>
                <a:cubicBezTo>
                  <a:pt x="1713" y="13108"/>
                  <a:pt x="1713" y="14696"/>
                  <a:pt x="2688" y="15675"/>
                </a:cubicBezTo>
                <a:cubicBezTo>
                  <a:pt x="3664" y="16654"/>
                  <a:pt x="5246" y="16654"/>
                  <a:pt x="6222" y="15675"/>
                </a:cubicBezTo>
                <a:cubicBezTo>
                  <a:pt x="7198" y="14696"/>
                  <a:pt x="7198" y="13108"/>
                  <a:pt x="6222" y="12129"/>
                </a:cubicBezTo>
                <a:cubicBezTo>
                  <a:pt x="5734" y="11640"/>
                  <a:pt x="5094" y="11396"/>
                  <a:pt x="4455" y="11396"/>
                </a:cubicBezTo>
                <a:close/>
                <a:moveTo>
                  <a:pt x="17143" y="11396"/>
                </a:moveTo>
                <a:cubicBezTo>
                  <a:pt x="16504" y="11396"/>
                  <a:pt x="15865" y="11640"/>
                  <a:pt x="15377" y="12129"/>
                </a:cubicBezTo>
                <a:cubicBezTo>
                  <a:pt x="14401" y="13108"/>
                  <a:pt x="14401" y="14696"/>
                  <a:pt x="15377" y="15675"/>
                </a:cubicBezTo>
                <a:cubicBezTo>
                  <a:pt x="16353" y="16654"/>
                  <a:pt x="17935" y="16654"/>
                  <a:pt x="18911" y="15675"/>
                </a:cubicBezTo>
                <a:cubicBezTo>
                  <a:pt x="19886" y="14696"/>
                  <a:pt x="19886" y="13108"/>
                  <a:pt x="18911" y="12129"/>
                </a:cubicBezTo>
                <a:cubicBezTo>
                  <a:pt x="18423" y="11640"/>
                  <a:pt x="17783" y="11396"/>
                  <a:pt x="17143" y="11396"/>
                </a:cubicBezTo>
                <a:close/>
                <a:moveTo>
                  <a:pt x="11396" y="11455"/>
                </a:moveTo>
                <a:lnTo>
                  <a:pt x="10155" y="11466"/>
                </a:lnTo>
                <a:lnTo>
                  <a:pt x="10160" y="13083"/>
                </a:lnTo>
                <a:lnTo>
                  <a:pt x="8028" y="15209"/>
                </a:lnTo>
                <a:lnTo>
                  <a:pt x="8835" y="16104"/>
                </a:lnTo>
                <a:lnTo>
                  <a:pt x="10807" y="14204"/>
                </a:lnTo>
                <a:lnTo>
                  <a:pt x="12709" y="16105"/>
                </a:lnTo>
                <a:lnTo>
                  <a:pt x="13581" y="15208"/>
                </a:lnTo>
                <a:lnTo>
                  <a:pt x="11396" y="13048"/>
                </a:lnTo>
                <a:lnTo>
                  <a:pt x="11396" y="11455"/>
                </a:lnTo>
                <a:close/>
                <a:moveTo>
                  <a:pt x="1469" y="16281"/>
                </a:moveTo>
                <a:cubicBezTo>
                  <a:pt x="1028" y="16710"/>
                  <a:pt x="674" y="17219"/>
                  <a:pt x="423" y="17781"/>
                </a:cubicBezTo>
                <a:cubicBezTo>
                  <a:pt x="156" y="18379"/>
                  <a:pt x="12" y="19025"/>
                  <a:pt x="0" y="19681"/>
                </a:cubicBezTo>
                <a:lnTo>
                  <a:pt x="0" y="20991"/>
                </a:lnTo>
                <a:cubicBezTo>
                  <a:pt x="0" y="21114"/>
                  <a:pt x="39" y="21234"/>
                  <a:pt x="111" y="21333"/>
                </a:cubicBezTo>
                <a:cubicBezTo>
                  <a:pt x="221" y="21486"/>
                  <a:pt x="396" y="21578"/>
                  <a:pt x="583" y="21581"/>
                </a:cubicBezTo>
                <a:lnTo>
                  <a:pt x="8256" y="21581"/>
                </a:lnTo>
                <a:cubicBezTo>
                  <a:pt x="8459" y="21600"/>
                  <a:pt x="8657" y="21514"/>
                  <a:pt x="8783" y="21354"/>
                </a:cubicBezTo>
                <a:cubicBezTo>
                  <a:pt x="8869" y="21243"/>
                  <a:pt x="8912" y="21105"/>
                  <a:pt x="8905" y="20965"/>
                </a:cubicBezTo>
                <a:lnTo>
                  <a:pt x="8905" y="19788"/>
                </a:lnTo>
                <a:cubicBezTo>
                  <a:pt x="8904" y="19075"/>
                  <a:pt x="8746" y="18371"/>
                  <a:pt x="8444" y="17726"/>
                </a:cubicBezTo>
                <a:cubicBezTo>
                  <a:pt x="8189" y="17184"/>
                  <a:pt x="7837" y="16694"/>
                  <a:pt x="7404" y="16281"/>
                </a:cubicBezTo>
                <a:cubicBezTo>
                  <a:pt x="6673" y="17246"/>
                  <a:pt x="5522" y="17796"/>
                  <a:pt x="4314" y="17757"/>
                </a:cubicBezTo>
                <a:cubicBezTo>
                  <a:pt x="3192" y="17721"/>
                  <a:pt x="2146" y="17179"/>
                  <a:pt x="1469" y="16281"/>
                </a:cubicBezTo>
                <a:close/>
                <a:moveTo>
                  <a:pt x="14157" y="16281"/>
                </a:moveTo>
                <a:cubicBezTo>
                  <a:pt x="13717" y="16710"/>
                  <a:pt x="13363" y="17219"/>
                  <a:pt x="13112" y="17781"/>
                </a:cubicBezTo>
                <a:cubicBezTo>
                  <a:pt x="12845" y="18379"/>
                  <a:pt x="12700" y="19025"/>
                  <a:pt x="12688" y="19681"/>
                </a:cubicBezTo>
                <a:lnTo>
                  <a:pt x="12688" y="20991"/>
                </a:lnTo>
                <a:cubicBezTo>
                  <a:pt x="12689" y="21114"/>
                  <a:pt x="12728" y="21234"/>
                  <a:pt x="12800" y="21333"/>
                </a:cubicBezTo>
                <a:cubicBezTo>
                  <a:pt x="12910" y="21486"/>
                  <a:pt x="13084" y="21578"/>
                  <a:pt x="13272" y="21581"/>
                </a:cubicBezTo>
                <a:lnTo>
                  <a:pt x="20945" y="21581"/>
                </a:lnTo>
                <a:cubicBezTo>
                  <a:pt x="21147" y="21600"/>
                  <a:pt x="21346" y="21514"/>
                  <a:pt x="21471" y="21354"/>
                </a:cubicBezTo>
                <a:cubicBezTo>
                  <a:pt x="21557" y="21243"/>
                  <a:pt x="21600" y="21105"/>
                  <a:pt x="21593" y="20965"/>
                </a:cubicBezTo>
                <a:lnTo>
                  <a:pt x="21593" y="19788"/>
                </a:lnTo>
                <a:cubicBezTo>
                  <a:pt x="21592" y="19075"/>
                  <a:pt x="21435" y="18371"/>
                  <a:pt x="21132" y="17726"/>
                </a:cubicBezTo>
                <a:cubicBezTo>
                  <a:pt x="20878" y="17184"/>
                  <a:pt x="20525" y="16694"/>
                  <a:pt x="20092" y="16281"/>
                </a:cubicBezTo>
                <a:cubicBezTo>
                  <a:pt x="19361" y="17246"/>
                  <a:pt x="18210" y="17796"/>
                  <a:pt x="17002" y="17757"/>
                </a:cubicBezTo>
                <a:cubicBezTo>
                  <a:pt x="15880" y="17721"/>
                  <a:pt x="14834" y="17179"/>
                  <a:pt x="14157" y="16281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69EAD68-6996-0795-C1E4-81D8DB06C5EE}"/>
              </a:ext>
            </a:extLst>
          </p:cNvPr>
          <p:cNvSpPr/>
          <p:nvPr/>
        </p:nvSpPr>
        <p:spPr>
          <a:xfrm>
            <a:off x="1049634" y="3952796"/>
            <a:ext cx="267896" cy="267896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endParaRPr kumimoji="1"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014C526-534C-0291-38CA-7641B158FD46}"/>
              </a:ext>
            </a:extLst>
          </p:cNvPr>
          <p:cNvSpPr/>
          <p:nvPr/>
        </p:nvSpPr>
        <p:spPr>
          <a:xfrm>
            <a:off x="4546718" y="3952796"/>
            <a:ext cx="267896" cy="267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endParaRPr kumimoji="1"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B2C478D-7D08-0BCF-F6F6-DC2BF8222E46}"/>
              </a:ext>
            </a:extLst>
          </p:cNvPr>
          <p:cNvSpPr/>
          <p:nvPr/>
        </p:nvSpPr>
        <p:spPr>
          <a:xfrm>
            <a:off x="8043801" y="3952796"/>
            <a:ext cx="267896" cy="267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endParaRPr kumimoji="1"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424F336-4375-30B0-27C7-4C26E8CDB701}"/>
              </a:ext>
            </a:extLst>
          </p:cNvPr>
          <p:cNvSpPr/>
          <p:nvPr/>
        </p:nvSpPr>
        <p:spPr>
          <a:xfrm>
            <a:off x="2798176" y="3952796"/>
            <a:ext cx="267896" cy="267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0A0A7B36-9486-7C40-71E0-225857681AF6}"/>
              </a:ext>
            </a:extLst>
          </p:cNvPr>
          <p:cNvSpPr/>
          <p:nvPr/>
        </p:nvSpPr>
        <p:spPr>
          <a:xfrm>
            <a:off x="6295260" y="3952796"/>
            <a:ext cx="267896" cy="26789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37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右 8">
            <a:extLst>
              <a:ext uri="{FF2B5EF4-FFF2-40B4-BE49-F238E27FC236}">
                <a16:creationId xmlns:a16="http://schemas.microsoft.com/office/drawing/2014/main" id="{4BCDC153-C7DE-5407-0B5A-1EDE6034BD4D}"/>
              </a:ext>
            </a:extLst>
          </p:cNvPr>
          <p:cNvSpPr/>
          <p:nvPr/>
        </p:nvSpPr>
        <p:spPr>
          <a:xfrm>
            <a:off x="983954" y="1278012"/>
            <a:ext cx="10224093" cy="117970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5F9FD0-8D12-60EF-CCAC-D78DD482BEF5}"/>
              </a:ext>
            </a:extLst>
          </p:cNvPr>
          <p:cNvSpPr/>
          <p:nvPr/>
        </p:nvSpPr>
        <p:spPr>
          <a:xfrm>
            <a:off x="1856047" y="1806714"/>
            <a:ext cx="795713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O1</a:t>
            </a:r>
            <a:endParaRPr lang="zh-CN" altLang="en-US" sz="1843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BEEC3D5-3260-E30B-18FD-B42CF20B50E4}"/>
              </a:ext>
            </a:extLst>
          </p:cNvPr>
          <p:cNvSpPr/>
          <p:nvPr/>
        </p:nvSpPr>
        <p:spPr>
          <a:xfrm>
            <a:off x="5337918" y="1793017"/>
            <a:ext cx="719759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9" b="1" dirty="0">
                <a:solidFill>
                  <a:schemeClr val="accent2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O2</a:t>
            </a:r>
            <a:endParaRPr lang="zh-CN" altLang="en-US" sz="1659" b="1" dirty="0">
              <a:solidFill>
                <a:schemeClr val="accent2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FAFF8D1-ADB1-DA49-A6BC-CB510D5A81E9}"/>
              </a:ext>
            </a:extLst>
          </p:cNvPr>
          <p:cNvSpPr/>
          <p:nvPr/>
        </p:nvSpPr>
        <p:spPr>
          <a:xfrm>
            <a:off x="8792774" y="1816539"/>
            <a:ext cx="719759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9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O3</a:t>
            </a:r>
            <a:endParaRPr lang="zh-CN" altLang="en-US" sz="1659" b="1" dirty="0">
              <a:solidFill>
                <a:schemeClr val="accent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77C227-360B-23ED-46E0-8055B9F6F1D8}"/>
              </a:ext>
            </a:extLst>
          </p:cNvPr>
          <p:cNvSpPr/>
          <p:nvPr/>
        </p:nvSpPr>
        <p:spPr>
          <a:xfrm>
            <a:off x="974985" y="5447204"/>
            <a:ext cx="2750095" cy="4587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90" dirty="0">
                <a:ea typeface="Alibaba PuHuiTi" pitchFamily="18" charset="-122"/>
              </a:rPr>
              <a:t>帮商家决策</a:t>
            </a:r>
            <a:endParaRPr lang="zh-CN" altLang="en-US" sz="1290" dirty="0">
              <a:ea typeface="Alibaba PuHuiTi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24C312-3742-1BB4-DE2A-A1F9EEAC38E1}"/>
              </a:ext>
            </a:extLst>
          </p:cNvPr>
          <p:cNvSpPr/>
          <p:nvPr/>
        </p:nvSpPr>
        <p:spPr>
          <a:xfrm>
            <a:off x="4333490" y="5440797"/>
            <a:ext cx="2890269" cy="442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9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通过托管替商家做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3D1F72-4239-B898-35C7-64C1BDCF86C0}"/>
              </a:ext>
            </a:extLst>
          </p:cNvPr>
          <p:cNvSpPr/>
          <p:nvPr/>
        </p:nvSpPr>
        <p:spPr>
          <a:xfrm>
            <a:off x="7823200" y="5440797"/>
            <a:ext cx="2804160" cy="4577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90" dirty="0">
                <a:ea typeface="Alibaba PuHuiTi" pitchFamily="18" charset="-122"/>
              </a:rPr>
              <a:t>给</a:t>
            </a:r>
            <a:r>
              <a:rPr lang="zh-CN" altLang="en-US" sz="1290" dirty="0">
                <a:ea typeface="Alibaba PuHuiTi" pitchFamily="18" charset="-122"/>
              </a:rPr>
              <a:t>商家</a:t>
            </a:r>
            <a:r>
              <a:rPr lang="zh-CN" altLang="zh-CN" sz="1290" dirty="0">
                <a:ea typeface="Alibaba PuHuiTi" pitchFamily="18" charset="-122"/>
              </a:rPr>
              <a:t>反馈</a:t>
            </a:r>
            <a:r>
              <a:rPr lang="zh-CN" altLang="en-US" sz="1290" dirty="0">
                <a:ea typeface="Alibaba PuHuiTi" pitchFamily="18" charset="-122"/>
              </a:rPr>
              <a:t>复盘</a:t>
            </a:r>
          </a:p>
        </p:txBody>
      </p:sp>
      <p:sp>
        <p:nvSpPr>
          <p:cNvPr id="17" name="箭头: 下 34">
            <a:extLst>
              <a:ext uri="{FF2B5EF4-FFF2-40B4-BE49-F238E27FC236}">
                <a16:creationId xmlns:a16="http://schemas.microsoft.com/office/drawing/2014/main" id="{C01CD999-499E-8E42-688B-0D7C6287D32C}"/>
              </a:ext>
            </a:extLst>
          </p:cNvPr>
          <p:cNvSpPr/>
          <p:nvPr/>
        </p:nvSpPr>
        <p:spPr>
          <a:xfrm>
            <a:off x="2146650" y="2598831"/>
            <a:ext cx="237390" cy="19889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箭头: 下 35">
            <a:extLst>
              <a:ext uri="{FF2B5EF4-FFF2-40B4-BE49-F238E27FC236}">
                <a16:creationId xmlns:a16="http://schemas.microsoft.com/office/drawing/2014/main" id="{81BCC9E1-6256-2804-A9AE-1FD4B56F6587}"/>
              </a:ext>
            </a:extLst>
          </p:cNvPr>
          <p:cNvSpPr/>
          <p:nvPr/>
        </p:nvSpPr>
        <p:spPr>
          <a:xfrm>
            <a:off x="5559577" y="2593615"/>
            <a:ext cx="286808" cy="19889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箭头: 下 36">
            <a:extLst>
              <a:ext uri="{FF2B5EF4-FFF2-40B4-BE49-F238E27FC236}">
                <a16:creationId xmlns:a16="http://schemas.microsoft.com/office/drawing/2014/main" id="{D100E4A6-FA7C-4105-FDAE-CBF737E18F4C}"/>
              </a:ext>
            </a:extLst>
          </p:cNvPr>
          <p:cNvSpPr/>
          <p:nvPr/>
        </p:nvSpPr>
        <p:spPr>
          <a:xfrm>
            <a:off x="9019256" y="2576178"/>
            <a:ext cx="266797" cy="202614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BF705B-0FF8-9D81-268B-D0946EC823F5}"/>
              </a:ext>
            </a:extLst>
          </p:cNvPr>
          <p:cNvSpPr txBox="1"/>
          <p:nvPr/>
        </p:nvSpPr>
        <p:spPr>
          <a:xfrm>
            <a:off x="983954" y="1003476"/>
            <a:ext cx="6765284" cy="48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8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思考：中小商家的三层痛点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D3E0AE6-B725-41D2-EFF7-F3C8B28DAC85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灵顺项目｜进一步思考</a:t>
            </a:r>
          </a:p>
        </p:txBody>
      </p:sp>
      <p:cxnSp>
        <p:nvCxnSpPr>
          <p:cNvPr id="32" name="直接连接符 11">
            <a:extLst>
              <a:ext uri="{FF2B5EF4-FFF2-40B4-BE49-F238E27FC236}">
                <a16:creationId xmlns:a16="http://schemas.microsoft.com/office/drawing/2014/main" id="{64B78703-82BF-3E8A-49D5-A82EE5077E24}"/>
              </a:ext>
            </a:extLst>
          </p:cNvPr>
          <p:cNvCxnSpPr>
            <a:cxnSpLocks/>
          </p:cNvCxnSpPr>
          <p:nvPr/>
        </p:nvCxnSpPr>
        <p:spPr>
          <a:xfrm>
            <a:off x="983954" y="710695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A2F9EB3-ABE9-6E49-1A6E-A47D447EA798}"/>
              </a:ext>
            </a:extLst>
          </p:cNvPr>
          <p:cNvSpPr/>
          <p:nvPr/>
        </p:nvSpPr>
        <p:spPr>
          <a:xfrm>
            <a:off x="929890" y="2812952"/>
            <a:ext cx="2804160" cy="2524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1BF330-16B2-5B82-C436-B759A171F700}"/>
              </a:ext>
            </a:extLst>
          </p:cNvPr>
          <p:cNvSpPr/>
          <p:nvPr/>
        </p:nvSpPr>
        <p:spPr>
          <a:xfrm>
            <a:off x="4328160" y="2812952"/>
            <a:ext cx="2895599" cy="2471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8320DF-BE42-2DC4-5141-7B7817744EC7}"/>
              </a:ext>
            </a:extLst>
          </p:cNvPr>
          <p:cNvSpPr/>
          <p:nvPr/>
        </p:nvSpPr>
        <p:spPr>
          <a:xfrm>
            <a:off x="7823200" y="2818672"/>
            <a:ext cx="2804160" cy="25183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8AEDA5C-6EB1-A648-D1BC-8D04C9C6090F}"/>
              </a:ext>
            </a:extLst>
          </p:cNvPr>
          <p:cNvSpPr/>
          <p:nvPr/>
        </p:nvSpPr>
        <p:spPr>
          <a:xfrm>
            <a:off x="1111378" y="2956855"/>
            <a:ext cx="2465647" cy="2269730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AEAADE8-2FEF-B114-F0CD-C35EB4287545}"/>
              </a:ext>
            </a:extLst>
          </p:cNvPr>
          <p:cNvSpPr/>
          <p:nvPr/>
        </p:nvSpPr>
        <p:spPr>
          <a:xfrm>
            <a:off x="4439312" y="2919541"/>
            <a:ext cx="2668976" cy="2258226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9BCA7808-1FED-7967-DC4B-6F86D78327F3}"/>
              </a:ext>
            </a:extLst>
          </p:cNvPr>
          <p:cNvSpPr/>
          <p:nvPr/>
        </p:nvSpPr>
        <p:spPr>
          <a:xfrm>
            <a:off x="7962228" y="2961999"/>
            <a:ext cx="2514120" cy="2264586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矩形: 圆角 38">
            <a:extLst>
              <a:ext uri="{FF2B5EF4-FFF2-40B4-BE49-F238E27FC236}">
                <a16:creationId xmlns:a16="http://schemas.microsoft.com/office/drawing/2014/main" id="{B3C0876A-3915-7732-0B65-BC717E73DCB4}"/>
              </a:ext>
            </a:extLst>
          </p:cNvPr>
          <p:cNvSpPr/>
          <p:nvPr/>
        </p:nvSpPr>
        <p:spPr>
          <a:xfrm>
            <a:off x="1252787" y="3076819"/>
            <a:ext cx="2143454" cy="3440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/>
              <a:t>方向盲</a:t>
            </a:r>
            <a:endParaRPr lang="zh-CN" altLang="en-US" sz="129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矩形: 圆角 42">
            <a:extLst>
              <a:ext uri="{FF2B5EF4-FFF2-40B4-BE49-F238E27FC236}">
                <a16:creationId xmlns:a16="http://schemas.microsoft.com/office/drawing/2014/main" id="{B1241C6C-CFAF-F216-52E6-C88644CA214E}"/>
              </a:ext>
            </a:extLst>
          </p:cNvPr>
          <p:cNvSpPr/>
          <p:nvPr/>
        </p:nvSpPr>
        <p:spPr>
          <a:xfrm>
            <a:off x="4621183" y="3077599"/>
            <a:ext cx="2320212" cy="3423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/>
              <a:t>执行难</a:t>
            </a:r>
            <a:endParaRPr lang="zh-CN" altLang="en-US" sz="129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3" name="矩形: 圆角 43">
            <a:extLst>
              <a:ext uri="{FF2B5EF4-FFF2-40B4-BE49-F238E27FC236}">
                <a16:creationId xmlns:a16="http://schemas.microsoft.com/office/drawing/2014/main" id="{258B1B1E-308A-DECD-DA74-11FB845CA8B2}"/>
              </a:ext>
            </a:extLst>
          </p:cNvPr>
          <p:cNvSpPr/>
          <p:nvPr/>
        </p:nvSpPr>
        <p:spPr>
          <a:xfrm>
            <a:off x="8122630" y="3077599"/>
            <a:ext cx="2185593" cy="34329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/>
              <a:t>反馈缺</a:t>
            </a:r>
            <a:endParaRPr lang="zh-CN" altLang="en-US" sz="129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F360C8B-39A8-69A3-EAAC-F7C91529E54F}"/>
              </a:ext>
            </a:extLst>
          </p:cNvPr>
          <p:cNvSpPr txBox="1"/>
          <p:nvPr/>
        </p:nvSpPr>
        <p:spPr>
          <a:xfrm>
            <a:off x="1177504" y="3511918"/>
            <a:ext cx="2298017" cy="155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不知道自己适合做哪个场域：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14.7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万无人运营商家里，泛货架型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57%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基期没发过短视频、日动销≤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件，短视频型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82%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挤在达人行业、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万粉以上只占</a:t>
            </a:r>
            <a:r>
              <a:rPr lang="en-US" altLang="zh-CN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26%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，直播型有粉丝基础但缺低成本的持续开播能力。</a:t>
            </a:r>
            <a:endParaRPr lang="en-US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zh-CN" altLang="zh-CN" sz="922" b="1" dirty="0">
                <a:ea typeface="Alibaba PuHuiTi" pitchFamily="18" charset="-122"/>
              </a:rPr>
              <a:t>商家连自己该走直播、短视频还是货架都判断不了，</a:t>
            </a:r>
            <a:r>
              <a:rPr lang="zh-CN" altLang="en-US" sz="922" b="1" dirty="0">
                <a:ea typeface="Alibaba PuHuiTi" pitchFamily="18" charset="-122"/>
              </a:rPr>
              <a:t>且</a:t>
            </a:r>
            <a:r>
              <a:rPr lang="zh-CN" altLang="zh-CN" sz="922" b="1" dirty="0">
                <a:ea typeface="Alibaba PuHuiTi" pitchFamily="18" charset="-122"/>
              </a:rPr>
              <a:t>试错成本高。</a:t>
            </a:r>
            <a:endParaRPr lang="zh-CN" altLang="en-US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B1DC26-6B49-8141-EA98-0FAF4D3A315F}"/>
              </a:ext>
            </a:extLst>
          </p:cNvPr>
          <p:cNvSpPr txBox="1"/>
          <p:nvPr/>
        </p:nvSpPr>
        <p:spPr>
          <a:xfrm>
            <a:off x="4703824" y="3564471"/>
            <a:ext cx="2083056" cy="157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zh-CN" altLang="zh-CN" sz="922" b="1" dirty="0">
                <a:ea typeface="Alibaba PuHuiTi" pitchFamily="18" charset="-122"/>
              </a:rPr>
              <a:t>知道方向也做不好</a:t>
            </a:r>
            <a:r>
              <a:rPr lang="zh-CN" altLang="en-US" sz="922" b="1" dirty="0">
                <a:ea typeface="Alibaba PuHuiTi" pitchFamily="18" charset="-122"/>
              </a:rPr>
              <a:t>：</a:t>
            </a:r>
            <a:endParaRPr lang="en-US" altLang="zh-CN" sz="922" b="1" dirty="0">
              <a:ea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en-US" altLang="zh-CN" sz="922" b="1" dirty="0">
                <a:ea typeface="Alibaba PuHuiTi" pitchFamily="18" charset="-122"/>
              </a:rPr>
              <a:t>1.</a:t>
            </a:r>
            <a:r>
              <a:rPr lang="zh-CN" altLang="zh-CN" sz="922" b="1" dirty="0">
                <a:ea typeface="Alibaba PuHuiTi" pitchFamily="18" charset="-122"/>
              </a:rPr>
              <a:t>不会做短视频</a:t>
            </a:r>
            <a:r>
              <a:rPr lang="zh-CN" altLang="en-US" sz="922" b="1" dirty="0">
                <a:ea typeface="Alibaba PuHuiTi" pitchFamily="18" charset="-122"/>
              </a:rPr>
              <a:t>，</a:t>
            </a:r>
            <a:r>
              <a:rPr lang="zh-CN" altLang="zh-CN" sz="922" b="1" dirty="0">
                <a:ea typeface="Alibaba PuHuiTi" pitchFamily="18" charset="-122"/>
              </a:rPr>
              <a:t>AI帮他0到1建挂车行为</a:t>
            </a:r>
            <a:r>
              <a:rPr lang="zh-CN" altLang="en-US" sz="922" b="1" dirty="0">
                <a:ea typeface="Alibaba PuHuiTi" pitchFamily="18" charset="-122"/>
              </a:rPr>
              <a:t>。</a:t>
            </a:r>
            <a:endParaRPr lang="en-US" altLang="zh-CN" sz="922" b="1" dirty="0">
              <a:ea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en-US" altLang="zh-CN" sz="922" b="1" dirty="0">
                <a:ea typeface="Alibaba PuHuiTi" pitchFamily="18" charset="-122"/>
              </a:rPr>
              <a:t>2.</a:t>
            </a:r>
            <a:r>
              <a:rPr lang="zh-CN" altLang="zh-CN" sz="922" b="1" dirty="0">
                <a:ea typeface="Alibaba PuHuiTi" pitchFamily="18" charset="-122"/>
              </a:rPr>
              <a:t>直播型不会写话术、做台本</a:t>
            </a:r>
            <a:r>
              <a:rPr lang="en-US" altLang="zh-CN" sz="922" b="1" dirty="0">
                <a:ea typeface="Alibaba PuHuiTi" pitchFamily="18" charset="-122"/>
              </a:rPr>
              <a:t>AI</a:t>
            </a:r>
            <a:r>
              <a:rPr lang="zh-CN" altLang="zh-CN" sz="922" b="1" dirty="0">
                <a:ea typeface="Alibaba PuHuiTi" pitchFamily="18" charset="-122"/>
              </a:rPr>
              <a:t>用TTS、话术生成降门槛</a:t>
            </a:r>
            <a:r>
              <a:rPr lang="zh-CN" altLang="en-US" sz="922" b="1" dirty="0">
                <a:ea typeface="Alibaba PuHuiTi" pitchFamily="18" charset="-122"/>
              </a:rPr>
              <a:t>。</a:t>
            </a:r>
            <a:endParaRPr lang="en-US" altLang="zh-CN" sz="922" b="1" dirty="0">
              <a:ea typeface="Alibaba PuHuiTi" pitchFamily="18" charset="-122"/>
            </a:endParaRPr>
          </a:p>
          <a:p>
            <a:pPr algn="just">
              <a:lnSpc>
                <a:spcPct val="100000"/>
              </a:lnSpc>
              <a:spcAft>
                <a:spcPts val="922"/>
              </a:spcAft>
            </a:pPr>
            <a:r>
              <a:rPr lang="en-US" altLang="zh-CN" sz="922" b="1" dirty="0">
                <a:ea typeface="Alibaba PuHuiTi" pitchFamily="18" charset="-122"/>
              </a:rPr>
              <a:t>3.</a:t>
            </a:r>
            <a:r>
              <a:rPr lang="zh-CN" altLang="en-US" sz="922" b="1" dirty="0">
                <a:ea typeface="Alibaba PuHuiTi" pitchFamily="18" charset="-122"/>
              </a:rPr>
              <a:t>货架型不会介绍产品，</a:t>
            </a:r>
            <a:r>
              <a:rPr lang="en-US" altLang="zh-CN" sz="922" b="1" dirty="0">
                <a:ea typeface="Alibaba PuHuiTi" pitchFamily="18" charset="-122"/>
              </a:rPr>
              <a:t>AI</a:t>
            </a:r>
            <a:r>
              <a:rPr lang="zh-CN" altLang="en-US" sz="922" b="1" dirty="0">
                <a:ea typeface="Alibaba PuHuiTi" pitchFamily="18" charset="-122"/>
              </a:rPr>
              <a:t>帮助生成产品素材、详情介绍，进行店铺装修打分给出修改建议。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AE761A-7C56-AD76-C7DC-E586343BE4BA}"/>
              </a:ext>
            </a:extLst>
          </p:cNvPr>
          <p:cNvSpPr txBox="1"/>
          <p:nvPr/>
        </p:nvSpPr>
        <p:spPr>
          <a:xfrm>
            <a:off x="8105083" y="3582847"/>
            <a:ext cx="2343194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dirty="0">
                <a:ea typeface="Alibaba PuHuiTi" pitchFamily="18" charset="-122"/>
              </a:rPr>
              <a:t>做了看不到效果，没人告诉他好不好、差在哪</a:t>
            </a:r>
            <a:endParaRPr lang="en-US" altLang="zh-CN" sz="922" dirty="0">
              <a:ea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dirty="0">
                <a:ea typeface="Alibaba PuHuiTi" pitchFamily="18" charset="-122"/>
              </a:rPr>
              <a:t>这批商家是</a:t>
            </a:r>
            <a:r>
              <a:rPr lang="en-US" altLang="zh-CN" sz="922" dirty="0">
                <a:ea typeface="Alibaba PuHuiTi" pitchFamily="18" charset="-122"/>
              </a:rPr>
              <a:t>"</a:t>
            </a:r>
            <a:r>
              <a:rPr lang="zh-CN" altLang="en-US" sz="922" dirty="0">
                <a:ea typeface="Alibaba PuHuiTi" pitchFamily="18" charset="-122"/>
              </a:rPr>
              <a:t>无人运营</a:t>
            </a:r>
            <a:r>
              <a:rPr lang="en-US" altLang="zh-CN" sz="922" dirty="0">
                <a:ea typeface="Alibaba PuHuiTi" pitchFamily="18" charset="-122"/>
              </a:rPr>
              <a:t>"</a:t>
            </a:r>
            <a:r>
              <a:rPr lang="zh-CN" altLang="en-US" sz="922" dirty="0">
                <a:ea typeface="Alibaba PuHuiTi" pitchFamily="18" charset="-122"/>
              </a:rPr>
              <a:t>的，</a:t>
            </a:r>
            <a:r>
              <a:rPr lang="en-US" altLang="zh-CN" sz="922" dirty="0">
                <a:ea typeface="Alibaba PuHuiTi" pitchFamily="18" charset="-122"/>
              </a:rPr>
              <a:t>30</a:t>
            </a:r>
            <a:r>
              <a:rPr lang="zh-CN" altLang="en-US" sz="922" dirty="0">
                <a:ea typeface="Alibaba PuHuiTi" pitchFamily="18" charset="-122"/>
              </a:rPr>
              <a:t>天没被企微联系、没访问过商家</a:t>
            </a:r>
            <a:r>
              <a:rPr lang="en-US" altLang="zh-CN" sz="922" dirty="0">
                <a:ea typeface="Alibaba PuHuiTi" pitchFamily="18" charset="-122"/>
              </a:rPr>
              <a:t>360</a:t>
            </a:r>
            <a:r>
              <a:rPr lang="zh-CN" altLang="en-US" sz="922" dirty="0">
                <a:ea typeface="Alibaba PuHuiTi" pitchFamily="18" charset="-122"/>
              </a:rPr>
              <a:t>，白努力了看不到反馈，就放弃了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922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40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3020-F968-88C7-4B29-16E5760A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3E801D45-06E8-FB66-3CE7-5CC633F18111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ea typeface="Alibaba PuHuiTi" pitchFamily="18" charset="-122"/>
                <a:cs typeface="Alibaba PuHuiTi" pitchFamily="18" charset="-122"/>
              </a:rPr>
              <a:t>主要工作任务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3D31746-17A0-FD17-4162-178DEA74B5A4}"/>
              </a:ext>
            </a:extLst>
          </p:cNvPr>
          <p:cNvCxnSpPr/>
          <p:nvPr/>
        </p:nvCxnSpPr>
        <p:spPr>
          <a:xfrm>
            <a:off x="983954" y="710695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5CC4954-58A5-47F3-6E46-92CC7D7B8A9F}"/>
              </a:ext>
            </a:extLst>
          </p:cNvPr>
          <p:cNvSpPr/>
          <p:nvPr/>
        </p:nvSpPr>
        <p:spPr>
          <a:xfrm>
            <a:off x="1329679" y="2627890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1D7D4FEE-F7A9-88FD-41B0-9D9618ABAFDD}"/>
              </a:ext>
            </a:extLst>
          </p:cNvPr>
          <p:cNvSpPr/>
          <p:nvPr/>
        </p:nvSpPr>
        <p:spPr>
          <a:xfrm>
            <a:off x="2382985" y="2391950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项目二：AI Agent 分析自动化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高频场景Skill化 · 防错校验机制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单次复盘从 3-4 小时压缩到 25 分钟</a:t>
            </a:r>
          </a:p>
        </p:txBody>
      </p:sp>
    </p:spTree>
    <p:extLst>
      <p:ext uri="{BB962C8B-B14F-4D97-AF65-F5344CB8AC3E}">
        <p14:creationId xmlns:p14="http://schemas.microsoft.com/office/powerpoint/2010/main" val="398082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F0155A0-BC5E-45F1-87A2-F5182BE40DD8}"/>
              </a:ext>
            </a:extLst>
          </p:cNvPr>
          <p:cNvSpPr/>
          <p:nvPr/>
        </p:nvSpPr>
        <p:spPr>
          <a:xfrm>
            <a:off x="1522625" y="2790927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5118AEA-1A59-4528-A89E-98B8AE9CC554}"/>
              </a:ext>
            </a:extLst>
          </p:cNvPr>
          <p:cNvSpPr/>
          <p:nvPr/>
        </p:nvSpPr>
        <p:spPr>
          <a:xfrm>
            <a:off x="3735905" y="2790927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A1B101-8472-49DC-A33B-940B6D3A28DD}"/>
              </a:ext>
            </a:extLst>
          </p:cNvPr>
          <p:cNvSpPr/>
          <p:nvPr/>
        </p:nvSpPr>
        <p:spPr>
          <a:xfrm>
            <a:off x="5940459" y="2790927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ACDEF2EF-79B9-4ABB-ADEE-F3B820F4409A}"/>
              </a:ext>
            </a:extLst>
          </p:cNvPr>
          <p:cNvSpPr/>
          <p:nvPr/>
        </p:nvSpPr>
        <p:spPr>
          <a:xfrm>
            <a:off x="8148005" y="2790927"/>
            <a:ext cx="536868" cy="1328452"/>
          </a:xfrm>
          <a:custGeom>
            <a:avLst/>
            <a:gdLst>
              <a:gd name="connsiteX0" fmla="*/ 581405 w 581405"/>
              <a:gd name="connsiteY0" fmla="*/ 275844 h 1438655"/>
              <a:gd name="connsiteX1" fmla="*/ 581405 w 581405"/>
              <a:gd name="connsiteY1" fmla="*/ 1162812 h 1438655"/>
              <a:gd name="connsiteX2" fmla="*/ 305562 w 581405"/>
              <a:gd name="connsiteY2" fmla="*/ 1438656 h 1438655"/>
              <a:gd name="connsiteX3" fmla="*/ 275844 w 581405"/>
              <a:gd name="connsiteY3" fmla="*/ 1438656 h 1438655"/>
              <a:gd name="connsiteX4" fmla="*/ 0 w 581405"/>
              <a:gd name="connsiteY4" fmla="*/ 1162812 h 1438655"/>
              <a:gd name="connsiteX5" fmla="*/ 0 w 581405"/>
              <a:gd name="connsiteY5" fmla="*/ 275844 h 1438655"/>
              <a:gd name="connsiteX6" fmla="*/ 275844 w 581405"/>
              <a:gd name="connsiteY6" fmla="*/ 0 h 1438655"/>
              <a:gd name="connsiteX7" fmla="*/ 305562 w 581405"/>
              <a:gd name="connsiteY7" fmla="*/ 0 h 1438655"/>
              <a:gd name="connsiteX8" fmla="*/ 581405 w 581405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5" h="1438655">
                <a:moveTo>
                  <a:pt x="581405" y="275844"/>
                </a:moveTo>
                <a:lnTo>
                  <a:pt x="581405" y="1162812"/>
                </a:lnTo>
                <a:cubicBezTo>
                  <a:pt x="581405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5" y="123444"/>
                  <a:pt x="581405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A46D6CC-26E2-4E32-B64D-3FB0FC03AF29}"/>
              </a:ext>
            </a:extLst>
          </p:cNvPr>
          <p:cNvSpPr/>
          <p:nvPr/>
        </p:nvSpPr>
        <p:spPr>
          <a:xfrm>
            <a:off x="1734058" y="1618680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79F70B-886C-4BF9-A3FA-A6BBDEFE4850}"/>
              </a:ext>
            </a:extLst>
          </p:cNvPr>
          <p:cNvSpPr/>
          <p:nvPr/>
        </p:nvSpPr>
        <p:spPr>
          <a:xfrm>
            <a:off x="1896947" y="952988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3560" y="362712"/>
                  <a:pt x="1712976" y="362712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当前痛点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9FB32B5-4DD6-4CDB-A9DF-E7408AC44D4E}"/>
              </a:ext>
            </a:extLst>
          </p:cNvPr>
          <p:cNvSpPr/>
          <p:nvPr/>
        </p:nvSpPr>
        <p:spPr>
          <a:xfrm>
            <a:off x="1814057" y="4715094"/>
            <a:ext cx="1159731" cy="334927"/>
          </a:xfrm>
          <a:custGeom>
            <a:avLst/>
            <a:gdLst>
              <a:gd name="connsiteX0" fmla="*/ 1712976 w 1894332"/>
              <a:gd name="connsiteY0" fmla="*/ 362712 h 362712"/>
              <a:gd name="connsiteX1" fmla="*/ 181356 w 1894332"/>
              <a:gd name="connsiteY1" fmla="*/ 362712 h 362712"/>
              <a:gd name="connsiteX2" fmla="*/ 0 w 1894332"/>
              <a:gd name="connsiteY2" fmla="*/ 181356 h 362712"/>
              <a:gd name="connsiteX3" fmla="*/ 0 w 1894332"/>
              <a:gd name="connsiteY3" fmla="*/ 181356 h 362712"/>
              <a:gd name="connsiteX4" fmla="*/ 181356 w 1894332"/>
              <a:gd name="connsiteY4" fmla="*/ 0 h 362712"/>
              <a:gd name="connsiteX5" fmla="*/ 1712976 w 1894332"/>
              <a:gd name="connsiteY5" fmla="*/ 0 h 362712"/>
              <a:gd name="connsiteX6" fmla="*/ 1894333 w 1894332"/>
              <a:gd name="connsiteY6" fmla="*/ 181356 h 362712"/>
              <a:gd name="connsiteX7" fmla="*/ 1894333 w 1894332"/>
              <a:gd name="connsiteY7" fmla="*/ 181356 h 362712"/>
              <a:gd name="connsiteX8" fmla="*/ 1712976 w 1894332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2" h="362712">
                <a:moveTo>
                  <a:pt x="1712976" y="362712"/>
                </a:moveTo>
                <a:lnTo>
                  <a:pt x="181356" y="362712"/>
                </a:lnTo>
                <a:cubicBezTo>
                  <a:pt x="81535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5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3" y="81534"/>
                  <a:pt x="1894333" y="181356"/>
                </a:cubicBezTo>
                <a:lnTo>
                  <a:pt x="1894333" y="181356"/>
                </a:lnTo>
                <a:cubicBezTo>
                  <a:pt x="1894333" y="281178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最终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DCF6D0A-1343-4793-93FA-D7A529994C2C}"/>
              </a:ext>
            </a:extLst>
          </p:cNvPr>
          <p:cNvSpPr/>
          <p:nvPr/>
        </p:nvSpPr>
        <p:spPr>
          <a:xfrm>
            <a:off x="6157075" y="1618680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DF1160E0-1415-4E76-A920-658E89EF387C}"/>
              </a:ext>
            </a:extLst>
          </p:cNvPr>
          <p:cNvSpPr/>
          <p:nvPr/>
        </p:nvSpPr>
        <p:spPr>
          <a:xfrm>
            <a:off x="6192256" y="984005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解决方案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FA9AB9C-0CCF-B763-8FC2-2532C112A967}"/>
              </a:ext>
            </a:extLst>
          </p:cNvPr>
          <p:cNvSpPr txBox="1"/>
          <p:nvPr/>
        </p:nvSpPr>
        <p:spPr>
          <a:xfrm>
            <a:off x="1825322" y="1489378"/>
            <a:ext cx="3786469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复盘类报告单次产出要</a:t>
            </a:r>
            <a:r>
              <a:rPr lang="en-US" altLang="zh-CN" sz="922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3-4</a:t>
            </a:r>
            <a:r>
              <a:rPr lang="zh-CN" altLang="en-US" sz="922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小时，而且周报、日报、大促日报每周每月都要重复出；不同人产出的格式和口径常不统一，每次都要提前对齐。这类有固定分析框架的高频工作，本质是重复劳动。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A8055BE-2795-9666-4A50-42C8D935FC20}"/>
              </a:ext>
            </a:extLst>
          </p:cNvPr>
          <p:cNvSpPr txBox="1"/>
          <p:nvPr/>
        </p:nvSpPr>
        <p:spPr>
          <a:xfrm>
            <a:off x="6275680" y="1488096"/>
            <a:ext cx="3786469" cy="49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ea typeface="Alibaba PuHuiTi" pitchFamily="18" charset="-122"/>
              </a:rPr>
              <a:t>基于</a:t>
            </a:r>
            <a:r>
              <a:rPr lang="en" altLang="zh-CN" sz="922" dirty="0" err="1">
                <a:solidFill>
                  <a:srgbClr val="24292F"/>
                </a:solidFill>
                <a:ea typeface="Alibaba PuHuiTi" pitchFamily="18" charset="-122"/>
              </a:rPr>
              <a:t>DataAgent</a:t>
            </a:r>
            <a:r>
              <a:rPr lang="zh-CN" altLang="en-US" sz="922" dirty="0">
                <a:solidFill>
                  <a:srgbClr val="24292F"/>
                </a:solidFill>
                <a:ea typeface="Alibaba PuHuiTi" pitchFamily="18" charset="-122"/>
              </a:rPr>
              <a:t>的</a:t>
            </a:r>
            <a:r>
              <a:rPr lang="en" altLang="zh-CN" sz="922" dirty="0">
                <a:solidFill>
                  <a:srgbClr val="24292F"/>
                </a:solidFill>
                <a:ea typeface="Alibaba PuHuiTi" pitchFamily="18" charset="-122"/>
              </a:rPr>
              <a:t>Skill</a:t>
            </a:r>
            <a:r>
              <a:rPr lang="zh-CN" altLang="en-US" sz="922" dirty="0">
                <a:solidFill>
                  <a:srgbClr val="24292F"/>
                </a:solidFill>
                <a:ea typeface="Alibaba PuHuiTi" pitchFamily="18" charset="-122"/>
              </a:rPr>
              <a:t>机制，把取数→算贡献度→可视化的链路固化成</a:t>
            </a:r>
            <a:r>
              <a:rPr lang="en" altLang="zh-CN" sz="922" dirty="0">
                <a:solidFill>
                  <a:srgbClr val="24292F"/>
                </a:solidFill>
                <a:ea typeface="Alibaba PuHuiTi" pitchFamily="18" charset="-122"/>
              </a:rPr>
              <a:t>Skill</a:t>
            </a:r>
            <a:r>
              <a:rPr lang="zh-CN" altLang="en-US" sz="922" dirty="0">
                <a:solidFill>
                  <a:srgbClr val="24292F"/>
                </a:solidFill>
                <a:ea typeface="Alibaba PuHuiTi" pitchFamily="18" charset="-122"/>
              </a:rPr>
              <a:t>执行时输入数据周期就能自动跑，把重复的取数分析交给</a:t>
            </a:r>
            <a:r>
              <a:rPr lang="en" altLang="zh-CN" sz="922" dirty="0">
                <a:solidFill>
                  <a:srgbClr val="24292F"/>
                </a:solidFill>
                <a:ea typeface="Alibaba PuHuiTi" pitchFamily="18" charset="-122"/>
              </a:rPr>
              <a:t>AI</a:t>
            </a:r>
            <a:r>
              <a:rPr lang="zh-CN" altLang="en-US" sz="922" dirty="0">
                <a:solidFill>
                  <a:srgbClr val="24292F"/>
                </a:solidFill>
                <a:ea typeface="Alibaba PuHuiTi" pitchFamily="18" charset="-122"/>
              </a:rPr>
              <a:t>做</a:t>
            </a:r>
            <a:r>
              <a:rPr lang="zh-CN" altLang="en-US" sz="922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846488A-4F53-7846-F119-C5443AF9D251}"/>
              </a:ext>
            </a:extLst>
          </p:cNvPr>
          <p:cNvSpPr txBox="1"/>
          <p:nvPr/>
        </p:nvSpPr>
        <p:spPr>
          <a:xfrm>
            <a:off x="3485882" y="4595725"/>
            <a:ext cx="7297751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梳理高频场景：选出</a:t>
            </a: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个有固定分析框架的场景做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Skill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化</a:t>
            </a:r>
            <a:r>
              <a:rPr lang="zh-CN" altLang="en-US" sz="922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勤奋度圈选周报、</a:t>
            </a: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818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日报、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WBR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周报、目标测算、大促达成率、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DAC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分析； </a:t>
            </a:r>
            <a:endParaRPr lang="en-US" altLang="zh-CN" sz="922" b="1" dirty="0">
              <a:solidFill>
                <a:srgbClr val="24292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沉淀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Skill</a:t>
            </a:r>
            <a:r>
              <a:rPr lang="zh-CN" altLang="e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心得：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例如数据来源提取、口径定义、输出格式、需关注</a:t>
            </a: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注意力衰减问题，单个</a:t>
            </a: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skill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不要超过</a:t>
            </a: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400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行，需要进行格式和数据准确性调准等； </a:t>
            </a:r>
            <a:endParaRPr lang="en-US" altLang="zh-CN" sz="922" b="1" dirty="0">
              <a:solidFill>
                <a:srgbClr val="24292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 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建立校验机制：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自查</a:t>
            </a:r>
            <a:r>
              <a:rPr lang="en-US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人工抽检，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GMV</a:t>
            </a:r>
            <a:r>
              <a:rPr lang="zh-CN" altLang="e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消耗这类关键指标每次肉眼抽查，发现过幻觉数据就回写规则、持续更新</a:t>
            </a:r>
            <a:r>
              <a:rPr lang="en" altLang="zh-C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Skill</a:t>
            </a:r>
            <a:r>
              <a:rPr lang="zh-CN" altLang="en" sz="922" b="1" dirty="0">
                <a:solidFill>
                  <a:srgbClr val="24292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63218D3-2EFF-CA63-1389-776E7E435C77}"/>
              </a:ext>
            </a:extLst>
          </p:cNvPr>
          <p:cNvSpPr/>
          <p:nvPr/>
        </p:nvSpPr>
        <p:spPr>
          <a:xfrm>
            <a:off x="3307743" y="4516342"/>
            <a:ext cx="7808180" cy="1384546"/>
          </a:xfrm>
          <a:prstGeom prst="roundRect">
            <a:avLst>
              <a:gd name="adj" fmla="val 9672"/>
            </a:avLst>
          </a:prstGeom>
          <a:noFill/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045895-4CCC-4976-A3AA-86FF145A1113}"/>
              </a:ext>
            </a:extLst>
          </p:cNvPr>
          <p:cNvSpPr txBox="1"/>
          <p:nvPr/>
        </p:nvSpPr>
        <p:spPr>
          <a:xfrm>
            <a:off x="888810" y="284936"/>
            <a:ext cx="7098443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 </a:t>
            </a:r>
            <a:r>
              <a:rPr lang="en-US" altLang="zh-CN" sz="2212" b="1" dirty="0">
                <a:solidFill>
                  <a:schemeClr val="accent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AI Agent</a:t>
            </a:r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自动化｜工作总结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C1875F2-0D3B-4DEC-B6AD-E1F0AFD11D0A}"/>
              </a:ext>
            </a:extLst>
          </p:cNvPr>
          <p:cNvCxnSpPr/>
          <p:nvPr/>
        </p:nvCxnSpPr>
        <p:spPr>
          <a:xfrm>
            <a:off x="983954" y="710695"/>
            <a:ext cx="1022409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形状 5">
            <a:extLst>
              <a:ext uri="{FF2B5EF4-FFF2-40B4-BE49-F238E27FC236}">
                <a16:creationId xmlns:a16="http://schemas.microsoft.com/office/drawing/2014/main" id="{B6ABAC4B-F3AA-5755-3564-B826794C4786}"/>
              </a:ext>
            </a:extLst>
          </p:cNvPr>
          <p:cNvSpPr/>
          <p:nvPr/>
        </p:nvSpPr>
        <p:spPr>
          <a:xfrm rot="5400000">
            <a:off x="5473880" y="-2103987"/>
            <a:ext cx="1127256" cy="11118280"/>
          </a:xfrm>
          <a:custGeom>
            <a:avLst/>
            <a:gdLst>
              <a:gd name="connsiteX0" fmla="*/ 0 w 1223247"/>
              <a:gd name="connsiteY0" fmla="*/ 600797 h 12065051"/>
              <a:gd name="connsiteX1" fmla="*/ 611624 w 1223247"/>
              <a:gd name="connsiteY1" fmla="*/ 0 h 12065051"/>
              <a:gd name="connsiteX2" fmla="*/ 1223247 w 1223247"/>
              <a:gd name="connsiteY2" fmla="*/ 600797 h 12065051"/>
              <a:gd name="connsiteX3" fmla="*/ 936896 w 1223247"/>
              <a:gd name="connsiteY3" fmla="*/ 600797 h 12065051"/>
              <a:gd name="connsiteX4" fmla="*/ 936896 w 1223247"/>
              <a:gd name="connsiteY4" fmla="*/ 12065051 h 12065051"/>
              <a:gd name="connsiteX5" fmla="*/ 287117 w 1223247"/>
              <a:gd name="connsiteY5" fmla="*/ 12065051 h 12065051"/>
              <a:gd name="connsiteX6" fmla="*/ 287117 w 1223247"/>
              <a:gd name="connsiteY6" fmla="*/ 600797 h 1206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3247" h="12065051">
                <a:moveTo>
                  <a:pt x="0" y="600797"/>
                </a:moveTo>
                <a:lnTo>
                  <a:pt x="611624" y="0"/>
                </a:lnTo>
                <a:lnTo>
                  <a:pt x="1223247" y="600797"/>
                </a:lnTo>
                <a:lnTo>
                  <a:pt x="936896" y="600797"/>
                </a:lnTo>
                <a:lnTo>
                  <a:pt x="936896" y="12065051"/>
                </a:lnTo>
                <a:lnTo>
                  <a:pt x="287117" y="12065051"/>
                </a:lnTo>
                <a:lnTo>
                  <a:pt x="287117" y="600797"/>
                </a:lnTo>
                <a:close/>
              </a:path>
            </a:pathLst>
          </a:custGeom>
          <a:gradFill>
            <a:gsLst>
              <a:gs pos="1000">
                <a:schemeClr val="accent1">
                  <a:alpha val="29839"/>
                </a:schemeClr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DC44001-76D4-4C50-A8EE-98F65BD6DAFF}"/>
              </a:ext>
            </a:extLst>
          </p:cNvPr>
          <p:cNvSpPr/>
          <p:nvPr/>
        </p:nvSpPr>
        <p:spPr>
          <a:xfrm>
            <a:off x="1796680" y="2790927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45E894F-07F4-478A-AECA-1B2399C8DD98}"/>
              </a:ext>
            </a:extLst>
          </p:cNvPr>
          <p:cNvSpPr/>
          <p:nvPr/>
        </p:nvSpPr>
        <p:spPr>
          <a:xfrm>
            <a:off x="4001856" y="2790927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172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FBB877-75C0-4B41-9D1D-E42D81539E2B}"/>
              </a:ext>
            </a:extLst>
          </p:cNvPr>
          <p:cNvSpPr/>
          <p:nvPr/>
        </p:nvSpPr>
        <p:spPr>
          <a:xfrm>
            <a:off x="6204218" y="2790927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FE5AF8EC-B487-4B47-9FFD-27548AD06601}"/>
              </a:ext>
            </a:extLst>
          </p:cNvPr>
          <p:cNvSpPr/>
          <p:nvPr/>
        </p:nvSpPr>
        <p:spPr>
          <a:xfrm>
            <a:off x="8422059" y="2790927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Freeform 132">
            <a:extLst>
              <a:ext uri="{FF2B5EF4-FFF2-40B4-BE49-F238E27FC236}">
                <a16:creationId xmlns:a16="http://schemas.microsoft.com/office/drawing/2014/main" id="{D9553D98-A152-B277-CC05-DE4205E1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853" y="3039907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543A76A2-2C64-1533-F403-5E0EF997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816" y="3039906"/>
            <a:ext cx="265414" cy="295525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Freeform 125">
            <a:extLst>
              <a:ext uri="{FF2B5EF4-FFF2-40B4-BE49-F238E27FC236}">
                <a16:creationId xmlns:a16="http://schemas.microsoft.com/office/drawing/2014/main" id="{E7AAD5C0-F1ED-56DC-2B84-4858E1C5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780" y="3091764"/>
            <a:ext cx="353513" cy="191811"/>
          </a:xfrm>
          <a:custGeom>
            <a:avLst/>
            <a:gdLst>
              <a:gd name="T0" fmla="*/ 757 w 1400"/>
              <a:gd name="T1" fmla="*/ 464 h 758"/>
              <a:gd name="T2" fmla="*/ 1107 w 1400"/>
              <a:gd name="T3" fmla="*/ 639 h 758"/>
              <a:gd name="T4" fmla="*/ 1107 w 1400"/>
              <a:gd name="T5" fmla="*/ 757 h 758"/>
              <a:gd name="T6" fmla="*/ 407 w 1400"/>
              <a:gd name="T7" fmla="*/ 757 h 758"/>
              <a:gd name="T8" fmla="*/ 407 w 1400"/>
              <a:gd name="T9" fmla="*/ 639 h 758"/>
              <a:gd name="T10" fmla="*/ 757 w 1400"/>
              <a:gd name="T11" fmla="*/ 464 h 758"/>
              <a:gd name="T12" fmla="*/ 1145 w 1400"/>
              <a:gd name="T13" fmla="*/ 475 h 758"/>
              <a:gd name="T14" fmla="*/ 1399 w 1400"/>
              <a:gd name="T15" fmla="*/ 639 h 758"/>
              <a:gd name="T16" fmla="*/ 1399 w 1400"/>
              <a:gd name="T17" fmla="*/ 757 h 758"/>
              <a:gd name="T18" fmla="*/ 1224 w 1400"/>
              <a:gd name="T19" fmla="*/ 757 h 758"/>
              <a:gd name="T20" fmla="*/ 1224 w 1400"/>
              <a:gd name="T21" fmla="*/ 639 h 758"/>
              <a:gd name="T22" fmla="*/ 1145 w 1400"/>
              <a:gd name="T23" fmla="*/ 475 h 758"/>
              <a:gd name="T24" fmla="*/ 757 w 1400"/>
              <a:gd name="T25" fmla="*/ 349 h 758"/>
              <a:gd name="T26" fmla="*/ 582 w 1400"/>
              <a:gd name="T27" fmla="*/ 175 h 758"/>
              <a:gd name="T28" fmla="*/ 757 w 1400"/>
              <a:gd name="T29" fmla="*/ 0 h 758"/>
              <a:gd name="T30" fmla="*/ 932 w 1400"/>
              <a:gd name="T31" fmla="*/ 175 h 758"/>
              <a:gd name="T32" fmla="*/ 757 w 1400"/>
              <a:gd name="T33" fmla="*/ 349 h 758"/>
              <a:gd name="T34" fmla="*/ 1049 w 1400"/>
              <a:gd name="T35" fmla="*/ 349 h 758"/>
              <a:gd name="T36" fmla="*/ 997 w 1400"/>
              <a:gd name="T37" fmla="*/ 341 h 758"/>
              <a:gd name="T38" fmla="*/ 1049 w 1400"/>
              <a:gd name="T39" fmla="*/ 175 h 758"/>
              <a:gd name="T40" fmla="*/ 997 w 1400"/>
              <a:gd name="T41" fmla="*/ 8 h 758"/>
              <a:gd name="T42" fmla="*/ 1049 w 1400"/>
              <a:gd name="T43" fmla="*/ 0 h 758"/>
              <a:gd name="T44" fmla="*/ 1224 w 1400"/>
              <a:gd name="T45" fmla="*/ 175 h 758"/>
              <a:gd name="T46" fmla="*/ 1049 w 1400"/>
              <a:gd name="T47" fmla="*/ 349 h 758"/>
              <a:gd name="T48" fmla="*/ 467 w 1400"/>
              <a:gd name="T49" fmla="*/ 289 h 758"/>
              <a:gd name="T50" fmla="*/ 467 w 1400"/>
              <a:gd name="T51" fmla="*/ 407 h 758"/>
              <a:gd name="T52" fmla="*/ 292 w 1400"/>
              <a:gd name="T53" fmla="*/ 407 h 758"/>
              <a:gd name="T54" fmla="*/ 292 w 1400"/>
              <a:gd name="T55" fmla="*/ 582 h 758"/>
              <a:gd name="T56" fmla="*/ 175 w 1400"/>
              <a:gd name="T57" fmla="*/ 582 h 758"/>
              <a:gd name="T58" fmla="*/ 175 w 1400"/>
              <a:gd name="T59" fmla="*/ 407 h 758"/>
              <a:gd name="T60" fmla="*/ 0 w 1400"/>
              <a:gd name="T61" fmla="*/ 407 h 758"/>
              <a:gd name="T62" fmla="*/ 0 w 1400"/>
              <a:gd name="T63" fmla="*/ 289 h 758"/>
              <a:gd name="T64" fmla="*/ 175 w 1400"/>
              <a:gd name="T65" fmla="*/ 289 h 758"/>
              <a:gd name="T66" fmla="*/ 175 w 1400"/>
              <a:gd name="T67" fmla="*/ 114 h 758"/>
              <a:gd name="T68" fmla="*/ 292 w 1400"/>
              <a:gd name="T69" fmla="*/ 114 h 758"/>
              <a:gd name="T70" fmla="*/ 292 w 1400"/>
              <a:gd name="T71" fmla="*/ 289 h 758"/>
              <a:gd name="T72" fmla="*/ 467 w 1400"/>
              <a:gd name="T73" fmla="*/ 289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00" h="758">
                <a:moveTo>
                  <a:pt x="757" y="464"/>
                </a:moveTo>
                <a:cubicBezTo>
                  <a:pt x="874" y="464"/>
                  <a:pt x="1107" y="522"/>
                  <a:pt x="1107" y="639"/>
                </a:cubicBezTo>
                <a:lnTo>
                  <a:pt x="1107" y="757"/>
                </a:lnTo>
                <a:lnTo>
                  <a:pt x="407" y="757"/>
                </a:lnTo>
                <a:lnTo>
                  <a:pt x="407" y="639"/>
                </a:lnTo>
                <a:cubicBezTo>
                  <a:pt x="407" y="522"/>
                  <a:pt x="639" y="464"/>
                  <a:pt x="757" y="464"/>
                </a:cubicBezTo>
                <a:close/>
                <a:moveTo>
                  <a:pt x="1145" y="475"/>
                </a:moveTo>
                <a:cubicBezTo>
                  <a:pt x="1262" y="494"/>
                  <a:pt x="1399" y="549"/>
                  <a:pt x="1399" y="639"/>
                </a:cubicBezTo>
                <a:lnTo>
                  <a:pt x="1399" y="757"/>
                </a:lnTo>
                <a:lnTo>
                  <a:pt x="1224" y="757"/>
                </a:lnTo>
                <a:lnTo>
                  <a:pt x="1224" y="639"/>
                </a:lnTo>
                <a:cubicBezTo>
                  <a:pt x="1224" y="571"/>
                  <a:pt x="1194" y="519"/>
                  <a:pt x="1145" y="475"/>
                </a:cubicBezTo>
                <a:close/>
                <a:moveTo>
                  <a:pt x="757" y="349"/>
                </a:moveTo>
                <a:cubicBezTo>
                  <a:pt x="661" y="349"/>
                  <a:pt x="582" y="270"/>
                  <a:pt x="582" y="175"/>
                </a:cubicBezTo>
                <a:cubicBezTo>
                  <a:pt x="582" y="79"/>
                  <a:pt x="661" y="0"/>
                  <a:pt x="757" y="0"/>
                </a:cubicBezTo>
                <a:cubicBezTo>
                  <a:pt x="852" y="0"/>
                  <a:pt x="932" y="79"/>
                  <a:pt x="932" y="175"/>
                </a:cubicBezTo>
                <a:cubicBezTo>
                  <a:pt x="932" y="270"/>
                  <a:pt x="852" y="349"/>
                  <a:pt x="757" y="349"/>
                </a:cubicBezTo>
                <a:close/>
                <a:moveTo>
                  <a:pt x="1049" y="349"/>
                </a:moveTo>
                <a:cubicBezTo>
                  <a:pt x="1030" y="349"/>
                  <a:pt x="1014" y="347"/>
                  <a:pt x="997" y="341"/>
                </a:cubicBezTo>
                <a:cubicBezTo>
                  <a:pt x="1030" y="295"/>
                  <a:pt x="1049" y="238"/>
                  <a:pt x="1049" y="175"/>
                </a:cubicBezTo>
                <a:cubicBezTo>
                  <a:pt x="1049" y="113"/>
                  <a:pt x="1030" y="54"/>
                  <a:pt x="997" y="8"/>
                </a:cubicBezTo>
                <a:cubicBezTo>
                  <a:pt x="1014" y="2"/>
                  <a:pt x="1030" y="0"/>
                  <a:pt x="1049" y="0"/>
                </a:cubicBezTo>
                <a:cubicBezTo>
                  <a:pt x="1145" y="0"/>
                  <a:pt x="1224" y="79"/>
                  <a:pt x="1224" y="175"/>
                </a:cubicBezTo>
                <a:cubicBezTo>
                  <a:pt x="1224" y="270"/>
                  <a:pt x="1145" y="349"/>
                  <a:pt x="1049" y="349"/>
                </a:cubicBezTo>
                <a:close/>
                <a:moveTo>
                  <a:pt x="467" y="289"/>
                </a:moveTo>
                <a:lnTo>
                  <a:pt x="467" y="407"/>
                </a:lnTo>
                <a:lnTo>
                  <a:pt x="292" y="407"/>
                </a:lnTo>
                <a:lnTo>
                  <a:pt x="292" y="582"/>
                </a:lnTo>
                <a:lnTo>
                  <a:pt x="175" y="582"/>
                </a:lnTo>
                <a:lnTo>
                  <a:pt x="175" y="407"/>
                </a:lnTo>
                <a:lnTo>
                  <a:pt x="0" y="407"/>
                </a:lnTo>
                <a:lnTo>
                  <a:pt x="0" y="289"/>
                </a:lnTo>
                <a:lnTo>
                  <a:pt x="175" y="289"/>
                </a:lnTo>
                <a:lnTo>
                  <a:pt x="175" y="114"/>
                </a:lnTo>
                <a:lnTo>
                  <a:pt x="292" y="114"/>
                </a:lnTo>
                <a:lnTo>
                  <a:pt x="292" y="289"/>
                </a:lnTo>
                <a:lnTo>
                  <a:pt x="467" y="2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Freeform 15">
            <a:extLst>
              <a:ext uri="{FF2B5EF4-FFF2-40B4-BE49-F238E27FC236}">
                <a16:creationId xmlns:a16="http://schemas.microsoft.com/office/drawing/2014/main" id="{552392C6-9E0E-0AC1-1E7C-CF110010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1843" y="3069460"/>
            <a:ext cx="294409" cy="236419"/>
          </a:xfrm>
          <a:custGeom>
            <a:avLst/>
            <a:gdLst>
              <a:gd name="T0" fmla="*/ 861 w 1166"/>
              <a:gd name="T1" fmla="*/ 828 h 935"/>
              <a:gd name="T2" fmla="*/ 943 w 1166"/>
              <a:gd name="T3" fmla="*/ 746 h 935"/>
              <a:gd name="T4" fmla="*/ 774 w 1166"/>
              <a:gd name="T5" fmla="*/ 576 h 935"/>
              <a:gd name="T6" fmla="*/ 815 w 1166"/>
              <a:gd name="T7" fmla="*/ 437 h 935"/>
              <a:gd name="T8" fmla="*/ 552 w 1166"/>
              <a:gd name="T9" fmla="*/ 174 h 935"/>
              <a:gd name="T10" fmla="*/ 290 w 1166"/>
              <a:gd name="T11" fmla="*/ 437 h 935"/>
              <a:gd name="T12" fmla="*/ 552 w 1166"/>
              <a:gd name="T13" fmla="*/ 699 h 935"/>
              <a:gd name="T14" fmla="*/ 692 w 1166"/>
              <a:gd name="T15" fmla="*/ 658 h 935"/>
              <a:gd name="T16" fmla="*/ 861 w 1166"/>
              <a:gd name="T17" fmla="*/ 828 h 935"/>
              <a:gd name="T18" fmla="*/ 1050 w 1166"/>
              <a:gd name="T19" fmla="*/ 0 h 935"/>
              <a:gd name="T20" fmla="*/ 1165 w 1166"/>
              <a:gd name="T21" fmla="*/ 117 h 935"/>
              <a:gd name="T22" fmla="*/ 1165 w 1166"/>
              <a:gd name="T23" fmla="*/ 817 h 935"/>
              <a:gd name="T24" fmla="*/ 1050 w 1166"/>
              <a:gd name="T25" fmla="*/ 934 h 935"/>
              <a:gd name="T26" fmla="*/ 115 w 1166"/>
              <a:gd name="T27" fmla="*/ 934 h 935"/>
              <a:gd name="T28" fmla="*/ 0 w 1166"/>
              <a:gd name="T29" fmla="*/ 817 h 935"/>
              <a:gd name="T30" fmla="*/ 0 w 1166"/>
              <a:gd name="T31" fmla="*/ 117 h 935"/>
              <a:gd name="T32" fmla="*/ 115 w 1166"/>
              <a:gd name="T33" fmla="*/ 0 h 935"/>
              <a:gd name="T34" fmla="*/ 1050 w 1166"/>
              <a:gd name="T35" fmla="*/ 0 h 935"/>
              <a:gd name="T36" fmla="*/ 552 w 1166"/>
              <a:gd name="T37" fmla="*/ 292 h 935"/>
              <a:gd name="T38" fmla="*/ 700 w 1166"/>
              <a:gd name="T39" fmla="*/ 437 h 935"/>
              <a:gd name="T40" fmla="*/ 552 w 1166"/>
              <a:gd name="T41" fmla="*/ 584 h 935"/>
              <a:gd name="T42" fmla="*/ 408 w 1166"/>
              <a:gd name="T43" fmla="*/ 437 h 935"/>
              <a:gd name="T44" fmla="*/ 552 w 1166"/>
              <a:gd name="T45" fmla="*/ 292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935">
                <a:moveTo>
                  <a:pt x="861" y="828"/>
                </a:moveTo>
                <a:lnTo>
                  <a:pt x="943" y="746"/>
                </a:lnTo>
                <a:lnTo>
                  <a:pt x="774" y="576"/>
                </a:lnTo>
                <a:cubicBezTo>
                  <a:pt x="798" y="535"/>
                  <a:pt x="815" y="489"/>
                  <a:pt x="815" y="437"/>
                </a:cubicBezTo>
                <a:cubicBezTo>
                  <a:pt x="815" y="292"/>
                  <a:pt x="697" y="174"/>
                  <a:pt x="552" y="174"/>
                </a:cubicBezTo>
                <a:cubicBezTo>
                  <a:pt x="407" y="174"/>
                  <a:pt x="290" y="292"/>
                  <a:pt x="290" y="437"/>
                </a:cubicBezTo>
                <a:cubicBezTo>
                  <a:pt x="290" y="582"/>
                  <a:pt x="408" y="699"/>
                  <a:pt x="552" y="699"/>
                </a:cubicBezTo>
                <a:cubicBezTo>
                  <a:pt x="604" y="699"/>
                  <a:pt x="651" y="683"/>
                  <a:pt x="692" y="658"/>
                </a:cubicBezTo>
                <a:lnTo>
                  <a:pt x="861" y="828"/>
                </a:lnTo>
                <a:close/>
                <a:moveTo>
                  <a:pt x="1050" y="0"/>
                </a:moveTo>
                <a:cubicBezTo>
                  <a:pt x="1113" y="0"/>
                  <a:pt x="1165" y="54"/>
                  <a:pt x="1165" y="117"/>
                </a:cubicBezTo>
                <a:lnTo>
                  <a:pt x="1165" y="817"/>
                </a:lnTo>
                <a:cubicBezTo>
                  <a:pt x="1165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552" y="292"/>
                </a:moveTo>
                <a:cubicBezTo>
                  <a:pt x="632" y="292"/>
                  <a:pt x="700" y="358"/>
                  <a:pt x="700" y="437"/>
                </a:cubicBezTo>
                <a:cubicBezTo>
                  <a:pt x="700" y="516"/>
                  <a:pt x="631" y="584"/>
                  <a:pt x="552" y="584"/>
                </a:cubicBezTo>
                <a:cubicBezTo>
                  <a:pt x="472" y="584"/>
                  <a:pt x="408" y="516"/>
                  <a:pt x="408" y="437"/>
                </a:cubicBezTo>
                <a:cubicBezTo>
                  <a:pt x="408" y="358"/>
                  <a:pt x="473" y="292"/>
                  <a:pt x="552" y="2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6B2021-E684-97EA-7F1E-5C3AA328FEE7}"/>
              </a:ext>
            </a:extLst>
          </p:cNvPr>
          <p:cNvSpPr txBox="1"/>
          <p:nvPr/>
        </p:nvSpPr>
        <p:spPr>
          <a:xfrm>
            <a:off x="2024085" y="3445178"/>
            <a:ext cx="1470331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勤奋度圈选主播分析报告</a:t>
            </a:r>
            <a:endParaRPr lang="zh-CN" altLang="en-US" sz="1659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434D90-66E3-F6EC-0006-18365F6496C8}"/>
              </a:ext>
            </a:extLst>
          </p:cNvPr>
          <p:cNvSpPr txBox="1"/>
          <p:nvPr/>
        </p:nvSpPr>
        <p:spPr>
          <a:xfrm>
            <a:off x="4316519" y="3445712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818</a:t>
            </a:r>
            <a:r>
              <a:rPr lang="zh-CN" altLang="en-US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大促日报</a:t>
            </a:r>
            <a:endParaRPr lang="zh-CN" altLang="en-US" sz="1659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061A7-6E58-B170-2345-C2406EB11E4E}"/>
              </a:ext>
            </a:extLst>
          </p:cNvPr>
          <p:cNvSpPr txBox="1"/>
          <p:nvPr/>
        </p:nvSpPr>
        <p:spPr>
          <a:xfrm>
            <a:off x="6525681" y="3445712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达人粉丝</a:t>
            </a:r>
            <a:r>
              <a:rPr lang="en-US" altLang="zh-CN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</a:t>
            </a:r>
            <a:r>
              <a:rPr lang="zh-CN" altLang="en-US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对</a:t>
            </a:r>
            <a:endParaRPr lang="zh-CN" altLang="en-US" sz="1659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293889-0708-54E8-F8CD-F6BCA56AC2A9}"/>
              </a:ext>
            </a:extLst>
          </p:cNvPr>
          <p:cNvSpPr txBox="1"/>
          <p:nvPr/>
        </p:nvSpPr>
        <p:spPr>
          <a:xfrm>
            <a:off x="8734843" y="3445712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日报业绩达成</a:t>
            </a:r>
            <a:endParaRPr lang="zh-CN" altLang="en-US" sz="1659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838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A2F2-4179-ACF9-C0C6-E9B761EC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hinkcell data - do not delete" hidden="1">
            <a:extLst>
              <a:ext uri="{FF2B5EF4-FFF2-40B4-BE49-F238E27FC236}">
                <a16:creationId xmlns:a16="http://schemas.microsoft.com/office/drawing/2014/main" id="{92204ABC-7516-4DDC-13EA-3138059DC4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2707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圆角矩形 44">
            <a:extLst>
              <a:ext uri="{FF2B5EF4-FFF2-40B4-BE49-F238E27FC236}">
                <a16:creationId xmlns:a16="http://schemas.microsoft.com/office/drawing/2014/main" id="{DE80E38D-28B4-1028-BB0A-D4E0B8C1CDA4}"/>
              </a:ext>
            </a:extLst>
          </p:cNvPr>
          <p:cNvSpPr/>
          <p:nvPr/>
        </p:nvSpPr>
        <p:spPr>
          <a:xfrm>
            <a:off x="5028505" y="1449313"/>
            <a:ext cx="2536466" cy="443559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F7F1DC-8742-ACF9-6E27-90FED4393539}"/>
              </a:ext>
            </a:extLst>
          </p:cNvPr>
          <p:cNvSpPr txBox="1"/>
          <p:nvPr/>
        </p:nvSpPr>
        <p:spPr>
          <a:xfrm>
            <a:off x="888810" y="284936"/>
            <a:ext cx="7098443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12" b="1" dirty="0">
                <a:solidFill>
                  <a:schemeClr val="accent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Agent</a:t>
            </a:r>
            <a:r>
              <a:rPr lang="zh-CN" altLang="en-US" sz="2212" b="1" dirty="0">
                <a:solidFill>
                  <a:schemeClr val="accent1"/>
                </a:solidFill>
                <a:latin typeface="Alibaba PuHuiTi" panose="00020600040101010101" pitchFamily="18" charset="-122"/>
                <a:ea typeface="Alibaba PuHuiTi" panose="00020600040101010101" pitchFamily="18" charset="-122"/>
                <a:cs typeface="Alibaba PuHuiTi" panose="00020600040101010101" pitchFamily="18" charset="-122"/>
              </a:rPr>
              <a:t>会撒谎｜每步验证执行进度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F9D209-3F43-7B5C-4D40-EC588440D820}"/>
              </a:ext>
            </a:extLst>
          </p:cNvPr>
          <p:cNvCxnSpPr/>
          <p:nvPr/>
        </p:nvCxnSpPr>
        <p:spPr>
          <a:xfrm>
            <a:off x="888810" y="719749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62750660-8970-1112-DC66-F9F36EC739FC}"/>
              </a:ext>
            </a:extLst>
          </p:cNvPr>
          <p:cNvSpPr/>
          <p:nvPr/>
        </p:nvSpPr>
        <p:spPr>
          <a:xfrm>
            <a:off x="8512176" y="1724475"/>
            <a:ext cx="2665566" cy="1103865"/>
          </a:xfrm>
          <a:custGeom>
            <a:avLst/>
            <a:gdLst>
              <a:gd name="connsiteX0" fmla="*/ 0 w 2892551"/>
              <a:gd name="connsiteY0" fmla="*/ 0 h 1197864"/>
              <a:gd name="connsiteX1" fmla="*/ 2892552 w 2892551"/>
              <a:gd name="connsiteY1" fmla="*/ 0 h 1197864"/>
              <a:gd name="connsiteX2" fmla="*/ 2892552 w 2892551"/>
              <a:gd name="connsiteY2" fmla="*/ 1197864 h 1197864"/>
              <a:gd name="connsiteX3" fmla="*/ 0 w 2892551"/>
              <a:gd name="connsiteY3" fmla="*/ 1197864 h 119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2551" h="1197864">
                <a:moveTo>
                  <a:pt x="0" y="0"/>
                </a:moveTo>
                <a:lnTo>
                  <a:pt x="2892552" y="0"/>
                </a:lnTo>
                <a:lnTo>
                  <a:pt x="2892552" y="1197864"/>
                </a:lnTo>
                <a:lnTo>
                  <a:pt x="0" y="1197864"/>
                </a:lnTo>
                <a:close/>
              </a:path>
            </a:pathLst>
          </a:custGeom>
          <a:solidFill>
            <a:schemeClr val="accent3">
              <a:alpha val="10000"/>
            </a:schemeClr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A998847B-02A3-2299-FDAC-B366A606DC82}"/>
              </a:ext>
            </a:extLst>
          </p:cNvPr>
          <p:cNvSpPr/>
          <p:nvPr/>
        </p:nvSpPr>
        <p:spPr>
          <a:xfrm>
            <a:off x="8512176" y="3224830"/>
            <a:ext cx="2665566" cy="1103865"/>
          </a:xfrm>
          <a:custGeom>
            <a:avLst/>
            <a:gdLst>
              <a:gd name="connsiteX0" fmla="*/ 0 w 2892551"/>
              <a:gd name="connsiteY0" fmla="*/ 0 h 1197864"/>
              <a:gd name="connsiteX1" fmla="*/ 2892552 w 2892551"/>
              <a:gd name="connsiteY1" fmla="*/ 0 h 1197864"/>
              <a:gd name="connsiteX2" fmla="*/ 2892552 w 2892551"/>
              <a:gd name="connsiteY2" fmla="*/ 1197864 h 1197864"/>
              <a:gd name="connsiteX3" fmla="*/ 0 w 2892551"/>
              <a:gd name="connsiteY3" fmla="*/ 1197864 h 119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2551" h="1197864">
                <a:moveTo>
                  <a:pt x="0" y="0"/>
                </a:moveTo>
                <a:lnTo>
                  <a:pt x="2892552" y="0"/>
                </a:lnTo>
                <a:lnTo>
                  <a:pt x="2892552" y="1197864"/>
                </a:lnTo>
                <a:lnTo>
                  <a:pt x="0" y="1197864"/>
                </a:lnTo>
                <a:close/>
              </a:path>
            </a:pathLst>
          </a:custGeom>
          <a:solidFill>
            <a:schemeClr val="accent3">
              <a:alpha val="10000"/>
            </a:schemeClr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799AAB8-DC23-690A-6D6D-75C386F20CC8}"/>
              </a:ext>
            </a:extLst>
          </p:cNvPr>
          <p:cNvSpPr/>
          <p:nvPr/>
        </p:nvSpPr>
        <p:spPr>
          <a:xfrm>
            <a:off x="8512176" y="4686135"/>
            <a:ext cx="2665566" cy="1103865"/>
          </a:xfrm>
          <a:custGeom>
            <a:avLst/>
            <a:gdLst>
              <a:gd name="connsiteX0" fmla="*/ 0 w 2892551"/>
              <a:gd name="connsiteY0" fmla="*/ 0 h 1197864"/>
              <a:gd name="connsiteX1" fmla="*/ 2892552 w 2892551"/>
              <a:gd name="connsiteY1" fmla="*/ 0 h 1197864"/>
              <a:gd name="connsiteX2" fmla="*/ 2892552 w 2892551"/>
              <a:gd name="connsiteY2" fmla="*/ 1197864 h 1197864"/>
              <a:gd name="connsiteX3" fmla="*/ 0 w 2892551"/>
              <a:gd name="connsiteY3" fmla="*/ 1197864 h 119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2551" h="1197864">
                <a:moveTo>
                  <a:pt x="0" y="0"/>
                </a:moveTo>
                <a:lnTo>
                  <a:pt x="2892552" y="0"/>
                </a:lnTo>
                <a:lnTo>
                  <a:pt x="2892552" y="1197864"/>
                </a:lnTo>
                <a:lnTo>
                  <a:pt x="0" y="1197864"/>
                </a:lnTo>
                <a:close/>
              </a:path>
            </a:pathLst>
          </a:custGeom>
          <a:solidFill>
            <a:schemeClr val="accent3">
              <a:alpha val="10000"/>
            </a:schemeClr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1659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71252F9-2511-53B6-571E-6D1E111E912A}"/>
              </a:ext>
            </a:extLst>
          </p:cNvPr>
          <p:cNvSpPr/>
          <p:nvPr/>
        </p:nvSpPr>
        <p:spPr>
          <a:xfrm>
            <a:off x="1291170" y="1375517"/>
            <a:ext cx="2911718" cy="66056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</a:t>
            </a:r>
            <a:r>
              <a:rPr lang="zh-CN" altLang="en-US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声称已运行完毕并返回结果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929EEDD-0F0B-F901-7843-B45FF9DB64BA}"/>
              </a:ext>
            </a:extLst>
          </p:cNvPr>
          <p:cNvSpPr/>
          <p:nvPr/>
        </p:nvSpPr>
        <p:spPr>
          <a:xfrm>
            <a:off x="1291170" y="2636215"/>
            <a:ext cx="2911718" cy="7719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实际上并未调用任何工具，运行流程中的</a:t>
            </a:r>
            <a:r>
              <a:rPr lang="en-US" altLang="zh-CN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python</a:t>
            </a:r>
            <a:r>
              <a:rPr lang="zh-CN" altLang="en-US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文件自动计算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6CB1265-06A8-8008-FFEC-BDF029CD4808}"/>
              </a:ext>
            </a:extLst>
          </p:cNvPr>
          <p:cNvSpPr/>
          <p:nvPr/>
        </p:nvSpPr>
        <p:spPr>
          <a:xfrm>
            <a:off x="1291170" y="3934913"/>
            <a:ext cx="2911718" cy="6683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后续可视化报告与真实数据对不上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E4F116D-1216-E8DD-6949-2D1366F0447C}"/>
              </a:ext>
            </a:extLst>
          </p:cNvPr>
          <p:cNvSpPr/>
          <p:nvPr/>
        </p:nvSpPr>
        <p:spPr>
          <a:xfrm>
            <a:off x="1291170" y="5145904"/>
            <a:ext cx="2911718" cy="7390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核查运行日志发现</a:t>
            </a:r>
            <a:r>
              <a:rPr lang="en-US" altLang="zh-CN" sz="1290" b="1" dirty="0" err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agnet</a:t>
            </a:r>
            <a:r>
              <a:rPr lang="zh-CN" altLang="en-US" sz="1290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运行过程中跳步骤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9659EB-AA09-A012-154F-42F6CFFD7A48}"/>
              </a:ext>
            </a:extLst>
          </p:cNvPr>
          <p:cNvSpPr/>
          <p:nvPr/>
        </p:nvSpPr>
        <p:spPr>
          <a:xfrm>
            <a:off x="8819389" y="1783163"/>
            <a:ext cx="2051138" cy="27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01.Plan</a:t>
            </a:r>
            <a:r>
              <a:rPr lang="zh-CN" altLang="en-US" sz="1290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状态机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FDB6541-A9D7-9667-9B38-047A49063089}"/>
              </a:ext>
            </a:extLst>
          </p:cNvPr>
          <p:cNvSpPr/>
          <p:nvPr/>
        </p:nvSpPr>
        <p:spPr>
          <a:xfrm>
            <a:off x="8819389" y="3303478"/>
            <a:ext cx="2051138" cy="27401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02.</a:t>
            </a:r>
            <a:r>
              <a:rPr lang="zh-CN" altLang="en-US" sz="1290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逐步放行检查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83F6007-F90F-A6A3-8071-4144D54536E7}"/>
              </a:ext>
            </a:extLst>
          </p:cNvPr>
          <p:cNvSpPr/>
          <p:nvPr/>
        </p:nvSpPr>
        <p:spPr>
          <a:xfrm>
            <a:off x="8819389" y="4765485"/>
            <a:ext cx="2051138" cy="27401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sz="1290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03.</a:t>
            </a:r>
            <a:r>
              <a:rPr lang="zh-CN" altLang="en-US" sz="1290" b="1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禁止虚报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47FCBF-B6D5-23B4-55D2-BDF42F85B033}"/>
              </a:ext>
            </a:extLst>
          </p:cNvPr>
          <p:cNvSpPr txBox="1"/>
          <p:nvPr/>
        </p:nvSpPr>
        <p:spPr>
          <a:xfrm>
            <a:off x="8624940" y="2101845"/>
            <a:ext cx="2440036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针对</a:t>
            </a:r>
            <a:r>
              <a:rPr lang="en-US" altLang="zh-CN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skill</a:t>
            </a:r>
            <a:r>
              <a:rPr lang="zh-CN" altLang="en-US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是描述级约束，仅是软约束的情况下可以使用平台级硬约束</a:t>
            </a:r>
            <a:r>
              <a:rPr lang="en-US" altLang="zh-CN" sz="922" dirty="0" err="1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blockedby</a:t>
            </a:r>
            <a:r>
              <a:rPr lang="zh-CN" altLang="en-US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依赖阻止跳步。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B9B2F6-1E93-FFB1-45CA-E9D549E913B6}"/>
              </a:ext>
            </a:extLst>
          </p:cNvPr>
          <p:cNvSpPr txBox="1"/>
          <p:nvPr/>
        </p:nvSpPr>
        <p:spPr>
          <a:xfrm>
            <a:off x="8624940" y="3617304"/>
            <a:ext cx="2440036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设计每步结尾校验产物（文件生成产物可查，内容结构符合预期），核验通过才能自动进行下一步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50AB1D-5E93-5EB6-BD5F-D499F0A3F18E}"/>
              </a:ext>
            </a:extLst>
          </p:cNvPr>
          <p:cNvSpPr txBox="1"/>
          <p:nvPr/>
        </p:nvSpPr>
        <p:spPr>
          <a:xfrm>
            <a:off x="8624940" y="5146544"/>
            <a:ext cx="2440036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写死禁止指令，例如：没调</a:t>
            </a:r>
            <a:r>
              <a:rPr lang="en" altLang="zh-CN" sz="922" dirty="0" err="1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write_file</a:t>
            </a:r>
            <a:r>
              <a:rPr lang="zh-CN" altLang="en-US" sz="922" dirty="0">
                <a:solidFill>
                  <a:schemeClr val="accent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为调用不得声称“已保存，每步必须有工具调用。</a:t>
            </a:r>
          </a:p>
        </p:txBody>
      </p:sp>
      <p:sp>
        <p:nvSpPr>
          <p:cNvPr id="30" name="下箭头 29">
            <a:extLst>
              <a:ext uri="{FF2B5EF4-FFF2-40B4-BE49-F238E27FC236}">
                <a16:creationId xmlns:a16="http://schemas.microsoft.com/office/drawing/2014/main" id="{26C1E5C3-A482-9555-9F68-95B1CCF80ED0}"/>
              </a:ext>
            </a:extLst>
          </p:cNvPr>
          <p:cNvSpPr/>
          <p:nvPr/>
        </p:nvSpPr>
        <p:spPr>
          <a:xfrm>
            <a:off x="2716723" y="2141599"/>
            <a:ext cx="174929" cy="326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下箭头 30">
            <a:extLst>
              <a:ext uri="{FF2B5EF4-FFF2-40B4-BE49-F238E27FC236}">
                <a16:creationId xmlns:a16="http://schemas.microsoft.com/office/drawing/2014/main" id="{0789370B-4948-2B31-DF33-632FDA8C80BE}"/>
              </a:ext>
            </a:extLst>
          </p:cNvPr>
          <p:cNvSpPr/>
          <p:nvPr/>
        </p:nvSpPr>
        <p:spPr>
          <a:xfrm>
            <a:off x="2716724" y="3480580"/>
            <a:ext cx="174929" cy="326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下箭头 40">
            <a:extLst>
              <a:ext uri="{FF2B5EF4-FFF2-40B4-BE49-F238E27FC236}">
                <a16:creationId xmlns:a16="http://schemas.microsoft.com/office/drawing/2014/main" id="{E6B6076B-B35D-5F8C-7040-F7BC2D7D8A1A}"/>
              </a:ext>
            </a:extLst>
          </p:cNvPr>
          <p:cNvSpPr/>
          <p:nvPr/>
        </p:nvSpPr>
        <p:spPr>
          <a:xfrm>
            <a:off x="2716725" y="4730851"/>
            <a:ext cx="174929" cy="326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DD889FB7-D3B4-305D-9632-9C2F0355EDF7}"/>
              </a:ext>
            </a:extLst>
          </p:cNvPr>
          <p:cNvSpPr/>
          <p:nvPr/>
        </p:nvSpPr>
        <p:spPr>
          <a:xfrm>
            <a:off x="5838531" y="1802159"/>
            <a:ext cx="950442" cy="41298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endParaRPr lang="zh-CN" altLang="en-US" sz="1843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8" name="Freeform 132">
            <a:extLst>
              <a:ext uri="{FF2B5EF4-FFF2-40B4-BE49-F238E27FC236}">
                <a16:creationId xmlns:a16="http://schemas.microsoft.com/office/drawing/2014/main" id="{9AB48505-BD5E-E4FC-4576-139430D74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39" y="2542808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5AAF06B-6F45-2B2F-4FD5-3114F9FC9011}"/>
              </a:ext>
            </a:extLst>
          </p:cNvPr>
          <p:cNvSpPr txBox="1"/>
          <p:nvPr/>
        </p:nvSpPr>
        <p:spPr>
          <a:xfrm>
            <a:off x="5619304" y="2273115"/>
            <a:ext cx="141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  <a:ea typeface="Alibaba PuHuiTi" pitchFamily="18" charset="-122"/>
              </a:rPr>
              <a:t>AI</a:t>
            </a:r>
            <a:r>
              <a:rPr lang="zh-CN" altLang="en-US" sz="1400" dirty="0">
                <a:solidFill>
                  <a:schemeClr val="accent3"/>
                </a:solidFill>
                <a:ea typeface="Alibaba PuHuiTi" pitchFamily="18" charset="-122"/>
              </a:rPr>
              <a:t>对长上下文注意力衰减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3B0A7906-C397-958A-2028-73971B907082}"/>
              </a:ext>
            </a:extLst>
          </p:cNvPr>
          <p:cNvSpPr/>
          <p:nvPr/>
        </p:nvSpPr>
        <p:spPr>
          <a:xfrm>
            <a:off x="5851080" y="2998030"/>
            <a:ext cx="950442" cy="41298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02</a:t>
            </a:r>
            <a:endParaRPr lang="zh-CN" altLang="en-US" sz="1843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9" name="Freeform 132">
            <a:extLst>
              <a:ext uri="{FF2B5EF4-FFF2-40B4-BE49-F238E27FC236}">
                <a16:creationId xmlns:a16="http://schemas.microsoft.com/office/drawing/2014/main" id="{BDB4091F-7CE7-0D8F-838A-902DCAA5C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888" y="3738679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4A089F4-55BE-ABD2-1980-F9014ED805E7}"/>
              </a:ext>
            </a:extLst>
          </p:cNvPr>
          <p:cNvSpPr txBox="1"/>
          <p:nvPr/>
        </p:nvSpPr>
        <p:spPr>
          <a:xfrm>
            <a:off x="5631853" y="3468986"/>
            <a:ext cx="1412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  <a:ea typeface="Alibaba PuHuiTi" pitchFamily="18" charset="-122"/>
              </a:rPr>
              <a:t>模型主动偷懒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46FCFB35-478D-17F6-2A5B-06B71D691662}"/>
              </a:ext>
            </a:extLst>
          </p:cNvPr>
          <p:cNvSpPr/>
          <p:nvPr/>
        </p:nvSpPr>
        <p:spPr>
          <a:xfrm>
            <a:off x="5838531" y="4306584"/>
            <a:ext cx="950442" cy="41298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03</a:t>
            </a:r>
            <a:endParaRPr lang="zh-CN" altLang="en-US" sz="1843" b="1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2" name="Freeform 132">
            <a:extLst>
              <a:ext uri="{FF2B5EF4-FFF2-40B4-BE49-F238E27FC236}">
                <a16:creationId xmlns:a16="http://schemas.microsoft.com/office/drawing/2014/main" id="{2C552856-6C7B-565F-2294-E233D9B22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39" y="5047233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D803E63-7A7E-526E-A82A-3414F4DDC0A2}"/>
              </a:ext>
            </a:extLst>
          </p:cNvPr>
          <p:cNvSpPr txBox="1"/>
          <p:nvPr/>
        </p:nvSpPr>
        <p:spPr>
          <a:xfrm>
            <a:off x="5619304" y="4777540"/>
            <a:ext cx="141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  <a:ea typeface="Alibaba PuHuiTi" pitchFamily="18" charset="-122"/>
              </a:rPr>
              <a:t>Skill</a:t>
            </a:r>
            <a:r>
              <a:rPr lang="zh-CN" altLang="en-US" sz="1400" dirty="0">
                <a:solidFill>
                  <a:schemeClr val="accent3"/>
                </a:solidFill>
                <a:ea typeface="Alibaba PuHuiTi" pitchFamily="18" charset="-122"/>
              </a:rPr>
              <a:t>步骤只有描述级约束</a:t>
            </a: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2793E3B5-F7D5-F37A-CAEA-5AEB36340CFA}"/>
              </a:ext>
            </a:extLst>
          </p:cNvPr>
          <p:cNvSpPr/>
          <p:nvPr/>
        </p:nvSpPr>
        <p:spPr>
          <a:xfrm>
            <a:off x="1201390" y="767076"/>
            <a:ext cx="3029287" cy="5029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1A524AB-570C-9226-0D36-EF9971478FF1}"/>
              </a:ext>
            </a:extLst>
          </p:cNvPr>
          <p:cNvSpPr/>
          <p:nvPr/>
        </p:nvSpPr>
        <p:spPr>
          <a:xfrm>
            <a:off x="4799014" y="782756"/>
            <a:ext cx="2995449" cy="5029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原因</a:t>
            </a:r>
          </a:p>
        </p:txBody>
      </p:sp>
      <p:sp>
        <p:nvSpPr>
          <p:cNvPr id="4" name="Rounded Rectangle 13">
            <a:extLst>
              <a:ext uri="{FF2B5EF4-FFF2-40B4-BE49-F238E27FC236}">
                <a16:creationId xmlns:a16="http://schemas.microsoft.com/office/drawing/2014/main" id="{BA811E8E-AFE2-7A16-4BE0-2B4F356F7DB7}"/>
              </a:ext>
            </a:extLst>
          </p:cNvPr>
          <p:cNvSpPr/>
          <p:nvPr/>
        </p:nvSpPr>
        <p:spPr>
          <a:xfrm>
            <a:off x="8362800" y="778438"/>
            <a:ext cx="2964316" cy="5029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解法</a:t>
            </a:r>
          </a:p>
        </p:txBody>
      </p:sp>
    </p:spTree>
    <p:extLst>
      <p:ext uri="{BB962C8B-B14F-4D97-AF65-F5344CB8AC3E}">
        <p14:creationId xmlns:p14="http://schemas.microsoft.com/office/powerpoint/2010/main" val="1436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C4AD-64FA-4446-D260-2C1C4B42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76AB26C3-10EA-30F5-30C2-E97B33C10247}"/>
              </a:ext>
            </a:extLst>
          </p:cNvPr>
          <p:cNvSpPr txBox="1"/>
          <p:nvPr/>
        </p:nvSpPr>
        <p:spPr>
          <a:xfrm>
            <a:off x="896186" y="27786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ea typeface="Alibaba PuHuiTi" pitchFamily="18" charset="-122"/>
                <a:cs typeface="Alibaba PuHuiTi" pitchFamily="18" charset="-122"/>
              </a:rPr>
              <a:t>主要工作任务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9A8961E-69E0-5986-1811-54C9CB5B7C60}"/>
              </a:ext>
            </a:extLst>
          </p:cNvPr>
          <p:cNvCxnSpPr/>
          <p:nvPr/>
        </p:nvCxnSpPr>
        <p:spPr>
          <a:xfrm>
            <a:off x="983954" y="710695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9">
            <a:extLst>
              <a:ext uri="{FF2B5EF4-FFF2-40B4-BE49-F238E27FC236}">
                <a16:creationId xmlns:a16="http://schemas.microsoft.com/office/drawing/2014/main" id="{37C0A7A4-42A9-D2AA-49DB-A5C9D055AC9E}"/>
              </a:ext>
            </a:extLst>
          </p:cNvPr>
          <p:cNvSpPr/>
          <p:nvPr/>
        </p:nvSpPr>
        <p:spPr>
          <a:xfrm>
            <a:off x="1329679" y="2763875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4C3A18E0-C9D9-2A03-1BB7-71E0DE9D227B}"/>
              </a:ext>
            </a:extLst>
          </p:cNvPr>
          <p:cNvSpPr/>
          <p:nvPr/>
        </p:nvSpPr>
        <p:spPr>
          <a:xfrm>
            <a:off x="2382985" y="2527935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项目三：目标测算与常态化大盘分析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Q3过程目标测算下发 · WBR/MBR/818复盘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目标下发业务线；拆解定位大盘结构性问题</a:t>
            </a:r>
          </a:p>
        </p:txBody>
      </p:sp>
    </p:spTree>
    <p:extLst>
      <p:ext uri="{BB962C8B-B14F-4D97-AF65-F5344CB8AC3E}">
        <p14:creationId xmlns:p14="http://schemas.microsoft.com/office/powerpoint/2010/main" val="148844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69336" y="1356659"/>
            <a:ext cx="58985" cy="20223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7" name="Rectangle 6"/>
          <p:cNvSpPr/>
          <p:nvPr/>
        </p:nvSpPr>
        <p:spPr>
          <a:xfrm>
            <a:off x="1321011" y="1306100"/>
            <a:ext cx="4634548" cy="303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90" b="1">
                <a:solidFill>
                  <a:srgbClr val="2E75B6"/>
                </a:solidFill>
                <a:latin typeface="微软雅黑"/>
                <a:ea typeface="微软雅黑"/>
              </a:rPr>
              <a:t>业务逻辑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1643158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精品与达人：人设型商家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微软雅黑"/>
                <a:ea typeface="微软雅黑"/>
              </a:rPr>
              <a:t>靠主播个人 IP 经营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70269" y="2110826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0" name="Rounded Rectangle 9"/>
          <p:cNvSpPr/>
          <p:nvPr/>
        </p:nvSpPr>
        <p:spPr>
          <a:xfrm>
            <a:off x="4624180" y="1643158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依靠主播个人 IP 直播带货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微软雅黑"/>
                <a:ea typeface="微软雅黑"/>
              </a:rPr>
              <a:t>经营命脉是开播供给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5114" y="2110826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2" name="Rounded Rectangle 11"/>
          <p:cNvSpPr/>
          <p:nvPr/>
        </p:nvSpPr>
        <p:spPr>
          <a:xfrm>
            <a:off x="8079024" y="1643158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开播供给是 GMV 基础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微软雅黑"/>
                <a:ea typeface="微软雅黑"/>
              </a:rPr>
              <a:t>人在播、播得勤，GMV 才有基础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9336" y="3100934"/>
            <a:ext cx="58985" cy="20223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4" name="Rectangle 13"/>
          <p:cNvSpPr/>
          <p:nvPr/>
        </p:nvSpPr>
        <p:spPr>
          <a:xfrm>
            <a:off x="1321011" y="3050375"/>
            <a:ext cx="4634548" cy="303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90" b="1">
                <a:solidFill>
                  <a:srgbClr val="2E75B6"/>
                </a:solidFill>
                <a:latin typeface="微软雅黑"/>
                <a:ea typeface="微软雅黑"/>
              </a:rPr>
              <a:t>管理逻辑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9335" y="3387432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GMV 结果目标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微软雅黑"/>
                <a:ea typeface="微软雅黑"/>
              </a:rPr>
              <a:t>下行期结果指标指导不了动作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70269" y="3855100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7" name="Rounded Rectangle 16"/>
          <p:cNvSpPr/>
          <p:nvPr/>
        </p:nvSpPr>
        <p:spPr>
          <a:xfrm>
            <a:off x="4624180" y="3387432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考勤奋度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D9E2F3"/>
                </a:solidFill>
                <a:latin typeface="微软雅黑"/>
                <a:ea typeface="微软雅黑"/>
              </a:rPr>
              <a:t>最直接、最可管的过程抓手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25114" y="3855100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9" name="Rounded Rectangle 18"/>
          <p:cNvSpPr/>
          <p:nvPr/>
        </p:nvSpPr>
        <p:spPr>
          <a:xfrm>
            <a:off x="8079024" y="3387432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可日常管理的过程目标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微软雅黑"/>
                <a:ea typeface="微软雅黑"/>
              </a:rPr>
              <a:t>把 GMV 结果目标翻译成过程目标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9335" y="4929473"/>
            <a:ext cx="9858947" cy="5224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51676" rtlCol="0" anchor="ctr"/>
          <a:lstStyle/>
          <a:p>
            <a:pPr algn="l">
              <a:lnSpc>
                <a:spcPct val="115000"/>
              </a:lnSpc>
            </a:pPr>
            <a:r>
              <a:rPr sz="1244" b="1">
                <a:solidFill>
                  <a:srgbClr val="1F4E79"/>
                </a:solidFill>
                <a:latin typeface="微软雅黑"/>
                <a:ea typeface="微软雅黑"/>
              </a:rPr>
              <a:t>本质：考勤奋度，就是把 GMV 结果目标翻译成可日常管理的过程目标。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65C57C-9F49-58C1-4197-AF638B19EA12}"/>
              </a:ext>
            </a:extLst>
          </p:cNvPr>
          <p:cNvSpPr txBox="1"/>
          <p:nvPr/>
        </p:nvSpPr>
        <p:spPr>
          <a:xfrm>
            <a:off x="988926" y="547436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过程指标测算｜为什么要考勤奋度</a:t>
            </a:r>
          </a:p>
        </p:txBody>
      </p:sp>
      <p:cxnSp>
        <p:nvCxnSpPr>
          <p:cNvPr id="23" name="直接连接符 8">
            <a:extLst>
              <a:ext uri="{FF2B5EF4-FFF2-40B4-BE49-F238E27FC236}">
                <a16:creationId xmlns:a16="http://schemas.microsoft.com/office/drawing/2014/main" id="{181D9FDE-E6EF-1A3B-38EF-DE87E6B7FC5C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169335" y="1432497"/>
            <a:ext cx="3117787" cy="1263968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耦合 GMV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效率倒推：行业整体 GMV → 圈选名单真人直播 GMV → ÷ 单小时 GMV → 时长目标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9335" y="1280821"/>
            <a:ext cx="1095439" cy="2864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014" b="1">
                <a:solidFill>
                  <a:srgbClr val="FFFFFF"/>
                </a:solidFill>
                <a:latin typeface="微软雅黑"/>
                <a:ea typeface="微软雅黑"/>
              </a:rPr>
              <a:t>实际采用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2949258"/>
            <a:ext cx="3117787" cy="126396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595959"/>
                </a:solidFill>
                <a:latin typeface="微软雅黑"/>
                <a:ea typeface="微软雅黑"/>
              </a:rPr>
              <a:t>不耦合 GMV</a:t>
            </a:r>
          </a:p>
          <a:p>
            <a:pPr algn="l">
              <a:lnSpc>
                <a:spcPct val="115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平推加压：基于现有开播水平往上加压，看开播率、人均开播天数、人日均推流时长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9335" y="4508151"/>
            <a:ext cx="3117787" cy="800513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970" rIns="117970" rtlCol="0" anchor="ctr"/>
          <a:lstStyle/>
          <a:p>
            <a:pPr algn="l">
              <a:lnSpc>
                <a:spcPct val="115000"/>
              </a:lnSpc>
            </a:pPr>
            <a:r>
              <a:rPr sz="1060">
                <a:solidFill>
                  <a:srgbClr val="595959"/>
                </a:solidFill>
                <a:latin typeface="微软雅黑"/>
                <a:ea typeface="微软雅黑"/>
              </a:rPr>
              <a:t>口径：全部为有效开播、剔数字人和录播；Q3 测算中进一步剔除了私密直播的干扰。</a:t>
            </a:r>
          </a:p>
        </p:txBody>
      </p:sp>
      <p:sp>
        <p:nvSpPr>
          <p:cNvPr id="10" name="Oval 9"/>
          <p:cNvSpPr/>
          <p:nvPr/>
        </p:nvSpPr>
        <p:spPr>
          <a:xfrm>
            <a:off x="4729510" y="1685290"/>
            <a:ext cx="707821" cy="5224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4237" y="1432497"/>
            <a:ext cx="5519325" cy="99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5382" rtlCol="0" anchor="ctr"/>
          <a:lstStyle/>
          <a:p>
            <a:pPr algn="l">
              <a:lnSpc>
                <a:spcPct val="115000"/>
              </a:lnSpc>
            </a:pPr>
            <a:r>
              <a:rPr sz="1474" b="1" dirty="0" err="1">
                <a:solidFill>
                  <a:srgbClr val="1F4E79"/>
                </a:solidFill>
                <a:latin typeface="微软雅黑"/>
                <a:ea typeface="微软雅黑"/>
              </a:rPr>
              <a:t>占比</a:t>
            </a:r>
            <a:r>
              <a:rPr lang="zh-CN" altLang="en-US" sz="1474" b="1" dirty="0">
                <a:solidFill>
                  <a:srgbClr val="1F4E79"/>
                </a:solidFill>
                <a:latin typeface="微软雅黑"/>
                <a:ea typeface="微软雅黑"/>
              </a:rPr>
              <a:t> </a:t>
            </a:r>
            <a:r>
              <a:rPr sz="1474" b="1" dirty="0">
                <a:solidFill>
                  <a:srgbClr val="1F4E79"/>
                </a:solidFill>
                <a:latin typeface="微软雅黑"/>
                <a:ea typeface="微软雅黑"/>
              </a:rPr>
              <a:t>follow Q3TD水平</a:t>
            </a:r>
          </a:p>
          <a:p>
            <a:pPr algn="l">
              <a:lnSpc>
                <a:spcPct val="115000"/>
              </a:lnSpc>
            </a:pPr>
            <a:r>
              <a:rPr sz="1152" dirty="0" err="1">
                <a:solidFill>
                  <a:srgbClr val="595959"/>
                </a:solidFill>
                <a:latin typeface="微软雅黑"/>
                <a:ea typeface="微软雅黑"/>
              </a:rPr>
              <a:t>真人直播</a:t>
            </a:r>
            <a:r>
              <a:rPr lang="zh-CN" altLang="en-US" sz="1152" dirty="0">
                <a:solidFill>
                  <a:srgbClr val="595959"/>
                </a:solidFill>
                <a:latin typeface="微软雅黑"/>
                <a:ea typeface="微软雅黑"/>
              </a:rPr>
              <a:t> </a:t>
            </a:r>
            <a:r>
              <a:rPr sz="1152" dirty="0">
                <a:solidFill>
                  <a:srgbClr val="595959"/>
                </a:solidFill>
                <a:latin typeface="微软雅黑"/>
                <a:ea typeface="微软雅黑"/>
              </a:rPr>
              <a:t>GMV =</a:t>
            </a:r>
            <a:r>
              <a:rPr sz="1152" dirty="0" err="1">
                <a:solidFill>
                  <a:srgbClr val="595959"/>
                </a:solidFill>
                <a:latin typeface="微软雅黑"/>
                <a:ea typeface="微软雅黑"/>
              </a:rPr>
              <a:t>行业整体支付</a:t>
            </a:r>
            <a:r>
              <a:rPr sz="1152" dirty="0">
                <a:solidFill>
                  <a:srgbClr val="595959"/>
                </a:solidFill>
                <a:latin typeface="微软雅黑"/>
                <a:ea typeface="微软雅黑"/>
              </a:rPr>
              <a:t> GMV × </a:t>
            </a:r>
            <a:r>
              <a:rPr sz="1152" dirty="0" err="1">
                <a:solidFill>
                  <a:srgbClr val="595959"/>
                </a:solidFill>
                <a:latin typeface="微软雅黑"/>
                <a:ea typeface="微软雅黑"/>
              </a:rPr>
              <a:t>圈选名单占比</a:t>
            </a:r>
            <a:endParaRPr sz="1152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4994944" y="2275142"/>
            <a:ext cx="168529" cy="286499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3" name="Oval 12"/>
          <p:cNvSpPr/>
          <p:nvPr/>
        </p:nvSpPr>
        <p:spPr>
          <a:xfrm>
            <a:off x="4721083" y="2879130"/>
            <a:ext cx="716249" cy="5224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4237" y="2654332"/>
            <a:ext cx="5519325" cy="99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5382" rtlCol="0" anchor="ctr"/>
          <a:lstStyle/>
          <a:p>
            <a:pPr algn="l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单小时 GMV 对齐 Q2-YoY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参考 Q2 季度内趋势，锚定近期同比水平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994944" y="3496977"/>
            <a:ext cx="168529" cy="286499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6" name="Oval 15"/>
          <p:cNvSpPr/>
          <p:nvPr/>
        </p:nvSpPr>
        <p:spPr>
          <a:xfrm>
            <a:off x="4721083" y="4106676"/>
            <a:ext cx="716248" cy="5224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4237" y="3876167"/>
            <a:ext cx="5519325" cy="99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5382" rtlCol="0" anchor="ctr"/>
          <a:lstStyle/>
          <a:p>
            <a:pPr algn="l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倒推时长目标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真人直播时长 = 真人直播 GMV ÷ 单小时直播 GMV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9E5642-B523-CBD3-07E7-EA2B578CE6AE}"/>
              </a:ext>
            </a:extLst>
          </p:cNvPr>
          <p:cNvSpPr txBox="1"/>
          <p:nvPr/>
        </p:nvSpPr>
        <p:spPr>
          <a:xfrm>
            <a:off x="1161754" y="505303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过程指标测算｜测算链路</a:t>
            </a:r>
          </a:p>
        </p:txBody>
      </p:sp>
      <p:cxnSp>
        <p:nvCxnSpPr>
          <p:cNvPr id="19" name="直接连接符 8">
            <a:extLst>
              <a:ext uri="{FF2B5EF4-FFF2-40B4-BE49-F238E27FC236}">
                <a16:creationId xmlns:a16="http://schemas.microsoft.com/office/drawing/2014/main" id="{FBC7DC42-2211-37B1-1F58-2DB00495374D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69335" y="5940647"/>
            <a:ext cx="9858947" cy="2527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922">
                <a:solidFill>
                  <a:srgbClr val="999999"/>
                </a:solidFill>
                <a:latin typeface="微软雅黑"/>
                <a:ea typeface="微软雅黑"/>
              </a:rPr>
              <a:t>目标测算与大盘常态化分析 ｜ 3 /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69336" y="1474629"/>
          <a:ext cx="5561457" cy="2443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45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行业</a:t>
                      </a:r>
                    </a:p>
                  </a:txBody>
                  <a:tcPr marL="84265" marR="84265" marT="42132" marB="421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QTD 平推</a:t>
                      </a:r>
                    </a:p>
                  </a:txBody>
                  <a:tcPr marL="84265" marR="84265" marT="42132" marB="421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Q2 平推</a:t>
                      </a:r>
                    </a:p>
                  </a:txBody>
                  <a:tcPr marL="84265" marR="84265" marT="42132" marB="421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5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达人</a:t>
                      </a:r>
                    </a:p>
                  </a:txBody>
                  <a:tcPr marL="84265" marR="84265" marT="42132" marB="4213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90.5%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92.3%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5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精品</a:t>
                      </a:r>
                    </a:p>
                  </a:txBody>
                  <a:tcPr marL="84265" marR="84265" marT="42132" marB="4213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87.1%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92.5%</a:t>
                      </a:r>
                    </a:p>
                  </a:txBody>
                  <a:tcPr marL="84265" marR="84265" marT="42132" marB="421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50998" y="1474629"/>
            <a:ext cx="4002564" cy="13903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怎么验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微软雅黑"/>
                <a:ea typeface="微软雅黑"/>
              </a:rPr>
              <a:t>算出时长目标后，用 QTD 和 Q2 数据各平推一版，交叉验证目标合理性，两版互相印证、卡出完成率区间。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0998" y="3075655"/>
            <a:ext cx="4002564" cy="13903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17970" rtlCol="0" anchor="ctr"/>
          <a:lstStyle/>
          <a:p>
            <a:pPr algn="l">
              <a:lnSpc>
                <a:spcPct val="115000"/>
              </a:lnSpc>
            </a:pPr>
            <a:r>
              <a:rPr sz="1474" b="1" dirty="0" err="1">
                <a:solidFill>
                  <a:srgbClr val="1F4E79"/>
                </a:solidFill>
                <a:latin typeface="微软雅黑"/>
                <a:ea typeface="微软雅黑"/>
              </a:rPr>
              <a:t>结论</a:t>
            </a:r>
            <a:endParaRPr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</a:pPr>
            <a:r>
              <a:rPr sz="1152" dirty="0" err="1">
                <a:solidFill>
                  <a:srgbClr val="595959"/>
                </a:solidFill>
                <a:latin typeface="微软雅黑"/>
                <a:ea typeface="微软雅黑"/>
              </a:rPr>
              <a:t>对人设型商家就是要多播，高标准是主动施压、传导管理意图</a:t>
            </a:r>
            <a:r>
              <a:rPr lang="zh-CN" altLang="en-US" sz="1152" dirty="0">
                <a:solidFill>
                  <a:srgbClr val="595959"/>
                </a:solidFill>
                <a:latin typeface="微软雅黑"/>
                <a:ea typeface="微软雅黑"/>
              </a:rPr>
              <a:t>。</a:t>
            </a:r>
            <a:endParaRPr sz="1152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69335" y="4929473"/>
            <a:ext cx="9858947" cy="5224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51676" rtlCol="0" anchor="ctr"/>
          <a:lstStyle/>
          <a:p>
            <a:pPr algn="l">
              <a:lnSpc>
                <a:spcPct val="115000"/>
              </a:lnSpc>
            </a:pPr>
            <a:r>
              <a:rPr sz="1244" b="1" dirty="0" err="1">
                <a:solidFill>
                  <a:srgbClr val="1F4E79"/>
                </a:solidFill>
                <a:latin typeface="微软雅黑"/>
                <a:ea typeface="微软雅黑"/>
              </a:rPr>
              <a:t>达成复盘（截至</a:t>
            </a:r>
            <a:r>
              <a:rPr sz="1244" b="1" dirty="0">
                <a:solidFill>
                  <a:srgbClr val="1F4E79"/>
                </a:solidFill>
                <a:latin typeface="微软雅黑"/>
                <a:ea typeface="微软雅黑"/>
              </a:rPr>
              <a:t> 9/30）：</a:t>
            </a:r>
            <a:r>
              <a:rPr sz="1244" b="1" dirty="0" err="1">
                <a:solidFill>
                  <a:srgbClr val="1F4E79"/>
                </a:solidFill>
                <a:latin typeface="微软雅黑"/>
                <a:ea typeface="微软雅黑"/>
              </a:rPr>
              <a:t>达人</a:t>
            </a:r>
            <a:r>
              <a:rPr sz="1244" b="1" dirty="0">
                <a:solidFill>
                  <a:srgbClr val="1F4E79"/>
                </a:solidFill>
                <a:latin typeface="微软雅黑"/>
                <a:ea typeface="微软雅黑"/>
              </a:rPr>
              <a:t> QTD </a:t>
            </a:r>
            <a:r>
              <a:rPr sz="1244" b="1" dirty="0" err="1">
                <a:solidFill>
                  <a:srgbClr val="1F4E79"/>
                </a:solidFill>
                <a:latin typeface="微软雅黑"/>
                <a:ea typeface="微软雅黑"/>
              </a:rPr>
              <a:t>达成</a:t>
            </a:r>
            <a:r>
              <a:rPr sz="1244" b="1" dirty="0">
                <a:solidFill>
                  <a:srgbClr val="1F4E79"/>
                </a:solidFill>
                <a:latin typeface="微软雅黑"/>
                <a:ea typeface="微软雅黑"/>
              </a:rPr>
              <a:t> 86.71%、</a:t>
            </a:r>
            <a:r>
              <a:rPr sz="1244" b="1" dirty="0" err="1">
                <a:solidFill>
                  <a:srgbClr val="1F4E79"/>
                </a:solidFill>
                <a:latin typeface="微软雅黑"/>
                <a:ea typeface="微软雅黑"/>
              </a:rPr>
              <a:t>精品</a:t>
            </a:r>
            <a:r>
              <a:rPr sz="1244" b="1" dirty="0">
                <a:solidFill>
                  <a:srgbClr val="1F4E79"/>
                </a:solidFill>
                <a:latin typeface="微软雅黑"/>
                <a:ea typeface="微软雅黑"/>
              </a:rPr>
              <a:t> 83.74%，</a:t>
            </a:r>
            <a:r>
              <a:rPr sz="1244" b="1" dirty="0" err="1">
                <a:solidFill>
                  <a:srgbClr val="1F4E79"/>
                </a:solidFill>
                <a:latin typeface="微软雅黑"/>
                <a:ea typeface="微软雅黑"/>
              </a:rPr>
              <a:t>相对位置和量级与测算一致</a:t>
            </a:r>
            <a:r>
              <a:rPr lang="zh-CN" altLang="en-US" sz="1244" b="1" dirty="0">
                <a:solidFill>
                  <a:srgbClr val="1F4E79"/>
                </a:solidFill>
                <a:latin typeface="微软雅黑"/>
                <a:ea typeface="微软雅黑"/>
              </a:rPr>
              <a:t>，表明</a:t>
            </a:r>
            <a:r>
              <a:rPr sz="1244" b="1" dirty="0" err="1">
                <a:solidFill>
                  <a:srgbClr val="1F4E79"/>
                </a:solidFill>
                <a:latin typeface="微软雅黑"/>
                <a:ea typeface="微软雅黑"/>
              </a:rPr>
              <a:t>目标压力方向对</a:t>
            </a:r>
            <a:r>
              <a:rPr sz="1244" b="1" dirty="0">
                <a:solidFill>
                  <a:srgbClr val="1F4E79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0B5698-F939-E233-B41F-9626148EF1D3}"/>
              </a:ext>
            </a:extLst>
          </p:cNvPr>
          <p:cNvSpPr txBox="1"/>
          <p:nvPr/>
        </p:nvSpPr>
        <p:spPr>
          <a:xfrm>
            <a:off x="1161754" y="532083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过程指标测算｜测算链路</a:t>
            </a:r>
          </a:p>
        </p:txBody>
      </p:sp>
      <p:cxnSp>
        <p:nvCxnSpPr>
          <p:cNvPr id="15" name="直接连接符 8">
            <a:extLst>
              <a:ext uri="{FF2B5EF4-FFF2-40B4-BE49-F238E27FC236}">
                <a16:creationId xmlns:a16="http://schemas.microsoft.com/office/drawing/2014/main" id="{FED3CEA4-BFF5-965F-3BFF-5F0899A1A6EA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69335" y="5940647"/>
            <a:ext cx="9858947" cy="2527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lnSpc>
                <a:spcPct val="112000"/>
              </a:lnSpc>
            </a:pPr>
            <a:r>
              <a:rPr sz="922">
                <a:solidFill>
                  <a:srgbClr val="999999"/>
                </a:solidFill>
                <a:latin typeface="微软雅黑"/>
                <a:ea typeface="微软雅黑"/>
              </a:rPr>
              <a:t>目标测算与大盘常态化分析 ｜ 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9335" y="1306100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微软雅黑"/>
                <a:ea typeface="微软雅黑"/>
              </a:rPr>
              <a:t>供给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微软雅黑"/>
                <a:ea typeface="微软雅黑"/>
              </a:rPr>
              <a:t>好商品 · 好商家 · 持续供给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2317274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动销商家与店效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动销商家规模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单店产出效率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9335" y="3749770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经营勤奋度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上新与商品运营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商家运营动作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54534" y="2864993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1" name="Rounded Rectangle 10"/>
          <p:cNvSpPr/>
          <p:nvPr/>
        </p:nvSpPr>
        <p:spPr>
          <a:xfrm>
            <a:off x="4624180" y="1306100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微软雅黑"/>
                <a:ea typeface="微软雅黑"/>
              </a:rPr>
              <a:t>流量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微软雅黑"/>
                <a:ea typeface="微软雅黑"/>
              </a:rPr>
              <a:t>更多曝光 · 更高效率 · 精准匹配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4180" y="2317274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曝光与 GPM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整体曝光规模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单位曝光价值（GPM）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4180" y="3749770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流量入口及转化效率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各流量入口规模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从曝光到点击、下单的转化效率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4" y="1306100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微软雅黑"/>
                <a:ea typeface="微软雅黑"/>
              </a:rPr>
              <a:t>用户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微软雅黑"/>
                <a:ea typeface="微软雅黑"/>
              </a:rPr>
              <a:t>更多用户 · 更高价值 · 长期经营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9024" y="2317274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规模与价值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用户规模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用户单体价值（频次、客单价）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4" y="3749770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客群结构及分层流转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新老客结构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微软雅黑"/>
                <a:ea typeface="微软雅黑"/>
              </a:rPr>
              <a:t>• 各客群分层及流转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9335" y="5055870"/>
            <a:ext cx="9858947" cy="71624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8" name="Rounded Rectangle 17"/>
          <p:cNvSpPr/>
          <p:nvPr/>
        </p:nvSpPr>
        <p:spPr>
          <a:xfrm>
            <a:off x="1321011" y="5173841"/>
            <a:ext cx="1263968" cy="471881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FFFFFF"/>
                </a:solidFill>
                <a:latin typeface="微软雅黑"/>
                <a:ea typeface="微软雅黑"/>
              </a:rPr>
              <a:t>排查流程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3508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1 发现下滑环节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07327" y="5317090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1" name="Rectangle 20"/>
          <p:cNvSpPr/>
          <p:nvPr/>
        </p:nvSpPr>
        <p:spPr>
          <a:xfrm>
            <a:off x="4860121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2 定位下降指标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13939" y="5317090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3" name="Rectangle 22"/>
          <p:cNvSpPr/>
          <p:nvPr/>
        </p:nvSpPr>
        <p:spPr>
          <a:xfrm>
            <a:off x="6966733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3 下钻具体类型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0552" y="5317090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5" name="Rectangle 24"/>
          <p:cNvSpPr/>
          <p:nvPr/>
        </p:nvSpPr>
        <p:spPr>
          <a:xfrm>
            <a:off x="9073346" y="5173841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4 定位具体问题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25C379-21B2-F048-942D-B0E0D4CD1333}"/>
              </a:ext>
            </a:extLst>
          </p:cNvPr>
          <p:cNvSpPr txBox="1"/>
          <p:nvPr/>
        </p:nvSpPr>
        <p:spPr>
          <a:xfrm>
            <a:off x="1161754" y="532083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电商常态化经营分析</a:t>
            </a:r>
          </a:p>
        </p:txBody>
      </p:sp>
      <p:cxnSp>
        <p:nvCxnSpPr>
          <p:cNvPr id="27" name="直接连接符 8">
            <a:extLst>
              <a:ext uri="{FF2B5EF4-FFF2-40B4-BE49-F238E27FC236}">
                <a16:creationId xmlns:a16="http://schemas.microsoft.com/office/drawing/2014/main" id="{6E64F66F-40C9-6D0D-9916-B439B8AD445E}"/>
              </a:ext>
            </a:extLst>
          </p:cNvPr>
          <p:cNvCxnSpPr>
            <a:cxnSpLocks/>
          </p:cNvCxnSpPr>
          <p:nvPr/>
        </p:nvCxnSpPr>
        <p:spPr>
          <a:xfrm>
            <a:off x="1161754" y="980183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Arrow 9">
            <a:extLst>
              <a:ext uri="{FF2B5EF4-FFF2-40B4-BE49-F238E27FC236}">
                <a16:creationId xmlns:a16="http://schemas.microsoft.com/office/drawing/2014/main" id="{B86AC8B7-23D3-3631-56DB-E313A15B69D3}"/>
              </a:ext>
            </a:extLst>
          </p:cNvPr>
          <p:cNvSpPr/>
          <p:nvPr/>
        </p:nvSpPr>
        <p:spPr>
          <a:xfrm>
            <a:off x="7777173" y="2864993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29" name="Right Arrow 9">
            <a:extLst>
              <a:ext uri="{FF2B5EF4-FFF2-40B4-BE49-F238E27FC236}">
                <a16:creationId xmlns:a16="http://schemas.microsoft.com/office/drawing/2014/main" id="{773C6EBE-F876-9D23-895A-2D23FE743CE1}"/>
              </a:ext>
            </a:extLst>
          </p:cNvPr>
          <p:cNvSpPr/>
          <p:nvPr/>
        </p:nvSpPr>
        <p:spPr>
          <a:xfrm>
            <a:off x="4322128" y="4280636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30" name="Right Arrow 9">
            <a:extLst>
              <a:ext uri="{FF2B5EF4-FFF2-40B4-BE49-F238E27FC236}">
                <a16:creationId xmlns:a16="http://schemas.microsoft.com/office/drawing/2014/main" id="{7C1E18D1-3FB8-44A8-385B-76774B1A9518}"/>
              </a:ext>
            </a:extLst>
          </p:cNvPr>
          <p:cNvSpPr/>
          <p:nvPr/>
        </p:nvSpPr>
        <p:spPr>
          <a:xfrm>
            <a:off x="7767246" y="4280636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821" y="353911"/>
            <a:ext cx="75838" cy="522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3" name="Rectangle 2"/>
          <p:cNvSpPr/>
          <p:nvPr/>
        </p:nvSpPr>
        <p:spPr>
          <a:xfrm>
            <a:off x="1169336" y="320205"/>
            <a:ext cx="8594979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2580" b="1">
                <a:solidFill>
                  <a:srgbClr val="1F4E79"/>
                </a:solidFill>
                <a:latin typeface="微软雅黑"/>
                <a:ea typeface="微软雅黑"/>
              </a:rPr>
              <a:t>供给侧 ｜ 从商家规模到经营勤奋度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9335" y="1028027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5" name="Rectangle 4"/>
          <p:cNvSpPr/>
          <p:nvPr/>
        </p:nvSpPr>
        <p:spPr>
          <a:xfrm>
            <a:off x="1169335" y="5940647"/>
            <a:ext cx="9858947" cy="2527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lnSpc>
                <a:spcPct val="112000"/>
              </a:lnSpc>
            </a:pPr>
            <a:r>
              <a:rPr sz="922">
                <a:solidFill>
                  <a:srgbClr val="999999"/>
                </a:solidFill>
                <a:latin typeface="微软雅黑"/>
                <a:ea typeface="微软雅黑"/>
              </a:rPr>
              <a:t>目标测算与大盘常态化分析 ｜ 1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9336" y="1263968"/>
            <a:ext cx="4718812" cy="7111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GMV</a:t>
            </a:r>
            <a:r>
              <a:rPr sz="1567">
                <a:solidFill>
                  <a:srgbClr val="595959"/>
                </a:solidFill>
                <a:latin typeface="微软雅黑"/>
                <a:ea typeface="微软雅黑"/>
              </a:rPr>
              <a:t> = 动销商家数 × 商家店效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2617" y="1263968"/>
            <a:ext cx="4718812" cy="6741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567" b="1">
                <a:solidFill>
                  <a:srgbClr val="1F4E79"/>
                </a:solidFill>
                <a:latin typeface="微软雅黑"/>
                <a:ea typeface="微软雅黑"/>
              </a:rPr>
              <a:t>动销商家数</a:t>
            </a:r>
            <a:r>
              <a:rPr sz="1567">
                <a:solidFill>
                  <a:srgbClr val="595959"/>
                </a:solidFill>
                <a:latin typeface="微软雅黑"/>
                <a:ea typeface="微软雅黑"/>
              </a:rPr>
              <a:t> = 商家数 × 动销渗透率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9335" y="2317274"/>
            <a:ext cx="969042" cy="5055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微软雅黑"/>
                <a:ea typeface="微软雅黑"/>
              </a:rPr>
              <a:t>细分</a:t>
            </a:r>
          </a:p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2186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品类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9916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7645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大场 / 底场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5375" y="2207730"/>
            <a:ext cx="2022348" cy="724675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FFFFFF"/>
                </a:solidFill>
                <a:latin typeface="微软雅黑"/>
                <a:ea typeface="微软雅黑"/>
              </a:rPr>
              <a:t>商家分层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69335" y="3657079"/>
            <a:ext cx="969042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微软雅黑"/>
                <a:ea typeface="微软雅黑"/>
              </a:rPr>
              <a:t>经营勤奋</a:t>
            </a:r>
          </a:p>
          <a:p>
            <a:pPr algn="l">
              <a:lnSpc>
                <a:spcPct val="112000"/>
              </a:lnSpc>
            </a:pPr>
            <a:r>
              <a:rPr sz="1198" b="1">
                <a:solidFill>
                  <a:srgbClr val="2E75B6"/>
                </a:solidFill>
                <a:latin typeface="微软雅黑"/>
                <a:ea typeface="微软雅黑"/>
              </a:rPr>
              <a:t>度指标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2186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微软雅黑"/>
                <a:ea typeface="微软雅黑"/>
              </a:rPr>
              <a:t>开播主播数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39916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微软雅黑"/>
                <a:ea typeface="微软雅黑"/>
              </a:rPr>
              <a:t>人日均推流时长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7645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微软雅黑"/>
                <a:ea typeface="微软雅黑"/>
              </a:rPr>
              <a:t>挂车短视频数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5375" y="3513830"/>
            <a:ext cx="2022348" cy="800513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FFFFFF"/>
                </a:solidFill>
                <a:latin typeface="微软雅黑"/>
                <a:ea typeface="微软雅黑"/>
              </a:rPr>
              <a:t>上架商品数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42334" y="4508151"/>
            <a:ext cx="4213225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哪类指标降幅最大、贡献度最高？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0485" y="4508151"/>
            <a:ext cx="4213225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是否集中于某个行业、某类商家或头部主播？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9335" y="5266532"/>
            <a:ext cx="9858947" cy="505587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152">
                <a:solidFill>
                  <a:srgbClr val="1F4E79"/>
                </a:solidFill>
                <a:latin typeface="微软雅黑"/>
                <a:ea typeface="微软雅黑"/>
              </a:rPr>
              <a:t>定位问题：哪个类型的哪个指标降幅最大、贡献度最高，具体是不是某个行业、某类商家、某些头部主播出了问题。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cell data - do not delete" hidden="1">
            <a:extLst>
              <a:ext uri="{FF2B5EF4-FFF2-40B4-BE49-F238E27FC236}">
                <a16:creationId xmlns:a16="http://schemas.microsoft.com/office/drawing/2014/main" id="{0977B82D-49ED-0BE1-B2E7-10B4B9FFDD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12168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3" imgW="7772400" imgH="10058400" progId="TCLayout.ActiveDocument.1">
                  <p:embed/>
                </p:oleObj>
              </mc:Choice>
              <mc:Fallback>
                <p:oleObj name="think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圆角矩形 25">
            <a:extLst>
              <a:ext uri="{FF2B5EF4-FFF2-40B4-BE49-F238E27FC236}">
                <a16:creationId xmlns:a16="http://schemas.microsoft.com/office/drawing/2014/main" id="{F093349C-6E07-90FB-55F7-61A0F1AACEEE}"/>
              </a:ext>
            </a:extLst>
          </p:cNvPr>
          <p:cNvSpPr/>
          <p:nvPr/>
        </p:nvSpPr>
        <p:spPr>
          <a:xfrm>
            <a:off x="977219" y="4866431"/>
            <a:ext cx="8312693" cy="7806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A9019A4-78FE-7F0F-950A-A0C907336635}"/>
              </a:ext>
            </a:extLst>
          </p:cNvPr>
          <p:cNvSpPr/>
          <p:nvPr/>
        </p:nvSpPr>
        <p:spPr>
          <a:xfrm>
            <a:off x="977219" y="2001048"/>
            <a:ext cx="8229834" cy="898041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0D2F5CC9-3355-3CD0-EF8B-18D4F1F41233}"/>
              </a:ext>
            </a:extLst>
          </p:cNvPr>
          <p:cNvSpPr/>
          <p:nvPr/>
        </p:nvSpPr>
        <p:spPr>
          <a:xfrm>
            <a:off x="977219" y="3016187"/>
            <a:ext cx="8270274" cy="1745524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941821" y="353911"/>
            <a:ext cx="75838" cy="522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3" name="Rectangle 2"/>
          <p:cNvSpPr/>
          <p:nvPr/>
        </p:nvSpPr>
        <p:spPr>
          <a:xfrm>
            <a:off x="1169336" y="320205"/>
            <a:ext cx="8594979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2580" b="1">
                <a:solidFill>
                  <a:srgbClr val="1F4E79"/>
                </a:solidFill>
                <a:latin typeface="微软雅黑"/>
                <a:ea typeface="微软雅黑"/>
              </a:rPr>
              <a:t>流量与场侧 ｜ 从曝光到转化效率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9335" y="1028027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5" name="Rectangle 4"/>
          <p:cNvSpPr/>
          <p:nvPr/>
        </p:nvSpPr>
        <p:spPr>
          <a:xfrm>
            <a:off x="1169335" y="5940647"/>
            <a:ext cx="9858947" cy="2527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lnSpc>
                <a:spcPct val="112000"/>
              </a:lnSpc>
            </a:pPr>
            <a:r>
              <a:rPr sz="922">
                <a:solidFill>
                  <a:srgbClr val="999999"/>
                </a:solidFill>
                <a:latin typeface="微软雅黑"/>
                <a:ea typeface="微软雅黑"/>
              </a:rPr>
              <a:t>目标测算与大盘常态化分析 ｜ 2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9335" y="1263968"/>
            <a:ext cx="9858947" cy="606704"/>
          </a:xfrm>
          <a:prstGeom prst="roundRect">
            <a:avLst>
              <a:gd name="adj" fmla="val 15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GMV</a:t>
            </a:r>
            <a:r>
              <a:rPr sz="1474">
                <a:solidFill>
                  <a:srgbClr val="595959"/>
                </a:solidFill>
                <a:latin typeface="微软雅黑"/>
                <a:ea typeface="微软雅黑"/>
              </a:rPr>
              <a:t> = 曝光 × GPM</a:t>
            </a:r>
            <a:r>
              <a:rPr sz="1474" b="1">
                <a:solidFill>
                  <a:srgbClr val="2E75B6"/>
                </a:solidFill>
                <a:latin typeface="微软雅黑"/>
                <a:ea typeface="微软雅黑"/>
              </a:rPr>
              <a:t>      →      </a:t>
            </a:r>
            <a:r>
              <a:rPr sz="1474" b="1">
                <a:solidFill>
                  <a:srgbClr val="1F4E79"/>
                </a:solidFill>
                <a:latin typeface="微软雅黑"/>
                <a:ea typeface="微软雅黑"/>
              </a:rPr>
              <a:t>GPM</a:t>
            </a:r>
            <a:r>
              <a:rPr sz="1474">
                <a:solidFill>
                  <a:srgbClr val="595959"/>
                </a:solidFill>
                <a:latin typeface="微软雅黑"/>
                <a:ea typeface="微软雅黑"/>
              </a:rPr>
              <a:t> = CTR × CVR × ARPPU ×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8895" y="2113252"/>
            <a:ext cx="1275724" cy="631984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场域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182" y="2099523"/>
            <a:ext cx="1786013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内容场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6647" y="2110897"/>
            <a:ext cx="1786013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泛货架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9335" y="3172396"/>
            <a:ext cx="1263968" cy="631984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3948" y="3172395"/>
            <a:ext cx="1811687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微软雅黑"/>
                <a:ea typeface="微软雅黑"/>
              </a:rPr>
              <a:t>自然流量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965" y="3190337"/>
            <a:ext cx="1811687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微软雅黑"/>
                <a:ea typeface="微软雅黑"/>
              </a:rPr>
              <a:t>商业化流量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6004" y="3172395"/>
            <a:ext cx="1811687" cy="631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 dirty="0" err="1">
                <a:solidFill>
                  <a:srgbClr val="1F4E79"/>
                </a:solidFill>
                <a:latin typeface="微软雅黑"/>
                <a:ea typeface="微软雅黑"/>
              </a:rPr>
              <a:t>非商业化流量</a:t>
            </a:r>
            <a:endParaRPr sz="129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36080" y="4078239"/>
            <a:ext cx="1811687" cy="5477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微软雅黑"/>
                <a:ea typeface="微软雅黑"/>
              </a:rPr>
              <a:t>粉丝流量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964" y="4095092"/>
            <a:ext cx="1811687" cy="5477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微软雅黑"/>
                <a:ea typeface="微软雅黑"/>
              </a:rPr>
              <a:t>非粉流量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2889" y="5001558"/>
            <a:ext cx="1263968" cy="505587"/>
          </a:xfrm>
          <a:prstGeom prst="roundRect">
            <a:avLst>
              <a:gd name="adj" fmla="val 7000"/>
            </a:avLst>
          </a:prstGeom>
          <a:solidFill>
            <a:srgbClr val="DEEAF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微软雅黑"/>
                <a:ea typeface="微软雅黑"/>
              </a:rPr>
              <a:t>页面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5591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关注页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1896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非关注页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8201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单列发现页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4506" y="5001558"/>
            <a:ext cx="1474629" cy="505587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双列发现页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1417" y="2064480"/>
            <a:ext cx="1668437" cy="299139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lang="zh-CN" altLang="en-US" sz="1290" b="1" dirty="0">
                <a:solidFill>
                  <a:srgbClr val="2E75B6"/>
                </a:solidFill>
                <a:latin typeface="微软雅黑"/>
                <a:ea typeface="微软雅黑"/>
              </a:rPr>
              <a:t>转化情况</a:t>
            </a:r>
            <a:endParaRPr sz="1290" b="1" dirty="0">
              <a:solidFill>
                <a:srgbClr val="2E75B6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r>
              <a:rPr sz="1474" b="1" dirty="0" err="1">
                <a:solidFill>
                  <a:srgbClr val="1F4E79"/>
                </a:solidFill>
                <a:latin typeface="微软雅黑"/>
                <a:ea typeface="微软雅黑"/>
              </a:rPr>
              <a:t>曝光</a:t>
            </a:r>
            <a:endParaRPr lang="en-US"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endParaRPr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r>
              <a:rPr sz="1474" b="1" dirty="0" err="1">
                <a:solidFill>
                  <a:srgbClr val="1F4E79"/>
                </a:solidFill>
                <a:latin typeface="微软雅黑"/>
                <a:ea typeface="微软雅黑"/>
              </a:rPr>
              <a:t>点击</a:t>
            </a:r>
            <a:endParaRPr lang="en-US"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endParaRPr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r>
              <a:rPr sz="1474" b="1" dirty="0" err="1">
                <a:solidFill>
                  <a:srgbClr val="1F4E79"/>
                </a:solidFill>
                <a:latin typeface="微软雅黑"/>
                <a:ea typeface="微软雅黑"/>
              </a:rPr>
              <a:t>进入</a:t>
            </a:r>
            <a:endParaRPr lang="en-US"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endParaRPr sz="1474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lnSpc>
                <a:spcPct val="112000"/>
              </a:lnSpc>
            </a:pPr>
            <a:r>
              <a:rPr sz="1474" b="1" dirty="0">
                <a:solidFill>
                  <a:srgbClr val="1F4E79"/>
                </a:solidFill>
                <a:latin typeface="微软雅黑"/>
                <a:ea typeface="微软雅黑"/>
              </a:rPr>
              <a:t>GPM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03888" y="5755266"/>
            <a:ext cx="5140135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1F4E79"/>
                </a:solidFill>
                <a:latin typeface="微软雅黑"/>
                <a:ea typeface="微软雅黑"/>
              </a:rPr>
              <a:t>哪个入口或哪类流量的曝光、GPM 下降？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1821" y="353911"/>
            <a:ext cx="75838" cy="522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3" name="Rectangle 2"/>
          <p:cNvSpPr/>
          <p:nvPr/>
        </p:nvSpPr>
        <p:spPr>
          <a:xfrm>
            <a:off x="1169336" y="320205"/>
            <a:ext cx="8594979" cy="631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2000"/>
              </a:lnSpc>
            </a:pPr>
            <a:r>
              <a:rPr sz="2580" b="1">
                <a:solidFill>
                  <a:srgbClr val="1F4E79"/>
                </a:solidFill>
                <a:latin typeface="微软雅黑"/>
                <a:ea typeface="微软雅黑"/>
              </a:rPr>
              <a:t>用户侧 ｜ 规模与价值到行为质量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9335" y="1028027"/>
            <a:ext cx="9858947" cy="1348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5" name="Rectangle 4"/>
          <p:cNvSpPr/>
          <p:nvPr/>
        </p:nvSpPr>
        <p:spPr>
          <a:xfrm>
            <a:off x="1169335" y="5940647"/>
            <a:ext cx="9858947" cy="2527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lnSpc>
                <a:spcPct val="112000"/>
              </a:lnSpc>
            </a:pPr>
            <a:r>
              <a:rPr sz="922">
                <a:solidFill>
                  <a:srgbClr val="999999"/>
                </a:solidFill>
                <a:latin typeface="微软雅黑"/>
                <a:ea typeface="微软雅黑"/>
              </a:rPr>
              <a:t>目标测算与大盘常态化分析 ｜ 4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9335" y="1263968"/>
            <a:ext cx="3117787" cy="55614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GMV</a:t>
            </a:r>
            <a:r>
              <a:rPr sz="1290">
                <a:solidFill>
                  <a:srgbClr val="595959"/>
                </a:solidFill>
                <a:latin typeface="微软雅黑"/>
                <a:ea typeface="微软雅黑"/>
              </a:rPr>
              <a:t> = 活跃用户数 × ARPU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6768" y="1263968"/>
            <a:ext cx="3117787" cy="55614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GMV</a:t>
            </a:r>
            <a:r>
              <a:rPr sz="1290">
                <a:solidFill>
                  <a:srgbClr val="595959"/>
                </a:solidFill>
                <a:latin typeface="微软雅黑"/>
                <a:ea typeface="微软雅黑"/>
              </a:rPr>
              <a:t> = DAC × ARPPU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44200" y="1263968"/>
            <a:ext cx="3117787" cy="55614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微软雅黑"/>
                <a:ea typeface="微软雅黑"/>
              </a:rPr>
              <a:t>ARPU</a:t>
            </a:r>
            <a:r>
              <a:rPr sz="1290">
                <a:solidFill>
                  <a:srgbClr val="595959"/>
                </a:solidFill>
                <a:latin typeface="微软雅黑"/>
                <a:ea typeface="微软雅黑"/>
              </a:rPr>
              <a:t> = 活跃人均单量 × 单均价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9335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1 规模 vs 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9335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活跃买家数：观察是否下滑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ARPU：观察是否下滑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判断是规模下滑还是价值下滑？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11888" y="3328448"/>
            <a:ext cx="235941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2" name="Rounded Rectangle 11"/>
          <p:cNvSpPr/>
          <p:nvPr/>
        </p:nvSpPr>
        <p:spPr>
          <a:xfrm>
            <a:off x="3764682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2 客群结构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4682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新客：首次购买的新用户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老客：长期活跃的存量用户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回流客：曾购买后再次回购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对比：补贴拉来的新回用户 ⇄ 自然增长的高质量老客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07235" y="3328448"/>
            <a:ext cx="235941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5" name="Rounded Rectangle 14"/>
          <p:cNvSpPr/>
          <p:nvPr/>
        </p:nvSpPr>
        <p:spPr>
          <a:xfrm>
            <a:off x="6360029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3 购买频次分层流转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0029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lang="zh-CN" altLang="en-US" sz="1014" dirty="0">
                <a:solidFill>
                  <a:srgbClr val="595959"/>
                </a:solidFill>
                <a:latin typeface="微软雅黑"/>
                <a:ea typeface="微软雅黑"/>
              </a:rPr>
              <a:t>分购买频次</a:t>
            </a:r>
            <a:r>
              <a:rPr sz="1014" dirty="0" err="1">
                <a:solidFill>
                  <a:srgbClr val="595959"/>
                </a:solidFill>
                <a:latin typeface="微软雅黑"/>
                <a:ea typeface="微软雅黑"/>
              </a:rPr>
              <a:t>高频：盯跃迁率</a:t>
            </a:r>
            <a:r>
              <a:rPr sz="1014" dirty="0">
                <a:solidFill>
                  <a:srgbClr val="595959"/>
                </a:solidFill>
                <a:latin typeface="微软雅黑"/>
                <a:ea typeface="微软雅黑"/>
              </a:rPr>
              <a:t> / </a:t>
            </a:r>
            <a:r>
              <a:rPr sz="1014" dirty="0" err="1">
                <a:solidFill>
                  <a:srgbClr val="595959"/>
                </a:solidFill>
                <a:latin typeface="微软雅黑"/>
                <a:ea typeface="微软雅黑"/>
              </a:rPr>
              <a:t>降频率</a:t>
            </a:r>
            <a:r>
              <a:rPr sz="1014" dirty="0">
                <a:solidFill>
                  <a:srgbClr val="595959"/>
                </a:solidFill>
                <a:latin typeface="微软雅黑"/>
                <a:ea typeface="微软雅黑"/>
              </a:rPr>
              <a:t> / </a:t>
            </a:r>
            <a:r>
              <a:rPr sz="1014" dirty="0" err="1">
                <a:solidFill>
                  <a:srgbClr val="595959"/>
                </a:solidFill>
                <a:latin typeface="微软雅黑"/>
                <a:ea typeface="微软雅黑"/>
              </a:rPr>
              <a:t>流失率</a:t>
            </a:r>
            <a:r>
              <a:rPr sz="1014" dirty="0">
                <a:solidFill>
                  <a:srgbClr val="595959"/>
                </a:solidFill>
                <a:latin typeface="微软雅黑"/>
                <a:ea typeface="微软雅黑"/>
              </a:rPr>
              <a:t> </a:t>
            </a:r>
            <a:endParaRPr lang="en-US" sz="1014" dirty="0">
              <a:solidFill>
                <a:srgbClr val="595959"/>
              </a:solidFill>
              <a:latin typeface="微软雅黑"/>
              <a:ea typeface="微软雅黑"/>
            </a:endParaRPr>
          </a:p>
          <a:p>
            <a:pPr algn="l">
              <a:lnSpc>
                <a:spcPct val="112000"/>
              </a:lnSpc>
            </a:pPr>
            <a:r>
              <a:rPr lang="zh-CN" altLang="en-US" sz="1014" dirty="0">
                <a:solidFill>
                  <a:srgbClr val="595959"/>
                </a:solidFill>
                <a:latin typeface="微软雅黑"/>
                <a:ea typeface="微软雅黑"/>
              </a:rPr>
              <a:t>判断是否存在</a:t>
            </a:r>
            <a:r>
              <a:rPr sz="1014" dirty="0" err="1">
                <a:solidFill>
                  <a:srgbClr val="595959"/>
                </a:solidFill>
                <a:latin typeface="微软雅黑"/>
                <a:ea typeface="微软雅黑"/>
              </a:rPr>
              <a:t>高频用户流失</a:t>
            </a:r>
            <a:r>
              <a:rPr lang="zh-CN" altLang="en-US" sz="1014" dirty="0">
                <a:solidFill>
                  <a:srgbClr val="595959"/>
                </a:solidFill>
                <a:latin typeface="微软雅黑"/>
                <a:ea typeface="微软雅黑"/>
              </a:rPr>
              <a:t>、</a:t>
            </a:r>
            <a:r>
              <a:rPr sz="1014" dirty="0" err="1">
                <a:solidFill>
                  <a:srgbClr val="595959"/>
                </a:solidFill>
                <a:latin typeface="微软雅黑"/>
                <a:ea typeface="微软雅黑"/>
              </a:rPr>
              <a:t>中间层下沉</a:t>
            </a:r>
            <a:r>
              <a:rPr lang="zh-CN" altLang="en-US" sz="1014" dirty="0">
                <a:solidFill>
                  <a:srgbClr val="595959"/>
                </a:solidFill>
                <a:latin typeface="微软雅黑"/>
                <a:ea typeface="微软雅黑"/>
              </a:rPr>
              <a:t>、</a:t>
            </a:r>
            <a:r>
              <a:rPr sz="1014" dirty="0" err="1">
                <a:solidFill>
                  <a:srgbClr val="595959"/>
                </a:solidFill>
                <a:latin typeface="微软雅黑"/>
                <a:ea typeface="微软雅黑"/>
              </a:rPr>
              <a:t>低频层提升</a:t>
            </a:r>
            <a:endParaRPr sz="1014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702582" y="3328448"/>
            <a:ext cx="235941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/>
          </a:p>
        </p:txBody>
      </p:sp>
      <p:sp>
        <p:nvSpPr>
          <p:cNvPr id="18" name="Rounded Rectangle 17"/>
          <p:cNvSpPr/>
          <p:nvPr/>
        </p:nvSpPr>
        <p:spPr>
          <a:xfrm>
            <a:off x="8955375" y="2106613"/>
            <a:ext cx="2317274" cy="438175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FFFFFF"/>
                </a:solidFill>
                <a:latin typeface="微软雅黑"/>
                <a:ea typeface="微软雅黑"/>
              </a:rPr>
              <a:t>4 行为质量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5375" y="2679611"/>
            <a:ext cx="2317274" cy="2148745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rtlCol="0" anchor="ctr"/>
          <a:lstStyle/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复购率：观察用户复购情况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购买宽度：购买类目数、卖家数</a:t>
            </a:r>
          </a:p>
          <a:p>
            <a:pPr algn="l">
              <a:lnSpc>
                <a:spcPct val="112000"/>
              </a:lnSpc>
            </a:pPr>
            <a:r>
              <a:rPr sz="1014">
                <a:solidFill>
                  <a:srgbClr val="595959"/>
                </a:solidFill>
                <a:latin typeface="微软雅黑"/>
                <a:ea typeface="微软雅黑"/>
              </a:rPr>
              <a:t>对比两类用户：补贴用户 VS 非补贴用户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79392" y="5140135"/>
            <a:ext cx="2443671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高频老客流失？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4385" y="5140135"/>
            <a:ext cx="2443671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补贴退坡后新客减少？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09377" y="5140135"/>
            <a:ext cx="2443671" cy="438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微软雅黑"/>
                <a:ea typeface="微软雅黑"/>
              </a:rPr>
              <a:t>中间层降频？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商务蓝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234499"/>
      </a:accent1>
      <a:accent2>
        <a:srgbClr val="4473C5"/>
      </a:accent2>
      <a:accent3>
        <a:srgbClr val="5E91CE"/>
      </a:accent3>
      <a:accent4>
        <a:srgbClr val="89BAE4"/>
      </a:accent4>
      <a:accent5>
        <a:srgbClr val="9FA0A0"/>
      </a:accent5>
      <a:accent6>
        <a:srgbClr val="EFEFEF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2082</Words>
  <Application>Microsoft Macintosh PowerPoint</Application>
  <PresentationFormat>自定义</PresentationFormat>
  <Paragraphs>312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Microsoft YaHei</vt:lpstr>
      <vt:lpstr>Microsoft YaHei</vt:lpstr>
      <vt:lpstr>Alibaba PuHuiTi</vt:lpstr>
      <vt:lpstr>Arial</vt:lpstr>
      <vt:lpstr>Office 主题​​</vt:lpstr>
      <vt:lpstr>thinkcell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shaw</cp:lastModifiedBy>
  <cp:revision>47</cp:revision>
  <dcterms:created xsi:type="dcterms:W3CDTF">2013-01-27T09:14:16Z</dcterms:created>
  <dcterms:modified xsi:type="dcterms:W3CDTF">2026-10-18T15:03:23Z</dcterms:modified>
  <cp:category/>
</cp:coreProperties>
</file>